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sldIdLst>
    <p:sldId id="256" r:id="rId2"/>
    <p:sldId id="323" r:id="rId3"/>
    <p:sldId id="326" r:id="rId4"/>
    <p:sldId id="259" r:id="rId5"/>
    <p:sldId id="257" r:id="rId6"/>
    <p:sldId id="261" r:id="rId7"/>
    <p:sldId id="262" r:id="rId8"/>
    <p:sldId id="264" r:id="rId9"/>
    <p:sldId id="263" r:id="rId10"/>
    <p:sldId id="265" r:id="rId11"/>
    <p:sldId id="266" r:id="rId12"/>
    <p:sldId id="268" r:id="rId13"/>
    <p:sldId id="267" r:id="rId14"/>
    <p:sldId id="269" r:id="rId15"/>
    <p:sldId id="270" r:id="rId16"/>
    <p:sldId id="273" r:id="rId17"/>
    <p:sldId id="274" r:id="rId18"/>
    <p:sldId id="272"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4" r:id="rId38"/>
    <p:sldId id="293"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10" r:id="rId54"/>
    <p:sldId id="309" r:id="rId55"/>
    <p:sldId id="311" r:id="rId56"/>
    <p:sldId id="312" r:id="rId57"/>
    <p:sldId id="313" r:id="rId58"/>
    <p:sldId id="314" r:id="rId59"/>
    <p:sldId id="315" r:id="rId60"/>
    <p:sldId id="316" r:id="rId61"/>
    <p:sldId id="317" r:id="rId62"/>
    <p:sldId id="318" r:id="rId63"/>
    <p:sldId id="319" r:id="rId64"/>
    <p:sldId id="320" r:id="rId65"/>
    <p:sldId id="322" r:id="rId66"/>
    <p:sldId id="321" r:id="rId67"/>
    <p:sldId id="324" r:id="rId68"/>
    <p:sldId id="327" r:id="rId6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94EC0C7-3768-4675-9132-E9439554820D}" type="datetimeFigureOut">
              <a:rPr lang="en-IN" smtClean="0"/>
              <a:t>13-02-2026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824117-2C5F-43FF-B7AE-8B91A930889A}" type="slidenum">
              <a:rPr lang="en-IN" smtClean="0"/>
              <a:t>‹#›</a:t>
            </a:fld>
            <a:endParaRPr lang="en-IN"/>
          </a:p>
        </p:txBody>
      </p:sp>
    </p:spTree>
    <p:extLst>
      <p:ext uri="{BB962C8B-B14F-4D97-AF65-F5344CB8AC3E}">
        <p14:creationId xmlns:p14="http://schemas.microsoft.com/office/powerpoint/2010/main" val="118371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4EC0C7-3768-4675-9132-E9439554820D}" type="datetimeFigureOut">
              <a:rPr lang="en-IN" smtClean="0"/>
              <a:t>13-02-2026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824117-2C5F-43FF-B7AE-8B91A930889A}" type="slidenum">
              <a:rPr lang="en-IN" smtClean="0"/>
              <a:t>‹#›</a:t>
            </a:fld>
            <a:endParaRPr lang="en-IN"/>
          </a:p>
        </p:txBody>
      </p:sp>
    </p:spTree>
    <p:extLst>
      <p:ext uri="{BB962C8B-B14F-4D97-AF65-F5344CB8AC3E}">
        <p14:creationId xmlns:p14="http://schemas.microsoft.com/office/powerpoint/2010/main" val="1259267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4EC0C7-3768-4675-9132-E9439554820D}" type="datetimeFigureOut">
              <a:rPr lang="en-IN" smtClean="0"/>
              <a:t>13-02-2026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824117-2C5F-43FF-B7AE-8B91A930889A}" type="slidenum">
              <a:rPr lang="en-IN" smtClean="0"/>
              <a:t>‹#›</a:t>
            </a:fld>
            <a:endParaRPr lang="en-IN"/>
          </a:p>
        </p:txBody>
      </p:sp>
    </p:spTree>
    <p:extLst>
      <p:ext uri="{BB962C8B-B14F-4D97-AF65-F5344CB8AC3E}">
        <p14:creationId xmlns:p14="http://schemas.microsoft.com/office/powerpoint/2010/main" val="3134112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4EC0C7-3768-4675-9132-E9439554820D}" type="datetimeFigureOut">
              <a:rPr lang="en-IN" smtClean="0"/>
              <a:t>13-02-2026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824117-2C5F-43FF-B7AE-8B91A930889A}" type="slidenum">
              <a:rPr lang="en-IN" smtClean="0"/>
              <a:t>‹#›</a:t>
            </a:fld>
            <a:endParaRPr lang="en-IN"/>
          </a:p>
        </p:txBody>
      </p:sp>
    </p:spTree>
    <p:extLst>
      <p:ext uri="{BB962C8B-B14F-4D97-AF65-F5344CB8AC3E}">
        <p14:creationId xmlns:p14="http://schemas.microsoft.com/office/powerpoint/2010/main" val="3665779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4EC0C7-3768-4675-9132-E9439554820D}" type="datetimeFigureOut">
              <a:rPr lang="en-IN" smtClean="0"/>
              <a:t>13-02-2026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824117-2C5F-43FF-B7AE-8B91A930889A}" type="slidenum">
              <a:rPr lang="en-IN" smtClean="0"/>
              <a:t>‹#›</a:t>
            </a:fld>
            <a:endParaRPr lang="en-IN"/>
          </a:p>
        </p:txBody>
      </p:sp>
    </p:spTree>
    <p:extLst>
      <p:ext uri="{BB962C8B-B14F-4D97-AF65-F5344CB8AC3E}">
        <p14:creationId xmlns:p14="http://schemas.microsoft.com/office/powerpoint/2010/main" val="820796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4EC0C7-3768-4675-9132-E9439554820D}" type="datetimeFigureOut">
              <a:rPr lang="en-IN" smtClean="0"/>
              <a:t>13-02-2026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824117-2C5F-43FF-B7AE-8B91A930889A}" type="slidenum">
              <a:rPr lang="en-IN" smtClean="0"/>
              <a:t>‹#›</a:t>
            </a:fld>
            <a:endParaRPr lang="en-IN"/>
          </a:p>
        </p:txBody>
      </p:sp>
    </p:spTree>
    <p:extLst>
      <p:ext uri="{BB962C8B-B14F-4D97-AF65-F5344CB8AC3E}">
        <p14:creationId xmlns:p14="http://schemas.microsoft.com/office/powerpoint/2010/main" val="3970806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4EC0C7-3768-4675-9132-E9439554820D}" type="datetimeFigureOut">
              <a:rPr lang="en-IN" smtClean="0"/>
              <a:t>13-02-2026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F824117-2C5F-43FF-B7AE-8B91A930889A}" type="slidenum">
              <a:rPr lang="en-IN" smtClean="0"/>
              <a:t>‹#›</a:t>
            </a:fld>
            <a:endParaRPr lang="en-IN"/>
          </a:p>
        </p:txBody>
      </p:sp>
    </p:spTree>
    <p:extLst>
      <p:ext uri="{BB962C8B-B14F-4D97-AF65-F5344CB8AC3E}">
        <p14:creationId xmlns:p14="http://schemas.microsoft.com/office/powerpoint/2010/main" val="107691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4EC0C7-3768-4675-9132-E9439554820D}" type="datetimeFigureOut">
              <a:rPr lang="en-IN" smtClean="0"/>
              <a:t>13-02-2026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824117-2C5F-43FF-B7AE-8B91A930889A}" type="slidenum">
              <a:rPr lang="en-IN" smtClean="0"/>
              <a:t>‹#›</a:t>
            </a:fld>
            <a:endParaRPr lang="en-IN"/>
          </a:p>
        </p:txBody>
      </p:sp>
    </p:spTree>
    <p:extLst>
      <p:ext uri="{BB962C8B-B14F-4D97-AF65-F5344CB8AC3E}">
        <p14:creationId xmlns:p14="http://schemas.microsoft.com/office/powerpoint/2010/main" val="432395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4EC0C7-3768-4675-9132-E9439554820D}" type="datetimeFigureOut">
              <a:rPr lang="en-IN" smtClean="0"/>
              <a:t>13-02-2026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824117-2C5F-43FF-B7AE-8B91A930889A}" type="slidenum">
              <a:rPr lang="en-IN" smtClean="0"/>
              <a:t>‹#›</a:t>
            </a:fld>
            <a:endParaRPr lang="en-IN"/>
          </a:p>
        </p:txBody>
      </p:sp>
    </p:spTree>
    <p:extLst>
      <p:ext uri="{BB962C8B-B14F-4D97-AF65-F5344CB8AC3E}">
        <p14:creationId xmlns:p14="http://schemas.microsoft.com/office/powerpoint/2010/main" val="380995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4EC0C7-3768-4675-9132-E9439554820D}" type="datetimeFigureOut">
              <a:rPr lang="en-IN" smtClean="0"/>
              <a:t>13-02-2026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824117-2C5F-43FF-B7AE-8B91A930889A}" type="slidenum">
              <a:rPr lang="en-IN" smtClean="0"/>
              <a:t>‹#›</a:t>
            </a:fld>
            <a:endParaRPr lang="en-IN"/>
          </a:p>
        </p:txBody>
      </p:sp>
    </p:spTree>
    <p:extLst>
      <p:ext uri="{BB962C8B-B14F-4D97-AF65-F5344CB8AC3E}">
        <p14:creationId xmlns:p14="http://schemas.microsoft.com/office/powerpoint/2010/main" val="2224977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4EC0C7-3768-4675-9132-E9439554820D}" type="datetimeFigureOut">
              <a:rPr lang="en-IN" smtClean="0"/>
              <a:t>13-02-2026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824117-2C5F-43FF-B7AE-8B91A930889A}" type="slidenum">
              <a:rPr lang="en-IN" smtClean="0"/>
              <a:t>‹#›</a:t>
            </a:fld>
            <a:endParaRPr lang="en-IN"/>
          </a:p>
        </p:txBody>
      </p:sp>
    </p:spTree>
    <p:extLst>
      <p:ext uri="{BB962C8B-B14F-4D97-AF65-F5344CB8AC3E}">
        <p14:creationId xmlns:p14="http://schemas.microsoft.com/office/powerpoint/2010/main" val="3656283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4EC0C7-3768-4675-9132-E9439554820D}" type="datetimeFigureOut">
              <a:rPr lang="en-IN" smtClean="0"/>
              <a:t>13-02-2026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824117-2C5F-43FF-B7AE-8B91A930889A}"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696688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4EC0C7-3768-4675-9132-E9439554820D}" type="datetimeFigureOut">
              <a:rPr lang="en-IN" smtClean="0"/>
              <a:t>13-02-2026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824117-2C5F-43FF-B7AE-8B91A930889A}" type="slidenum">
              <a:rPr lang="en-IN" smtClean="0"/>
              <a:t>‹#›</a:t>
            </a:fld>
            <a:endParaRPr lang="en-IN"/>
          </a:p>
        </p:txBody>
      </p:sp>
    </p:spTree>
    <p:extLst>
      <p:ext uri="{BB962C8B-B14F-4D97-AF65-F5344CB8AC3E}">
        <p14:creationId xmlns:p14="http://schemas.microsoft.com/office/powerpoint/2010/main" val="2371435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94EC0C7-3768-4675-9132-E9439554820D}" type="datetimeFigureOut">
              <a:rPr lang="en-IN" smtClean="0"/>
              <a:t>13-02-2026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824117-2C5F-43FF-B7AE-8B91A930889A}" type="slidenum">
              <a:rPr lang="en-IN" smtClean="0"/>
              <a:t>‹#›</a:t>
            </a:fld>
            <a:endParaRPr lang="en-IN"/>
          </a:p>
        </p:txBody>
      </p:sp>
    </p:spTree>
    <p:extLst>
      <p:ext uri="{BB962C8B-B14F-4D97-AF65-F5344CB8AC3E}">
        <p14:creationId xmlns:p14="http://schemas.microsoft.com/office/powerpoint/2010/main" val="25874558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94EC0C7-3768-4675-9132-E9439554820D}" type="datetimeFigureOut">
              <a:rPr lang="en-IN" smtClean="0"/>
              <a:t>13-02-2026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824117-2C5F-43FF-B7AE-8B91A930889A}" type="slidenum">
              <a:rPr lang="en-IN" smtClean="0"/>
              <a:t>‹#›</a:t>
            </a:fld>
            <a:endParaRPr lang="en-IN"/>
          </a:p>
        </p:txBody>
      </p:sp>
    </p:spTree>
    <p:extLst>
      <p:ext uri="{BB962C8B-B14F-4D97-AF65-F5344CB8AC3E}">
        <p14:creationId xmlns:p14="http://schemas.microsoft.com/office/powerpoint/2010/main" val="6901752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4EC0C7-3768-4675-9132-E9439554820D}" type="datetimeFigureOut">
              <a:rPr lang="en-IN" smtClean="0"/>
              <a:t>13-02-2026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824117-2C5F-43FF-B7AE-8B91A930889A}" type="slidenum">
              <a:rPr lang="en-IN" smtClean="0"/>
              <a:t>‹#›</a:t>
            </a:fld>
            <a:endParaRPr lang="en-IN"/>
          </a:p>
        </p:txBody>
      </p:sp>
    </p:spTree>
    <p:extLst>
      <p:ext uri="{BB962C8B-B14F-4D97-AF65-F5344CB8AC3E}">
        <p14:creationId xmlns:p14="http://schemas.microsoft.com/office/powerpoint/2010/main" val="13801473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4EC0C7-3768-4675-9132-E9439554820D}" type="datetimeFigureOut">
              <a:rPr lang="en-IN" smtClean="0"/>
              <a:t>13-02-2026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824117-2C5F-43FF-B7AE-8B91A930889A}" type="slidenum">
              <a:rPr lang="en-IN" smtClean="0"/>
              <a:t>‹#›</a:t>
            </a:fld>
            <a:endParaRPr lang="en-IN"/>
          </a:p>
        </p:txBody>
      </p:sp>
    </p:spTree>
    <p:extLst>
      <p:ext uri="{BB962C8B-B14F-4D97-AF65-F5344CB8AC3E}">
        <p14:creationId xmlns:p14="http://schemas.microsoft.com/office/powerpoint/2010/main" val="2059376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94EC0C7-3768-4675-9132-E9439554820D}" type="datetimeFigureOut">
              <a:rPr lang="en-IN" smtClean="0"/>
              <a:t>13-02-2026</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F824117-2C5F-43FF-B7AE-8B91A930889A}" type="slidenum">
              <a:rPr lang="en-IN" smtClean="0"/>
              <a:t>‹#›</a:t>
            </a:fld>
            <a:endParaRPr lang="en-IN"/>
          </a:p>
        </p:txBody>
      </p:sp>
    </p:spTree>
    <p:extLst>
      <p:ext uri="{BB962C8B-B14F-4D97-AF65-F5344CB8AC3E}">
        <p14:creationId xmlns:p14="http://schemas.microsoft.com/office/powerpoint/2010/main" val="1279214173"/>
      </p:ext>
    </p:extLst>
  </p:cSld>
  <p:clrMap bg1="dk1" tx1="lt1" bg2="dk2" tx2="lt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 id="2147483840" r:id="rId12"/>
    <p:sldLayoutId id="2147483841" r:id="rId13"/>
    <p:sldLayoutId id="2147483842" r:id="rId14"/>
    <p:sldLayoutId id="2147483843" r:id="rId15"/>
    <p:sldLayoutId id="2147483844" r:id="rId16"/>
    <p:sldLayoutId id="214748384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27777-2667-D381-A492-6DB6B0A62FF8}"/>
              </a:ext>
            </a:extLst>
          </p:cNvPr>
          <p:cNvSpPr>
            <a:spLocks noGrp="1"/>
          </p:cNvSpPr>
          <p:nvPr>
            <p:ph type="ctrTitle"/>
          </p:nvPr>
        </p:nvSpPr>
        <p:spPr/>
        <p:txBody>
          <a:bodyPr>
            <a:normAutofit fontScale="90000"/>
          </a:bodyPr>
          <a:lstStyle/>
          <a:p>
            <a:r>
              <a:rPr lang="en-US" sz="7200" dirty="0"/>
              <a:t>UPS Data Analytics in SQL</a:t>
            </a:r>
            <a:endParaRPr lang="en-IN" sz="7200" dirty="0"/>
          </a:p>
        </p:txBody>
      </p:sp>
      <p:sp>
        <p:nvSpPr>
          <p:cNvPr id="3" name="Subtitle 2">
            <a:extLst>
              <a:ext uri="{FF2B5EF4-FFF2-40B4-BE49-F238E27FC236}">
                <a16:creationId xmlns:a16="http://schemas.microsoft.com/office/drawing/2014/main" id="{7A6D171F-6A81-4460-DCF9-0EE8530A2F98}"/>
              </a:ext>
            </a:extLst>
          </p:cNvPr>
          <p:cNvSpPr>
            <a:spLocks noGrp="1"/>
          </p:cNvSpPr>
          <p:nvPr>
            <p:ph type="subTitle" idx="1"/>
          </p:nvPr>
        </p:nvSpPr>
        <p:spPr/>
        <p:txBody>
          <a:bodyPr/>
          <a:lstStyle/>
          <a:p>
            <a:r>
              <a:rPr lang="en-US" dirty="0"/>
              <a:t>By Sushant Shirsekar</a:t>
            </a:r>
            <a:endParaRPr lang="en-IN" dirty="0"/>
          </a:p>
        </p:txBody>
      </p:sp>
    </p:spTree>
    <p:extLst>
      <p:ext uri="{BB962C8B-B14F-4D97-AF65-F5344CB8AC3E}">
        <p14:creationId xmlns:p14="http://schemas.microsoft.com/office/powerpoint/2010/main" val="3775232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09A81-278C-422C-0F80-6A57FB3100CD}"/>
              </a:ext>
            </a:extLst>
          </p:cNvPr>
          <p:cNvSpPr>
            <a:spLocks noGrp="1"/>
          </p:cNvSpPr>
          <p:nvPr>
            <p:ph type="title"/>
          </p:nvPr>
        </p:nvSpPr>
        <p:spPr/>
        <p:txBody>
          <a:bodyPr/>
          <a:lstStyle/>
          <a:p>
            <a:r>
              <a:rPr lang="en-US" b="1" dirty="0"/>
              <a:t>Introduction</a:t>
            </a:r>
            <a:endParaRPr lang="en-IN" b="1" dirty="0"/>
          </a:p>
        </p:txBody>
      </p:sp>
      <p:sp>
        <p:nvSpPr>
          <p:cNvPr id="3" name="Content Placeholder 2">
            <a:extLst>
              <a:ext uri="{FF2B5EF4-FFF2-40B4-BE49-F238E27FC236}">
                <a16:creationId xmlns:a16="http://schemas.microsoft.com/office/drawing/2014/main" id="{AA012395-D9FF-D50F-86F8-72A226E1F618}"/>
              </a:ext>
            </a:extLst>
          </p:cNvPr>
          <p:cNvSpPr>
            <a:spLocks noGrp="1"/>
          </p:cNvSpPr>
          <p:nvPr>
            <p:ph idx="1"/>
          </p:nvPr>
        </p:nvSpPr>
        <p:spPr/>
        <p:txBody>
          <a:bodyPr>
            <a:normAutofit/>
          </a:bodyPr>
          <a:lstStyle/>
          <a:p>
            <a:r>
              <a:rPr lang="en-IN" dirty="0">
                <a:effectLst/>
              </a:rPr>
              <a:t>UPS is one of the largest logistics and package delivery companies in the world. Every single day, millions of parcels move through warehouses, sorting hubs, transport routes, and finally reach customers through delivery agents. In a system this big, even a small delay or inefficiency can turn into a major cost or customer experience issue.</a:t>
            </a:r>
          </a:p>
          <a:p>
            <a:r>
              <a:rPr lang="en-IN" dirty="0">
                <a:effectLst/>
              </a:rPr>
              <a:t>As shipment volumes continue to grow, UPS faces common logistics challenges — </a:t>
            </a:r>
            <a:r>
              <a:rPr lang="en-US" dirty="0">
                <a:effectLst/>
              </a:rPr>
              <a:t>delivery delays, inefficient routes, uneven workload across warehouses, and performance variations among delivery agents</a:t>
            </a:r>
            <a:r>
              <a:rPr lang="en-IN" dirty="0">
                <a:effectLst/>
              </a:rPr>
              <a:t>. These issues don’t just affect delivery time; they also impact fuel cost, operational efficiency, and most importantly, customer satisfaction.</a:t>
            </a:r>
          </a:p>
          <a:p>
            <a:pPr marL="36900" indent="0">
              <a:buNone/>
            </a:pPr>
            <a:endParaRPr lang="en-IN" sz="1600" dirty="0">
              <a:effectLst/>
            </a:endParaRPr>
          </a:p>
          <a:p>
            <a:endParaRPr lang="en-IN" sz="1600" dirty="0"/>
          </a:p>
        </p:txBody>
      </p:sp>
    </p:spTree>
    <p:extLst>
      <p:ext uri="{BB962C8B-B14F-4D97-AF65-F5344CB8AC3E}">
        <p14:creationId xmlns:p14="http://schemas.microsoft.com/office/powerpoint/2010/main" val="1701234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2BEA1-8EEE-E8F8-0078-78A22D53C8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F4BC3-9F77-1528-9BED-DFF3D8C73F06}"/>
              </a:ext>
            </a:extLst>
          </p:cNvPr>
          <p:cNvSpPr>
            <a:spLocks noGrp="1"/>
          </p:cNvSpPr>
          <p:nvPr>
            <p:ph type="title"/>
          </p:nvPr>
        </p:nvSpPr>
        <p:spPr>
          <a:xfrm>
            <a:off x="913795" y="106431"/>
            <a:ext cx="10353762" cy="721199"/>
          </a:xfrm>
        </p:spPr>
        <p:txBody>
          <a:bodyPr>
            <a:normAutofit/>
          </a:bodyPr>
          <a:lstStyle/>
          <a:p>
            <a:pPr algn="ctr"/>
            <a:r>
              <a:rPr lang="en-US" sz="2800" b="1" dirty="0"/>
              <a:t>Data Model</a:t>
            </a:r>
            <a:endParaRPr lang="en-IN" sz="2800" b="1" dirty="0"/>
          </a:p>
        </p:txBody>
      </p:sp>
      <p:pic>
        <p:nvPicPr>
          <p:cNvPr id="8" name="Content Placeholder 7">
            <a:extLst>
              <a:ext uri="{FF2B5EF4-FFF2-40B4-BE49-F238E27FC236}">
                <a16:creationId xmlns:a16="http://schemas.microsoft.com/office/drawing/2014/main" id="{3120BDC3-B6EB-FFF3-50A5-E1265C615ECA}"/>
              </a:ext>
            </a:extLst>
          </p:cNvPr>
          <p:cNvPicPr>
            <a:picLocks noGrp="1" noChangeAspect="1"/>
          </p:cNvPicPr>
          <p:nvPr>
            <p:ph idx="1"/>
          </p:nvPr>
        </p:nvPicPr>
        <p:blipFill>
          <a:blip r:embed="rId2"/>
          <a:stretch>
            <a:fillRect/>
          </a:stretch>
        </p:blipFill>
        <p:spPr>
          <a:xfrm>
            <a:off x="1941463" y="968206"/>
            <a:ext cx="8298426" cy="5616808"/>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565351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4918C-2DDA-F3A7-99A7-8EEF9519C31B}"/>
              </a:ext>
            </a:extLst>
          </p:cNvPr>
          <p:cNvSpPr>
            <a:spLocks noGrp="1"/>
          </p:cNvSpPr>
          <p:nvPr>
            <p:ph type="title"/>
          </p:nvPr>
        </p:nvSpPr>
        <p:spPr/>
        <p:txBody>
          <a:bodyPr>
            <a:normAutofit/>
          </a:bodyPr>
          <a:lstStyle/>
          <a:p>
            <a:r>
              <a:rPr lang="en-US" sz="4000" dirty="0"/>
              <a:t>Task 1 – Data Cleaning &amp; Preparation</a:t>
            </a:r>
            <a:endParaRPr lang="en-IN" sz="4000" dirty="0"/>
          </a:p>
        </p:txBody>
      </p:sp>
      <p:sp>
        <p:nvSpPr>
          <p:cNvPr id="3" name="Content Placeholder 2">
            <a:extLst>
              <a:ext uri="{FF2B5EF4-FFF2-40B4-BE49-F238E27FC236}">
                <a16:creationId xmlns:a16="http://schemas.microsoft.com/office/drawing/2014/main" id="{B7B2400F-1C6E-19D5-76F2-336D04F3A748}"/>
              </a:ext>
            </a:extLst>
          </p:cNvPr>
          <p:cNvSpPr>
            <a:spLocks noGrp="1"/>
          </p:cNvSpPr>
          <p:nvPr>
            <p:ph idx="1"/>
          </p:nvPr>
        </p:nvSpPr>
        <p:spPr>
          <a:xfrm>
            <a:off x="979100" y="1540489"/>
            <a:ext cx="10233800" cy="4351338"/>
          </a:xfrm>
        </p:spPr>
        <p:txBody>
          <a:bodyPr>
            <a:normAutofit/>
          </a:bodyPr>
          <a:lstStyle/>
          <a:p>
            <a:pPr>
              <a:lnSpc>
                <a:spcPct val="150000"/>
              </a:lnSpc>
            </a:pPr>
            <a:r>
              <a:rPr lang="en-IN" b="1" dirty="0"/>
              <a:t>Objective:</a:t>
            </a:r>
            <a:br>
              <a:rPr lang="en-IN" dirty="0"/>
            </a:br>
            <a:r>
              <a:rPr lang="en-US" sz="1800" dirty="0"/>
              <a:t>Clean and standardize raw logistics data to ensure accuracy, consistency across all datasets, and valid date format and logic before analysis. This improves accuracy of Analysis</a:t>
            </a:r>
          </a:p>
          <a:p>
            <a:pPr>
              <a:lnSpc>
                <a:spcPct val="150000"/>
              </a:lnSpc>
            </a:pPr>
            <a:r>
              <a:rPr lang="en-US" b="1" dirty="0"/>
              <a:t>Analysis Covered:</a:t>
            </a:r>
          </a:p>
          <a:p>
            <a:pPr lvl="1">
              <a:buFont typeface="Arial" panose="020B0604020202020204" pitchFamily="34" charset="0"/>
              <a:buChar char="•"/>
            </a:pPr>
            <a:r>
              <a:rPr lang="en-US" dirty="0"/>
              <a:t>Remove duplicate Order IDs to avoid double counting of Orders.</a:t>
            </a:r>
          </a:p>
          <a:p>
            <a:pPr lvl="1">
              <a:buFont typeface="Arial" panose="020B0604020202020204" pitchFamily="34" charset="0"/>
              <a:buChar char="•"/>
            </a:pPr>
            <a:r>
              <a:rPr lang="en-US" dirty="0"/>
              <a:t>Replace null traffic delay values with Average to maintain accuracy in delay analysis.</a:t>
            </a:r>
          </a:p>
          <a:p>
            <a:pPr lvl="1">
              <a:buFont typeface="Arial" panose="020B0604020202020204" pitchFamily="34" charset="0"/>
              <a:buChar char="•"/>
            </a:pPr>
            <a:r>
              <a:rPr lang="en-US" dirty="0"/>
              <a:t>Standardize date formats to YYYY-MM-DD format for consistent date calculations.</a:t>
            </a:r>
          </a:p>
          <a:p>
            <a:pPr lvl="1">
              <a:buFont typeface="Arial" panose="020B0604020202020204" pitchFamily="34" charset="0"/>
              <a:buChar char="•"/>
            </a:pPr>
            <a:r>
              <a:rPr lang="en-US" dirty="0"/>
              <a:t>Validate delivery dates later than Order dates to ensure logical order timelines.</a:t>
            </a:r>
          </a:p>
          <a:p>
            <a:endParaRPr lang="en-IN" dirty="0"/>
          </a:p>
        </p:txBody>
      </p:sp>
    </p:spTree>
    <p:extLst>
      <p:ext uri="{BB962C8B-B14F-4D97-AF65-F5344CB8AC3E}">
        <p14:creationId xmlns:p14="http://schemas.microsoft.com/office/powerpoint/2010/main" val="3638778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8AE39-8817-8BDF-9B06-427C2899919D}"/>
              </a:ext>
            </a:extLst>
          </p:cNvPr>
          <p:cNvSpPr>
            <a:spLocks noGrp="1"/>
          </p:cNvSpPr>
          <p:nvPr>
            <p:ph type="title"/>
          </p:nvPr>
        </p:nvSpPr>
        <p:spPr>
          <a:xfrm>
            <a:off x="913795" y="106432"/>
            <a:ext cx="10353762" cy="630988"/>
          </a:xfrm>
        </p:spPr>
        <p:txBody>
          <a:bodyPr>
            <a:normAutofit/>
          </a:bodyPr>
          <a:lstStyle/>
          <a:p>
            <a:pPr algn="ctr"/>
            <a:r>
              <a:rPr lang="en-US" sz="2800" b="1" dirty="0"/>
              <a:t>Identify and Delete Duplicate </a:t>
            </a:r>
            <a:r>
              <a:rPr lang="en-US" sz="2800" b="1" dirty="0" err="1"/>
              <a:t>Order_ID</a:t>
            </a:r>
            <a:r>
              <a:rPr lang="en-US" sz="2800" b="1" dirty="0"/>
              <a:t> Records.</a:t>
            </a:r>
            <a:endParaRPr lang="en-IN" sz="2800" b="1" dirty="0"/>
          </a:p>
        </p:txBody>
      </p:sp>
      <p:sp>
        <p:nvSpPr>
          <p:cNvPr id="3" name="Content Placeholder 2">
            <a:extLst>
              <a:ext uri="{FF2B5EF4-FFF2-40B4-BE49-F238E27FC236}">
                <a16:creationId xmlns:a16="http://schemas.microsoft.com/office/drawing/2014/main" id="{C35CAD77-CFAC-EDC5-1581-B46737072D62}"/>
              </a:ext>
            </a:extLst>
          </p:cNvPr>
          <p:cNvSpPr>
            <a:spLocks noGrp="1"/>
          </p:cNvSpPr>
          <p:nvPr>
            <p:ph idx="1"/>
          </p:nvPr>
        </p:nvSpPr>
        <p:spPr>
          <a:xfrm>
            <a:off x="913795" y="737420"/>
            <a:ext cx="10353762" cy="6014148"/>
          </a:xfrm>
        </p:spPr>
        <p:txBody>
          <a:bodyPr>
            <a:noAutofit/>
          </a:bodyPr>
          <a:lstStyle/>
          <a:p>
            <a:r>
              <a:rPr lang="en-US" sz="2000" b="1" dirty="0">
                <a:solidFill>
                  <a:schemeClr val="tx1"/>
                </a:solidFill>
              </a:rPr>
              <a:t>Code :</a:t>
            </a:r>
            <a:endParaRPr lang="en-IN" sz="2000" b="1" dirty="0">
              <a:solidFill>
                <a:schemeClr val="tx1"/>
              </a:solidFill>
            </a:endParaRPr>
          </a:p>
          <a:p>
            <a:pPr marL="36900" indent="0">
              <a:buNone/>
            </a:pPr>
            <a:r>
              <a:rPr lang="en-IN" sz="1600" dirty="0">
                <a:solidFill>
                  <a:schemeClr val="tx1"/>
                </a:solidFill>
                <a:latin typeface="Courier New" panose="02070309020205020404" pitchFamily="49" charset="0"/>
                <a:cs typeface="Courier New" panose="02070309020205020404" pitchFamily="49" charset="0"/>
              </a:rPr>
              <a:t>SELECT  </a:t>
            </a:r>
            <a:r>
              <a:rPr lang="en-IN" sz="1600" dirty="0" err="1">
                <a:solidFill>
                  <a:schemeClr val="tx1"/>
                </a:solidFill>
                <a:latin typeface="Courier New" panose="02070309020205020404" pitchFamily="49" charset="0"/>
                <a:cs typeface="Courier New" panose="02070309020205020404" pitchFamily="49" charset="0"/>
              </a:rPr>
              <a:t>Order_ID</a:t>
            </a:r>
            <a:endParaRPr lang="en-IN" sz="1600" dirty="0">
              <a:solidFill>
                <a:schemeClr val="tx1"/>
              </a:solidFill>
              <a:latin typeface="Courier New" panose="02070309020205020404" pitchFamily="49" charset="0"/>
              <a:cs typeface="Courier New" panose="02070309020205020404" pitchFamily="49" charset="0"/>
            </a:endParaRPr>
          </a:p>
          <a:p>
            <a:pPr marL="36900" indent="0">
              <a:buNone/>
            </a:pPr>
            <a:r>
              <a:rPr lang="en-IN" sz="1600" dirty="0">
                <a:solidFill>
                  <a:schemeClr val="tx1"/>
                </a:solidFill>
                <a:latin typeface="Courier New" panose="02070309020205020404" pitchFamily="49" charset="0"/>
                <a:cs typeface="Courier New" panose="02070309020205020404" pitchFamily="49" charset="0"/>
              </a:rPr>
              <a:t>FROM</a:t>
            </a:r>
          </a:p>
          <a:p>
            <a:pPr marL="36900" indent="0">
              <a:buNone/>
            </a:pPr>
            <a:r>
              <a:rPr lang="en-IN" sz="1600" dirty="0">
                <a:solidFill>
                  <a:schemeClr val="tx1"/>
                </a:solidFill>
                <a:latin typeface="Courier New" panose="02070309020205020404" pitchFamily="49" charset="0"/>
                <a:cs typeface="Courier New" panose="02070309020205020404" pitchFamily="49" charset="0"/>
              </a:rPr>
              <a:t>    (SELECT  </a:t>
            </a:r>
            <a:r>
              <a:rPr lang="en-IN" sz="1600" dirty="0" err="1">
                <a:solidFill>
                  <a:schemeClr val="tx1"/>
                </a:solidFill>
                <a:latin typeface="Courier New" panose="02070309020205020404" pitchFamily="49" charset="0"/>
                <a:cs typeface="Courier New" panose="02070309020205020404" pitchFamily="49" charset="0"/>
              </a:rPr>
              <a:t>Order_ID</a:t>
            </a:r>
            <a:r>
              <a:rPr lang="en-IN" sz="1600" dirty="0">
                <a:solidFill>
                  <a:schemeClr val="tx1"/>
                </a:solidFill>
                <a:latin typeface="Courier New" panose="02070309020205020404" pitchFamily="49" charset="0"/>
                <a:cs typeface="Courier New" panose="02070309020205020404" pitchFamily="49" charset="0"/>
              </a:rPr>
              <a:t>, </a:t>
            </a:r>
            <a:r>
              <a:rPr lang="en-IN" sz="1600" dirty="0" err="1">
                <a:solidFill>
                  <a:schemeClr val="tx1"/>
                </a:solidFill>
                <a:latin typeface="Courier New" panose="02070309020205020404" pitchFamily="49" charset="0"/>
                <a:cs typeface="Courier New" panose="02070309020205020404" pitchFamily="49" charset="0"/>
              </a:rPr>
              <a:t>Order_Date</a:t>
            </a:r>
            <a:endParaRPr lang="en-IN" sz="1600" dirty="0">
              <a:solidFill>
                <a:schemeClr val="tx1"/>
              </a:solidFill>
              <a:latin typeface="Courier New" panose="02070309020205020404" pitchFamily="49" charset="0"/>
              <a:cs typeface="Courier New" panose="02070309020205020404" pitchFamily="49" charset="0"/>
            </a:endParaRPr>
          </a:p>
          <a:p>
            <a:pPr marL="36900" indent="0">
              <a:buNone/>
            </a:pPr>
            <a:r>
              <a:rPr lang="en-US" sz="1600" dirty="0">
                <a:solidFill>
                  <a:schemeClr val="tx1"/>
                </a:solidFill>
                <a:latin typeface="Courier New" panose="02070309020205020404" pitchFamily="49" charset="0"/>
                <a:cs typeface="Courier New" panose="02070309020205020404" pitchFamily="49" charset="0"/>
              </a:rPr>
              <a:t>        ROW_NUMBER() OVER(PARTITION BY </a:t>
            </a:r>
            <a:r>
              <a:rPr lang="en-US" sz="1600" dirty="0" err="1">
                <a:solidFill>
                  <a:schemeClr val="tx1"/>
                </a:solidFill>
                <a:latin typeface="Courier New" panose="02070309020205020404" pitchFamily="49" charset="0"/>
                <a:cs typeface="Courier New" panose="02070309020205020404" pitchFamily="49" charset="0"/>
              </a:rPr>
              <a:t>Order_ID</a:t>
            </a:r>
            <a:r>
              <a:rPr lang="en-US" sz="1600" dirty="0">
                <a:solidFill>
                  <a:schemeClr val="tx1"/>
                </a:solidFill>
                <a:latin typeface="Courier New" panose="02070309020205020404" pitchFamily="49" charset="0"/>
                <a:cs typeface="Courier New" panose="02070309020205020404" pitchFamily="49" charset="0"/>
              </a:rPr>
              <a:t> ORDER BY </a:t>
            </a:r>
            <a:r>
              <a:rPr lang="en-US" sz="1600" dirty="0" err="1">
                <a:solidFill>
                  <a:schemeClr val="tx1"/>
                </a:solidFill>
                <a:latin typeface="Courier New" panose="02070309020205020404" pitchFamily="49" charset="0"/>
                <a:cs typeface="Courier New" panose="02070309020205020404" pitchFamily="49" charset="0"/>
              </a:rPr>
              <a:t>Order_Date</a:t>
            </a:r>
            <a:r>
              <a:rPr lang="en-US" sz="1600" dirty="0">
                <a:solidFill>
                  <a:schemeClr val="tx1"/>
                </a:solidFill>
                <a:latin typeface="Courier New" panose="02070309020205020404" pitchFamily="49" charset="0"/>
                <a:cs typeface="Courier New" panose="02070309020205020404" pitchFamily="49" charset="0"/>
              </a:rPr>
              <a:t>) </a:t>
            </a:r>
            <a:r>
              <a:rPr lang="en-US" sz="1600" dirty="0" err="1">
                <a:solidFill>
                  <a:schemeClr val="tx1"/>
                </a:solidFill>
                <a:latin typeface="Courier New" panose="02070309020205020404" pitchFamily="49" charset="0"/>
                <a:cs typeface="Courier New" panose="02070309020205020404" pitchFamily="49" charset="0"/>
              </a:rPr>
              <a:t>rn</a:t>
            </a:r>
            <a:endParaRPr lang="en-US" sz="1600" dirty="0">
              <a:solidFill>
                <a:schemeClr val="tx1"/>
              </a:solidFill>
              <a:latin typeface="Courier New" panose="02070309020205020404" pitchFamily="49" charset="0"/>
              <a:cs typeface="Courier New" panose="02070309020205020404" pitchFamily="49" charset="0"/>
            </a:endParaRPr>
          </a:p>
          <a:p>
            <a:pPr marL="36900" indent="0">
              <a:buNone/>
            </a:pPr>
            <a:r>
              <a:rPr lang="en-US" sz="1600" dirty="0">
                <a:solidFill>
                  <a:schemeClr val="tx1"/>
                </a:solidFill>
                <a:latin typeface="Courier New" panose="02070309020205020404" pitchFamily="49" charset="0"/>
                <a:cs typeface="Courier New" panose="02070309020205020404" pitchFamily="49" charset="0"/>
              </a:rPr>
              <a:t>    FROM UPS.[Orders ]) as Alias</a:t>
            </a:r>
          </a:p>
          <a:p>
            <a:pPr marL="36900" indent="0">
              <a:buNone/>
            </a:pPr>
            <a:r>
              <a:rPr lang="en-IN" sz="1600" dirty="0">
                <a:solidFill>
                  <a:schemeClr val="tx1"/>
                </a:solidFill>
                <a:latin typeface="Courier New" panose="02070309020205020404" pitchFamily="49" charset="0"/>
                <a:cs typeface="Courier New" panose="02070309020205020404" pitchFamily="49" charset="0"/>
              </a:rPr>
              <a:t>    WHERE </a:t>
            </a:r>
            <a:r>
              <a:rPr lang="en-IN" sz="1600" dirty="0" err="1">
                <a:solidFill>
                  <a:schemeClr val="tx1"/>
                </a:solidFill>
                <a:latin typeface="Courier New" panose="02070309020205020404" pitchFamily="49" charset="0"/>
                <a:cs typeface="Courier New" panose="02070309020205020404" pitchFamily="49" charset="0"/>
              </a:rPr>
              <a:t>rn</a:t>
            </a:r>
            <a:r>
              <a:rPr lang="en-IN" sz="1600" dirty="0">
                <a:solidFill>
                  <a:schemeClr val="tx1"/>
                </a:solidFill>
                <a:latin typeface="Courier New" panose="02070309020205020404" pitchFamily="49" charset="0"/>
                <a:cs typeface="Courier New" panose="02070309020205020404" pitchFamily="49" charset="0"/>
              </a:rPr>
              <a:t> &gt; 1;</a:t>
            </a:r>
          </a:p>
          <a:p>
            <a:endParaRPr lang="en-IN" sz="1600" dirty="0">
              <a:solidFill>
                <a:schemeClr val="tx1"/>
              </a:solidFill>
              <a:latin typeface="Courier New" panose="02070309020205020404" pitchFamily="49" charset="0"/>
              <a:cs typeface="Courier New" panose="02070309020205020404" pitchFamily="49" charset="0"/>
            </a:endParaRPr>
          </a:p>
          <a:p>
            <a:pPr marL="36900" indent="0">
              <a:buNone/>
            </a:pPr>
            <a:r>
              <a:rPr lang="en-IN" sz="1600" dirty="0">
                <a:solidFill>
                  <a:schemeClr val="tx1"/>
                </a:solidFill>
                <a:latin typeface="Courier New" panose="02070309020205020404" pitchFamily="49" charset="0"/>
                <a:cs typeface="Courier New" panose="02070309020205020404" pitchFamily="49" charset="0"/>
              </a:rPr>
              <a:t>DELETE FROM UPS.[Orders ]</a:t>
            </a:r>
          </a:p>
          <a:p>
            <a:pPr marL="36900" indent="0">
              <a:buNone/>
            </a:pPr>
            <a:r>
              <a:rPr lang="en-IN" sz="1600" dirty="0">
                <a:solidFill>
                  <a:schemeClr val="tx1"/>
                </a:solidFill>
                <a:latin typeface="Courier New" panose="02070309020205020404" pitchFamily="49" charset="0"/>
                <a:cs typeface="Courier New" panose="02070309020205020404" pitchFamily="49" charset="0"/>
              </a:rPr>
              <a:t>WHERE </a:t>
            </a:r>
            <a:r>
              <a:rPr lang="en-IN" sz="1600" dirty="0" err="1">
                <a:solidFill>
                  <a:schemeClr val="tx1"/>
                </a:solidFill>
                <a:latin typeface="Courier New" panose="02070309020205020404" pitchFamily="49" charset="0"/>
                <a:cs typeface="Courier New" panose="02070309020205020404" pitchFamily="49" charset="0"/>
              </a:rPr>
              <a:t>Order_ID</a:t>
            </a:r>
            <a:r>
              <a:rPr lang="en-IN" sz="1600" dirty="0">
                <a:solidFill>
                  <a:schemeClr val="tx1"/>
                </a:solidFill>
                <a:latin typeface="Courier New" panose="02070309020205020404" pitchFamily="49" charset="0"/>
                <a:cs typeface="Courier New" panose="02070309020205020404" pitchFamily="49" charset="0"/>
              </a:rPr>
              <a:t> IN (</a:t>
            </a:r>
          </a:p>
          <a:p>
            <a:pPr marL="36900" indent="0">
              <a:buNone/>
            </a:pPr>
            <a:r>
              <a:rPr lang="en-IN" sz="1600" dirty="0">
                <a:solidFill>
                  <a:schemeClr val="tx1"/>
                </a:solidFill>
                <a:latin typeface="Courier New" panose="02070309020205020404" pitchFamily="49" charset="0"/>
                <a:cs typeface="Courier New" panose="02070309020205020404" pitchFamily="49" charset="0"/>
              </a:rPr>
              <a:t>    SELECT </a:t>
            </a:r>
            <a:r>
              <a:rPr lang="en-IN" sz="1600" dirty="0" err="1">
                <a:solidFill>
                  <a:schemeClr val="tx1"/>
                </a:solidFill>
                <a:latin typeface="Courier New" panose="02070309020205020404" pitchFamily="49" charset="0"/>
                <a:cs typeface="Courier New" panose="02070309020205020404" pitchFamily="49" charset="0"/>
              </a:rPr>
              <a:t>Order_ID</a:t>
            </a:r>
            <a:endParaRPr lang="en-IN" sz="1600" dirty="0">
              <a:solidFill>
                <a:schemeClr val="tx1"/>
              </a:solidFill>
              <a:latin typeface="Courier New" panose="02070309020205020404" pitchFamily="49" charset="0"/>
              <a:cs typeface="Courier New" panose="02070309020205020404" pitchFamily="49" charset="0"/>
            </a:endParaRPr>
          </a:p>
          <a:p>
            <a:pPr marL="36900" indent="0">
              <a:buNone/>
            </a:pPr>
            <a:r>
              <a:rPr lang="en-IN" sz="1600" dirty="0">
                <a:solidFill>
                  <a:schemeClr val="tx1"/>
                </a:solidFill>
                <a:latin typeface="Courier New" panose="02070309020205020404" pitchFamily="49" charset="0"/>
                <a:cs typeface="Courier New" panose="02070309020205020404" pitchFamily="49" charset="0"/>
              </a:rPr>
              <a:t>    FROM (SELECT  *,</a:t>
            </a:r>
          </a:p>
          <a:p>
            <a:pPr marL="36900" indent="0">
              <a:buNone/>
            </a:pPr>
            <a:r>
              <a:rPr lang="en-US" sz="1600" dirty="0">
                <a:solidFill>
                  <a:schemeClr val="tx1"/>
                </a:solidFill>
                <a:latin typeface="Courier New" panose="02070309020205020404" pitchFamily="49" charset="0"/>
                <a:cs typeface="Courier New" panose="02070309020205020404" pitchFamily="49" charset="0"/>
              </a:rPr>
              <a:t>            ROW_NUMBER() OVER(PARTITION BY </a:t>
            </a:r>
            <a:r>
              <a:rPr lang="en-US" sz="1600" dirty="0" err="1">
                <a:solidFill>
                  <a:schemeClr val="tx1"/>
                </a:solidFill>
                <a:latin typeface="Courier New" panose="02070309020205020404" pitchFamily="49" charset="0"/>
                <a:cs typeface="Courier New" panose="02070309020205020404" pitchFamily="49" charset="0"/>
              </a:rPr>
              <a:t>Order_ID</a:t>
            </a:r>
            <a:r>
              <a:rPr lang="en-US" sz="1600" dirty="0">
                <a:solidFill>
                  <a:schemeClr val="tx1"/>
                </a:solidFill>
                <a:latin typeface="Courier New" panose="02070309020205020404" pitchFamily="49" charset="0"/>
                <a:cs typeface="Courier New" panose="02070309020205020404" pitchFamily="49" charset="0"/>
              </a:rPr>
              <a:t> ORDER BY </a:t>
            </a:r>
            <a:r>
              <a:rPr lang="en-US" sz="1600" dirty="0" err="1">
                <a:solidFill>
                  <a:schemeClr val="tx1"/>
                </a:solidFill>
                <a:latin typeface="Courier New" panose="02070309020205020404" pitchFamily="49" charset="0"/>
                <a:cs typeface="Courier New" panose="02070309020205020404" pitchFamily="49" charset="0"/>
              </a:rPr>
              <a:t>Order_Date</a:t>
            </a:r>
            <a:r>
              <a:rPr lang="en-US" sz="1600" dirty="0">
                <a:solidFill>
                  <a:schemeClr val="tx1"/>
                </a:solidFill>
                <a:latin typeface="Courier New" panose="02070309020205020404" pitchFamily="49" charset="0"/>
                <a:cs typeface="Courier New" panose="02070309020205020404" pitchFamily="49" charset="0"/>
              </a:rPr>
              <a:t>) </a:t>
            </a:r>
            <a:r>
              <a:rPr lang="en-US" sz="1600" dirty="0" err="1">
                <a:solidFill>
                  <a:schemeClr val="tx1"/>
                </a:solidFill>
                <a:latin typeface="Courier New" panose="02070309020205020404" pitchFamily="49" charset="0"/>
                <a:cs typeface="Courier New" panose="02070309020205020404" pitchFamily="49" charset="0"/>
              </a:rPr>
              <a:t>rn</a:t>
            </a:r>
            <a:endParaRPr lang="en-US" sz="1600" dirty="0">
              <a:solidFill>
                <a:schemeClr val="tx1"/>
              </a:solidFill>
              <a:latin typeface="Courier New" panose="02070309020205020404" pitchFamily="49" charset="0"/>
              <a:cs typeface="Courier New" panose="02070309020205020404" pitchFamily="49" charset="0"/>
            </a:endParaRPr>
          </a:p>
          <a:p>
            <a:pPr marL="36900" indent="0">
              <a:buNone/>
            </a:pPr>
            <a:r>
              <a:rPr lang="en-US" sz="1600" dirty="0">
                <a:solidFill>
                  <a:schemeClr val="tx1"/>
                </a:solidFill>
                <a:latin typeface="Courier New" panose="02070309020205020404" pitchFamily="49" charset="0"/>
                <a:cs typeface="Courier New" panose="02070309020205020404" pitchFamily="49" charset="0"/>
              </a:rPr>
              <a:t>        	FROM UPS.[Orders ]) as Alias</a:t>
            </a:r>
          </a:p>
          <a:p>
            <a:pPr marL="36900" indent="0">
              <a:buNone/>
            </a:pPr>
            <a:r>
              <a:rPr lang="en-IN" sz="1600" dirty="0">
                <a:solidFill>
                  <a:schemeClr val="tx1"/>
                </a:solidFill>
                <a:latin typeface="Courier New" panose="02070309020205020404" pitchFamily="49" charset="0"/>
                <a:cs typeface="Courier New" panose="02070309020205020404" pitchFamily="49" charset="0"/>
              </a:rPr>
              <a:t>    WHERE </a:t>
            </a:r>
            <a:r>
              <a:rPr lang="en-IN" sz="1600" dirty="0" err="1">
                <a:solidFill>
                  <a:schemeClr val="tx1"/>
                </a:solidFill>
                <a:latin typeface="Courier New" panose="02070309020205020404" pitchFamily="49" charset="0"/>
                <a:cs typeface="Courier New" panose="02070309020205020404" pitchFamily="49" charset="0"/>
              </a:rPr>
              <a:t>rn</a:t>
            </a:r>
            <a:r>
              <a:rPr lang="en-IN" sz="1600" dirty="0">
                <a:solidFill>
                  <a:schemeClr val="tx1"/>
                </a:solidFill>
                <a:latin typeface="Courier New" panose="02070309020205020404" pitchFamily="49" charset="0"/>
                <a:cs typeface="Courier New" panose="02070309020205020404" pitchFamily="49" charset="0"/>
              </a:rPr>
              <a:t> &gt; 1</a:t>
            </a:r>
          </a:p>
          <a:p>
            <a:pPr marL="36900" indent="0">
              <a:buNone/>
            </a:pPr>
            <a:r>
              <a:rPr lang="en-IN" sz="1600" dirty="0">
                <a:solidFill>
                  <a:schemeClr val="tx1"/>
                </a:solidFill>
                <a:latin typeface="Courier New" panose="02070309020205020404" pitchFamily="49" charset="0"/>
                <a:cs typeface="Courier New" panose="02070309020205020404" pitchFamily="49" charset="0"/>
              </a:rPr>
              <a:t>);</a:t>
            </a:r>
          </a:p>
          <a:p>
            <a:endParaRPr lang="en-IN" sz="1000" dirty="0">
              <a:solidFill>
                <a:schemeClr val="tx1"/>
              </a:solidFill>
            </a:endParaRPr>
          </a:p>
        </p:txBody>
      </p:sp>
    </p:spTree>
    <p:extLst>
      <p:ext uri="{BB962C8B-B14F-4D97-AF65-F5344CB8AC3E}">
        <p14:creationId xmlns:p14="http://schemas.microsoft.com/office/powerpoint/2010/main" val="2622832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95900-7DB8-1254-E638-D373970689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A0E2E1-BAE3-C4BB-3ED3-065EA4323470}"/>
              </a:ext>
            </a:extLst>
          </p:cNvPr>
          <p:cNvSpPr>
            <a:spLocks noGrp="1"/>
          </p:cNvSpPr>
          <p:nvPr>
            <p:ph type="title"/>
          </p:nvPr>
        </p:nvSpPr>
        <p:spPr>
          <a:xfrm>
            <a:off x="913795" y="106431"/>
            <a:ext cx="10353762" cy="721199"/>
          </a:xfrm>
        </p:spPr>
        <p:txBody>
          <a:bodyPr>
            <a:normAutofit/>
          </a:bodyPr>
          <a:lstStyle/>
          <a:p>
            <a:pPr algn="ctr"/>
            <a:r>
              <a:rPr lang="en-US" sz="2800" b="1" dirty="0"/>
              <a:t>Identify and Delete Duplicate </a:t>
            </a:r>
            <a:r>
              <a:rPr lang="en-US" sz="2800" b="1" dirty="0" err="1"/>
              <a:t>Order_ID</a:t>
            </a:r>
            <a:r>
              <a:rPr lang="en-US" sz="2800" b="1" dirty="0"/>
              <a:t> Records.</a:t>
            </a:r>
            <a:endParaRPr lang="en-IN" sz="2800" b="1" dirty="0"/>
          </a:p>
        </p:txBody>
      </p:sp>
      <p:pic>
        <p:nvPicPr>
          <p:cNvPr id="7" name="Content Placeholder 6" descr="A screenshot of a computer&#10;&#10;AI-generated content may be incorrect.">
            <a:extLst>
              <a:ext uri="{FF2B5EF4-FFF2-40B4-BE49-F238E27FC236}">
                <a16:creationId xmlns:a16="http://schemas.microsoft.com/office/drawing/2014/main" id="{EBD3F711-C1A4-94D8-367B-E06C7F8D3BE2}"/>
              </a:ext>
            </a:extLst>
          </p:cNvPr>
          <p:cNvPicPr>
            <a:picLocks noGrp="1" noChangeAspect="1"/>
          </p:cNvPicPr>
          <p:nvPr>
            <p:ph idx="1"/>
          </p:nvPr>
        </p:nvPicPr>
        <p:blipFill>
          <a:blip r:embed="rId2"/>
          <a:stretch>
            <a:fillRect/>
          </a:stretch>
        </p:blipFill>
        <p:spPr>
          <a:xfrm>
            <a:off x="6213987" y="1869117"/>
            <a:ext cx="5702499" cy="2840536"/>
          </a:xfrm>
          <a:prstGeom prst="rect">
            <a:avLst/>
          </a:prstGeom>
          <a:effectLst>
            <a:outerShdw blurRad="25400" dir="17880000">
              <a:srgbClr val="000000">
                <a:alpha val="46000"/>
              </a:srgbClr>
            </a:outerShdw>
          </a:effectLst>
        </p:spPr>
      </p:pic>
      <p:pic>
        <p:nvPicPr>
          <p:cNvPr id="5" name="Picture 4" descr="A screenshot of a computer&#10;&#10;AI-generated content may be incorrect.">
            <a:extLst>
              <a:ext uri="{FF2B5EF4-FFF2-40B4-BE49-F238E27FC236}">
                <a16:creationId xmlns:a16="http://schemas.microsoft.com/office/drawing/2014/main" id="{6645805C-62ED-5A27-BF10-0669DFDBECF1}"/>
              </a:ext>
            </a:extLst>
          </p:cNvPr>
          <p:cNvPicPr>
            <a:picLocks noChangeAspect="1"/>
          </p:cNvPicPr>
          <p:nvPr/>
        </p:nvPicPr>
        <p:blipFill>
          <a:blip r:embed="rId3"/>
          <a:stretch>
            <a:fillRect/>
          </a:stretch>
        </p:blipFill>
        <p:spPr>
          <a:xfrm>
            <a:off x="275514" y="1869117"/>
            <a:ext cx="5271205" cy="2840536"/>
          </a:xfrm>
          <a:prstGeom prst="rect">
            <a:avLst/>
          </a:prstGeom>
        </p:spPr>
      </p:pic>
    </p:spTree>
    <p:extLst>
      <p:ext uri="{BB962C8B-B14F-4D97-AF65-F5344CB8AC3E}">
        <p14:creationId xmlns:p14="http://schemas.microsoft.com/office/powerpoint/2010/main" val="1443109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87444-F5B6-644F-AB81-8611761C1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4D4E9C-AB78-2910-B17A-AF6F74BEA882}"/>
              </a:ext>
            </a:extLst>
          </p:cNvPr>
          <p:cNvSpPr>
            <a:spLocks noGrp="1"/>
          </p:cNvSpPr>
          <p:nvPr>
            <p:ph type="title"/>
          </p:nvPr>
        </p:nvSpPr>
        <p:spPr>
          <a:xfrm>
            <a:off x="913795" y="106431"/>
            <a:ext cx="10353762" cy="721199"/>
          </a:xfrm>
        </p:spPr>
        <p:txBody>
          <a:bodyPr>
            <a:normAutofit fontScale="90000"/>
          </a:bodyPr>
          <a:lstStyle/>
          <a:p>
            <a:pPr algn="ctr"/>
            <a:r>
              <a:rPr lang="en-US" sz="2800" b="1" dirty="0"/>
              <a:t>Replace Null </a:t>
            </a:r>
            <a:r>
              <a:rPr lang="en-IN" sz="2800" b="1" dirty="0" err="1"/>
              <a:t>Traffic_Delay_Min</a:t>
            </a:r>
            <a:r>
              <a:rPr lang="en-IN" sz="2800" b="1" dirty="0"/>
              <a:t> with Average </a:t>
            </a:r>
            <a:r>
              <a:rPr lang="en-IN" sz="2800" b="1" dirty="0" err="1"/>
              <a:t>Traffic_Delay_Min</a:t>
            </a:r>
            <a:endParaRPr lang="en-IN" sz="2800" b="1" dirty="0"/>
          </a:p>
        </p:txBody>
      </p:sp>
      <p:sp>
        <p:nvSpPr>
          <p:cNvPr id="3" name="Content Placeholder 2">
            <a:extLst>
              <a:ext uri="{FF2B5EF4-FFF2-40B4-BE49-F238E27FC236}">
                <a16:creationId xmlns:a16="http://schemas.microsoft.com/office/drawing/2014/main" id="{4F09DA21-74BD-6301-C8E6-6462C46952B6}"/>
              </a:ext>
            </a:extLst>
          </p:cNvPr>
          <p:cNvSpPr>
            <a:spLocks noGrp="1"/>
          </p:cNvSpPr>
          <p:nvPr>
            <p:ph idx="1"/>
          </p:nvPr>
        </p:nvSpPr>
        <p:spPr>
          <a:xfrm>
            <a:off x="913795" y="935051"/>
            <a:ext cx="10353762" cy="5455918"/>
          </a:xfrm>
        </p:spPr>
        <p:txBody>
          <a:bodyPr>
            <a:noAutofit/>
          </a:bodyPr>
          <a:lstStyle/>
          <a:p>
            <a:r>
              <a:rPr lang="en-US" sz="2000" b="1" dirty="0">
                <a:solidFill>
                  <a:schemeClr val="tx1"/>
                </a:solidFill>
              </a:rPr>
              <a:t>Code :</a:t>
            </a:r>
          </a:p>
          <a:p>
            <a:pPr marL="36900" indent="0">
              <a:buNone/>
            </a:pPr>
            <a:endParaRPr lang="en-US" sz="1400" b="1" dirty="0">
              <a:solidFill>
                <a:schemeClr val="tx1"/>
              </a:solidFill>
            </a:endParaRPr>
          </a:p>
          <a:p>
            <a:pPr marL="36900" indent="0">
              <a:buNone/>
            </a:pPr>
            <a:r>
              <a:rPr lang="en-US" sz="1600" dirty="0">
                <a:solidFill>
                  <a:schemeClr val="tx1"/>
                </a:solidFill>
                <a:latin typeface="Courier New" panose="02070309020205020404" pitchFamily="49" charset="0"/>
                <a:cs typeface="Courier New" panose="02070309020205020404" pitchFamily="49" charset="0"/>
              </a:rPr>
              <a:t>SELECT </a:t>
            </a:r>
            <a:r>
              <a:rPr lang="en-US" sz="1600" dirty="0" err="1">
                <a:solidFill>
                  <a:schemeClr val="tx1"/>
                </a:solidFill>
                <a:latin typeface="Courier New" panose="02070309020205020404" pitchFamily="49" charset="0"/>
                <a:cs typeface="Courier New" panose="02070309020205020404" pitchFamily="49" charset="0"/>
              </a:rPr>
              <a:t>Route_ID</a:t>
            </a:r>
            <a:r>
              <a:rPr lang="en-US" sz="1600" dirty="0">
                <a:solidFill>
                  <a:schemeClr val="tx1"/>
                </a:solidFill>
                <a:latin typeface="Courier New" panose="02070309020205020404" pitchFamily="49" charset="0"/>
                <a:cs typeface="Courier New" panose="02070309020205020404" pitchFamily="49" charset="0"/>
              </a:rPr>
              <a:t>, </a:t>
            </a:r>
            <a:r>
              <a:rPr lang="en-US" sz="1600" dirty="0" err="1">
                <a:solidFill>
                  <a:schemeClr val="tx1"/>
                </a:solidFill>
                <a:latin typeface="Courier New" panose="02070309020205020404" pitchFamily="49" charset="0"/>
                <a:cs typeface="Courier New" panose="02070309020205020404" pitchFamily="49" charset="0"/>
              </a:rPr>
              <a:t>Traffic_Delay_Min</a:t>
            </a:r>
            <a:r>
              <a:rPr lang="en-US" sz="1600" dirty="0">
                <a:solidFill>
                  <a:schemeClr val="tx1"/>
                </a:solidFill>
                <a:latin typeface="Courier New" panose="02070309020205020404" pitchFamily="49" charset="0"/>
                <a:cs typeface="Courier New" panose="02070309020205020404" pitchFamily="49" charset="0"/>
              </a:rPr>
              <a:t> FROM UPS.[Routes ]</a:t>
            </a:r>
          </a:p>
          <a:p>
            <a:pPr marL="36900" indent="0">
              <a:buNone/>
            </a:pPr>
            <a:r>
              <a:rPr lang="en-US" sz="1600" dirty="0">
                <a:solidFill>
                  <a:schemeClr val="tx1"/>
                </a:solidFill>
                <a:latin typeface="Courier New" panose="02070309020205020404" pitchFamily="49" charset="0"/>
                <a:cs typeface="Courier New" panose="02070309020205020404" pitchFamily="49" charset="0"/>
              </a:rPr>
              <a:t>WHERE </a:t>
            </a:r>
            <a:r>
              <a:rPr lang="en-US" sz="1600" dirty="0" err="1">
                <a:solidFill>
                  <a:schemeClr val="tx1"/>
                </a:solidFill>
                <a:latin typeface="Courier New" panose="02070309020205020404" pitchFamily="49" charset="0"/>
                <a:cs typeface="Courier New" panose="02070309020205020404" pitchFamily="49" charset="0"/>
              </a:rPr>
              <a:t>Traffic_Delay_Min</a:t>
            </a:r>
            <a:r>
              <a:rPr lang="en-US" sz="1600" dirty="0">
                <a:solidFill>
                  <a:schemeClr val="tx1"/>
                </a:solidFill>
                <a:latin typeface="Courier New" panose="02070309020205020404" pitchFamily="49" charset="0"/>
                <a:cs typeface="Courier New" panose="02070309020205020404" pitchFamily="49" charset="0"/>
              </a:rPr>
              <a:t> IS NULL;</a:t>
            </a:r>
          </a:p>
          <a:p>
            <a:pPr marL="36900" indent="0">
              <a:buNone/>
            </a:pPr>
            <a:endParaRPr lang="en-IN" sz="1600" b="1" dirty="0">
              <a:solidFill>
                <a:schemeClr val="tx1"/>
              </a:solidFill>
              <a:latin typeface="Courier New" panose="02070309020205020404" pitchFamily="49" charset="0"/>
              <a:cs typeface="Courier New" panose="02070309020205020404" pitchFamily="49" charset="0"/>
            </a:endParaRPr>
          </a:p>
          <a:p>
            <a:pPr marL="36900" indent="0">
              <a:buNone/>
            </a:pPr>
            <a:r>
              <a:rPr lang="en-IN" sz="1600" dirty="0">
                <a:solidFill>
                  <a:schemeClr val="tx1"/>
                </a:solidFill>
                <a:latin typeface="Courier New" panose="02070309020205020404" pitchFamily="49" charset="0"/>
                <a:cs typeface="Courier New" panose="02070309020205020404" pitchFamily="49" charset="0"/>
              </a:rPr>
              <a:t>UPDATE UPS.[Routes ]</a:t>
            </a:r>
          </a:p>
          <a:p>
            <a:pPr marL="36900" indent="0">
              <a:buNone/>
            </a:pPr>
            <a:r>
              <a:rPr lang="en-IN" sz="1600" dirty="0">
                <a:solidFill>
                  <a:schemeClr val="tx1"/>
                </a:solidFill>
                <a:latin typeface="Courier New" panose="02070309020205020404" pitchFamily="49" charset="0"/>
                <a:cs typeface="Courier New" panose="02070309020205020404" pitchFamily="49" charset="0"/>
              </a:rPr>
              <a:t>    SET </a:t>
            </a:r>
            <a:r>
              <a:rPr lang="en-IN" sz="1600" dirty="0" err="1">
                <a:solidFill>
                  <a:schemeClr val="tx1"/>
                </a:solidFill>
                <a:latin typeface="Courier New" panose="02070309020205020404" pitchFamily="49" charset="0"/>
                <a:cs typeface="Courier New" panose="02070309020205020404" pitchFamily="49" charset="0"/>
              </a:rPr>
              <a:t>Traffic_Delay_Min</a:t>
            </a:r>
            <a:r>
              <a:rPr lang="en-IN" sz="1600" dirty="0">
                <a:solidFill>
                  <a:schemeClr val="tx1"/>
                </a:solidFill>
                <a:latin typeface="Courier New" panose="02070309020205020404" pitchFamily="49" charset="0"/>
                <a:cs typeface="Courier New" panose="02070309020205020404" pitchFamily="49" charset="0"/>
              </a:rPr>
              <a:t> = (</a:t>
            </a:r>
          </a:p>
          <a:p>
            <a:pPr marL="36900" indent="0">
              <a:buNone/>
            </a:pPr>
            <a:r>
              <a:rPr lang="en-US" sz="1600" dirty="0">
                <a:solidFill>
                  <a:schemeClr val="tx1"/>
                </a:solidFill>
                <a:latin typeface="Courier New" panose="02070309020205020404" pitchFamily="49" charset="0"/>
                <a:cs typeface="Courier New" panose="02070309020205020404" pitchFamily="49" charset="0"/>
              </a:rPr>
              <a:t>    SELECT AVG(</a:t>
            </a:r>
            <a:r>
              <a:rPr lang="en-US" sz="1600" dirty="0" err="1">
                <a:solidFill>
                  <a:schemeClr val="tx1"/>
                </a:solidFill>
                <a:latin typeface="Courier New" panose="02070309020205020404" pitchFamily="49" charset="0"/>
                <a:cs typeface="Courier New" panose="02070309020205020404" pitchFamily="49" charset="0"/>
              </a:rPr>
              <a:t>Traffic_Delay_Min</a:t>
            </a:r>
            <a:r>
              <a:rPr lang="en-US" sz="1600" dirty="0">
                <a:solidFill>
                  <a:schemeClr val="tx1"/>
                </a:solidFill>
                <a:latin typeface="Courier New" panose="02070309020205020404" pitchFamily="49" charset="0"/>
                <a:cs typeface="Courier New" panose="02070309020205020404" pitchFamily="49" charset="0"/>
              </a:rPr>
              <a:t>)</a:t>
            </a:r>
          </a:p>
          <a:p>
            <a:pPr marL="36900" indent="0">
              <a:buNone/>
            </a:pPr>
            <a:r>
              <a:rPr lang="en-IN" sz="1600" dirty="0">
                <a:solidFill>
                  <a:schemeClr val="tx1"/>
                </a:solidFill>
                <a:latin typeface="Courier New" panose="02070309020205020404" pitchFamily="49" charset="0"/>
                <a:cs typeface="Courier New" panose="02070309020205020404" pitchFamily="49" charset="0"/>
              </a:rPr>
              <a:t>    FROM UPS.[Routes ]</a:t>
            </a:r>
          </a:p>
          <a:p>
            <a:pPr marL="36900" indent="0">
              <a:buNone/>
            </a:pPr>
            <a:r>
              <a:rPr lang="en-US" sz="1600" dirty="0">
                <a:solidFill>
                  <a:schemeClr val="tx1"/>
                </a:solidFill>
                <a:latin typeface="Courier New" panose="02070309020205020404" pitchFamily="49" charset="0"/>
                <a:cs typeface="Courier New" panose="02070309020205020404" pitchFamily="49" charset="0"/>
              </a:rPr>
              <a:t>    WHERE </a:t>
            </a:r>
            <a:r>
              <a:rPr lang="en-US" sz="1600" dirty="0" err="1">
                <a:solidFill>
                  <a:schemeClr val="tx1"/>
                </a:solidFill>
                <a:latin typeface="Courier New" panose="02070309020205020404" pitchFamily="49" charset="0"/>
                <a:cs typeface="Courier New" panose="02070309020205020404" pitchFamily="49" charset="0"/>
              </a:rPr>
              <a:t>Traffic_Delay_Min</a:t>
            </a:r>
            <a:r>
              <a:rPr lang="en-US" sz="1600" dirty="0">
                <a:solidFill>
                  <a:schemeClr val="tx1"/>
                </a:solidFill>
                <a:latin typeface="Courier New" panose="02070309020205020404" pitchFamily="49" charset="0"/>
                <a:cs typeface="Courier New" panose="02070309020205020404" pitchFamily="49" charset="0"/>
              </a:rPr>
              <a:t> IS NOT NULL</a:t>
            </a:r>
          </a:p>
          <a:p>
            <a:pPr marL="36900" indent="0">
              <a:buNone/>
            </a:pPr>
            <a:r>
              <a:rPr lang="en-IN" sz="1600" dirty="0">
                <a:solidFill>
                  <a:schemeClr val="tx1"/>
                </a:solidFill>
                <a:latin typeface="Courier New" panose="02070309020205020404" pitchFamily="49" charset="0"/>
                <a:cs typeface="Courier New" panose="02070309020205020404" pitchFamily="49" charset="0"/>
              </a:rPr>
              <a:t>)</a:t>
            </a:r>
          </a:p>
          <a:p>
            <a:pPr marL="36900" indent="0">
              <a:buNone/>
            </a:pPr>
            <a:r>
              <a:rPr lang="en-US" sz="1600" dirty="0">
                <a:solidFill>
                  <a:schemeClr val="tx1"/>
                </a:solidFill>
                <a:latin typeface="Courier New" panose="02070309020205020404" pitchFamily="49" charset="0"/>
                <a:cs typeface="Courier New" panose="02070309020205020404" pitchFamily="49" charset="0"/>
              </a:rPr>
              <a:t>WHERE </a:t>
            </a:r>
            <a:r>
              <a:rPr lang="en-US" sz="1600" dirty="0" err="1">
                <a:solidFill>
                  <a:schemeClr val="tx1"/>
                </a:solidFill>
                <a:latin typeface="Courier New" panose="02070309020205020404" pitchFamily="49" charset="0"/>
                <a:cs typeface="Courier New" panose="02070309020205020404" pitchFamily="49" charset="0"/>
              </a:rPr>
              <a:t>Traffic_Delay_Min</a:t>
            </a:r>
            <a:r>
              <a:rPr lang="en-US" sz="1600" dirty="0">
                <a:solidFill>
                  <a:schemeClr val="tx1"/>
                </a:solidFill>
                <a:latin typeface="Courier New" panose="02070309020205020404" pitchFamily="49" charset="0"/>
                <a:cs typeface="Courier New" panose="02070309020205020404" pitchFamily="49" charset="0"/>
              </a:rPr>
              <a:t> IS NULL;</a:t>
            </a:r>
          </a:p>
          <a:p>
            <a:pPr marL="36900" indent="0">
              <a:buNone/>
            </a:pPr>
            <a:endParaRPr lang="en-US" sz="1400"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36445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C3557-8966-8F39-0748-F7944E3E8E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73897C-ED90-8DFB-3F8E-BD60D160E5F2}"/>
              </a:ext>
            </a:extLst>
          </p:cNvPr>
          <p:cNvSpPr>
            <a:spLocks noGrp="1"/>
          </p:cNvSpPr>
          <p:nvPr>
            <p:ph type="title"/>
          </p:nvPr>
        </p:nvSpPr>
        <p:spPr>
          <a:xfrm>
            <a:off x="913795" y="106431"/>
            <a:ext cx="10353762" cy="721199"/>
          </a:xfrm>
        </p:spPr>
        <p:txBody>
          <a:bodyPr>
            <a:normAutofit fontScale="90000"/>
          </a:bodyPr>
          <a:lstStyle/>
          <a:p>
            <a:pPr algn="ctr"/>
            <a:r>
              <a:rPr lang="en-US" sz="2800" b="1" dirty="0"/>
              <a:t>Replace Null </a:t>
            </a:r>
            <a:r>
              <a:rPr lang="en-IN" sz="2800" b="1" dirty="0" err="1"/>
              <a:t>Traffic_Delay_Min</a:t>
            </a:r>
            <a:r>
              <a:rPr lang="en-IN" sz="2800" b="1" dirty="0"/>
              <a:t> with Average </a:t>
            </a:r>
            <a:r>
              <a:rPr lang="en-IN" sz="2800" b="1" dirty="0" err="1"/>
              <a:t>Traffic_Delay_Min</a:t>
            </a:r>
            <a:endParaRPr lang="en-IN" sz="2400" b="1" dirty="0"/>
          </a:p>
        </p:txBody>
      </p:sp>
      <p:pic>
        <p:nvPicPr>
          <p:cNvPr id="9" name="Content Placeholder 8" descr="A screenshot of a computer&#10;&#10;AI-generated content may be incorrect.">
            <a:extLst>
              <a:ext uri="{FF2B5EF4-FFF2-40B4-BE49-F238E27FC236}">
                <a16:creationId xmlns:a16="http://schemas.microsoft.com/office/drawing/2014/main" id="{D105A65D-269E-721E-F4CD-6960E6CB582A}"/>
              </a:ext>
            </a:extLst>
          </p:cNvPr>
          <p:cNvPicPr>
            <a:picLocks noGrp="1" noChangeAspect="1"/>
          </p:cNvPicPr>
          <p:nvPr>
            <p:ph idx="1"/>
          </p:nvPr>
        </p:nvPicPr>
        <p:blipFill>
          <a:blip r:embed="rId2"/>
          <a:stretch>
            <a:fillRect/>
          </a:stretch>
        </p:blipFill>
        <p:spPr>
          <a:xfrm>
            <a:off x="631656" y="2338235"/>
            <a:ext cx="4591691" cy="2181529"/>
          </a:xfrm>
          <a:prstGeom prst="rect">
            <a:avLst/>
          </a:prstGeom>
          <a:effectLst>
            <a:outerShdw blurRad="25400" dir="17880000">
              <a:srgbClr val="000000">
                <a:alpha val="46000"/>
              </a:srgbClr>
            </a:outerShdw>
          </a:effectLst>
        </p:spPr>
      </p:pic>
      <p:pic>
        <p:nvPicPr>
          <p:cNvPr id="6" name="Picture 5" descr="A screenshot of a computer&#10;&#10;AI-generated content may be incorrect.">
            <a:extLst>
              <a:ext uri="{FF2B5EF4-FFF2-40B4-BE49-F238E27FC236}">
                <a16:creationId xmlns:a16="http://schemas.microsoft.com/office/drawing/2014/main" id="{3DFB9AF8-FE68-2A45-36F6-7DC5DA4A9466}"/>
              </a:ext>
            </a:extLst>
          </p:cNvPr>
          <p:cNvPicPr>
            <a:picLocks noChangeAspect="1"/>
          </p:cNvPicPr>
          <p:nvPr/>
        </p:nvPicPr>
        <p:blipFill>
          <a:blip r:embed="rId3"/>
          <a:stretch>
            <a:fillRect/>
          </a:stretch>
        </p:blipFill>
        <p:spPr>
          <a:xfrm>
            <a:off x="5958862" y="2319182"/>
            <a:ext cx="5601482" cy="2200582"/>
          </a:xfrm>
          <a:prstGeom prst="rect">
            <a:avLst/>
          </a:prstGeom>
        </p:spPr>
      </p:pic>
    </p:spTree>
    <p:extLst>
      <p:ext uri="{BB962C8B-B14F-4D97-AF65-F5344CB8AC3E}">
        <p14:creationId xmlns:p14="http://schemas.microsoft.com/office/powerpoint/2010/main" val="1936247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CFB86-14E3-5B34-C491-4C96C4442B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B917D-FAF4-B4AA-CE61-0BCE972E999E}"/>
              </a:ext>
            </a:extLst>
          </p:cNvPr>
          <p:cNvSpPr>
            <a:spLocks noGrp="1"/>
          </p:cNvSpPr>
          <p:nvPr>
            <p:ph type="title"/>
          </p:nvPr>
        </p:nvSpPr>
        <p:spPr>
          <a:xfrm>
            <a:off x="913795" y="106431"/>
            <a:ext cx="10353762" cy="721199"/>
          </a:xfrm>
        </p:spPr>
        <p:txBody>
          <a:bodyPr>
            <a:normAutofit/>
          </a:bodyPr>
          <a:lstStyle/>
          <a:p>
            <a:pPr algn="ctr"/>
            <a:r>
              <a:rPr lang="en-US" sz="2800" b="1" dirty="0"/>
              <a:t>Standardize Date formats to YYYY-MM-DD</a:t>
            </a:r>
            <a:endParaRPr lang="en-IN" sz="2400" b="1" dirty="0"/>
          </a:p>
        </p:txBody>
      </p:sp>
      <p:sp>
        <p:nvSpPr>
          <p:cNvPr id="3" name="Content Placeholder 2">
            <a:extLst>
              <a:ext uri="{FF2B5EF4-FFF2-40B4-BE49-F238E27FC236}">
                <a16:creationId xmlns:a16="http://schemas.microsoft.com/office/drawing/2014/main" id="{C45D7D79-E540-4E8B-FE43-AC38CEA69752}"/>
              </a:ext>
            </a:extLst>
          </p:cNvPr>
          <p:cNvSpPr>
            <a:spLocks noGrp="1"/>
          </p:cNvSpPr>
          <p:nvPr>
            <p:ph idx="1"/>
          </p:nvPr>
        </p:nvSpPr>
        <p:spPr>
          <a:xfrm>
            <a:off x="913795" y="935051"/>
            <a:ext cx="10353762" cy="5455918"/>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latin typeface="Courier New" panose="02070309020205020404" pitchFamily="49" charset="0"/>
                <a:cs typeface="Courier New" panose="02070309020205020404" pitchFamily="49" charset="0"/>
              </a:rPr>
              <a:t>SELECT </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Order_ID</a:t>
            </a:r>
            <a:r>
              <a:rPr lang="en-IN" sz="1400" dirty="0">
                <a:latin typeface="Courier New" panose="02070309020205020404" pitchFamily="49" charset="0"/>
                <a:cs typeface="Courier New" panose="02070309020205020404" pitchFamily="49" charset="0"/>
              </a:rPr>
              <a:t>, </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Order_Date</a:t>
            </a:r>
            <a:r>
              <a:rPr lang="en-IN" sz="1400" dirty="0">
                <a:latin typeface="Courier New" panose="02070309020205020404" pitchFamily="49" charset="0"/>
                <a:cs typeface="Courier New" panose="02070309020205020404" pitchFamily="49" charset="0"/>
              </a:rPr>
              <a:t>, </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Expected_Delivery_Date</a:t>
            </a:r>
            <a:r>
              <a:rPr lang="en-IN" sz="1400" dirty="0">
                <a:latin typeface="Courier New" panose="02070309020205020404" pitchFamily="49" charset="0"/>
                <a:cs typeface="Courier New" panose="02070309020205020404" pitchFamily="49" charset="0"/>
              </a:rPr>
              <a:t>, </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Actual_Delivery_Date</a:t>
            </a:r>
            <a:endParaRPr lang="en-IN"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FROM UPS.[Orders ];</a:t>
            </a:r>
            <a:endParaRPr lang="en-IN" sz="1400" b="1" dirty="0">
              <a:solidFill>
                <a:schemeClr val="tx1"/>
              </a:solidFill>
              <a:latin typeface="Courier New" panose="02070309020205020404" pitchFamily="49" charset="0"/>
              <a:cs typeface="Courier New" panose="02070309020205020404" pitchFamily="49" charset="0"/>
            </a:endParaRPr>
          </a:p>
          <a:p>
            <a:pPr marL="36900" indent="0">
              <a:buNone/>
            </a:pPr>
            <a:endParaRPr lang="en-IN" sz="1600" b="1" dirty="0">
              <a:solidFill>
                <a:schemeClr val="tx1"/>
              </a:solidFill>
            </a:endParaRPr>
          </a:p>
          <a:p>
            <a:pPr marL="36900" indent="0">
              <a:buNone/>
            </a:pPr>
            <a:r>
              <a:rPr lang="en-IN" sz="1600" dirty="0">
                <a:latin typeface="Courier New" panose="02070309020205020404" pitchFamily="49" charset="0"/>
                <a:cs typeface="Courier New" panose="02070309020205020404" pitchFamily="49" charset="0"/>
              </a:rPr>
              <a:t>UPDATE UPS.[Orders ]</a:t>
            </a:r>
          </a:p>
          <a:p>
            <a:pPr marL="36900" indent="0">
              <a:buNone/>
            </a:pPr>
            <a:r>
              <a:rPr lang="en-US" sz="1600" dirty="0">
                <a:latin typeface="Courier New" panose="02070309020205020404" pitchFamily="49" charset="0"/>
                <a:cs typeface="Courier New" panose="02070309020205020404" pitchFamily="49" charset="0"/>
              </a:rPr>
              <a:t>SET </a:t>
            </a:r>
            <a:r>
              <a:rPr lang="en-US" sz="1600" dirty="0" err="1">
                <a:latin typeface="Courier New" panose="02070309020205020404" pitchFamily="49" charset="0"/>
                <a:cs typeface="Courier New" panose="02070309020205020404" pitchFamily="49" charset="0"/>
              </a:rPr>
              <a:t>Order_Date</a:t>
            </a:r>
            <a:r>
              <a:rPr lang="en-US" sz="1600" dirty="0">
                <a:latin typeface="Courier New" panose="02070309020205020404" pitchFamily="49" charset="0"/>
                <a:cs typeface="Courier New" panose="02070309020205020404" pitchFamily="49" charset="0"/>
              </a:rPr>
              <a:t> = CONVERT(DATE, </a:t>
            </a:r>
            <a:r>
              <a:rPr lang="en-US" sz="1600" dirty="0" err="1">
                <a:latin typeface="Courier New" panose="02070309020205020404" pitchFamily="49" charset="0"/>
                <a:cs typeface="Courier New" panose="02070309020205020404" pitchFamily="49" charset="0"/>
              </a:rPr>
              <a:t>Order_Date</a:t>
            </a:r>
            <a:r>
              <a:rPr lang="en-US" sz="1600" dirty="0">
                <a:latin typeface="Courier New" panose="02070309020205020404" pitchFamily="49" charset="0"/>
                <a:cs typeface="Courier New" panose="02070309020205020404" pitchFamily="49" charset="0"/>
              </a:rPr>
              <a:t>, 105),</a:t>
            </a:r>
          </a:p>
          <a:p>
            <a:pPr marL="36900" indent="0">
              <a:buNone/>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Expected_Delivery_Date</a:t>
            </a:r>
            <a:r>
              <a:rPr lang="en-US" sz="1600" dirty="0">
                <a:latin typeface="Courier New" panose="02070309020205020404" pitchFamily="49" charset="0"/>
                <a:cs typeface="Courier New" panose="02070309020205020404" pitchFamily="49" charset="0"/>
              </a:rPr>
              <a:t> = CONVERT(DATE, </a:t>
            </a:r>
            <a:r>
              <a:rPr lang="en-US" sz="1600" dirty="0" err="1">
                <a:latin typeface="Courier New" panose="02070309020205020404" pitchFamily="49" charset="0"/>
                <a:cs typeface="Courier New" panose="02070309020205020404" pitchFamily="49" charset="0"/>
              </a:rPr>
              <a:t>Expected_Delivery_Date</a:t>
            </a:r>
            <a:r>
              <a:rPr lang="en-US" sz="1600" dirty="0">
                <a:latin typeface="Courier New" panose="02070309020205020404" pitchFamily="49" charset="0"/>
                <a:cs typeface="Courier New" panose="02070309020205020404" pitchFamily="49" charset="0"/>
              </a:rPr>
              <a:t>, 105),</a:t>
            </a:r>
          </a:p>
          <a:p>
            <a:pPr marL="36900" indent="0">
              <a:buNone/>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Actual_Delivery_Date</a:t>
            </a:r>
            <a:r>
              <a:rPr lang="en-US" sz="1600" dirty="0">
                <a:latin typeface="Courier New" panose="02070309020205020404" pitchFamily="49" charset="0"/>
                <a:cs typeface="Courier New" panose="02070309020205020404" pitchFamily="49" charset="0"/>
              </a:rPr>
              <a:t> = CONVERT(DATE, </a:t>
            </a:r>
            <a:r>
              <a:rPr lang="en-US" sz="1600" dirty="0" err="1">
                <a:latin typeface="Courier New" panose="02070309020205020404" pitchFamily="49" charset="0"/>
                <a:cs typeface="Courier New" panose="02070309020205020404" pitchFamily="49" charset="0"/>
              </a:rPr>
              <a:t>Actual_Delivery_Date</a:t>
            </a:r>
            <a:r>
              <a:rPr lang="en-US" sz="1600" dirty="0">
                <a:latin typeface="Courier New" panose="02070309020205020404" pitchFamily="49" charset="0"/>
                <a:cs typeface="Courier New" panose="02070309020205020404" pitchFamily="49" charset="0"/>
              </a:rPr>
              <a:t>, 105);</a:t>
            </a:r>
            <a:endParaRPr lang="en-IN" sz="1600"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61105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3985F-45CE-F40F-ADA5-693D47ADC3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B9C7E0-85DA-A795-5122-7DC449577617}"/>
              </a:ext>
            </a:extLst>
          </p:cNvPr>
          <p:cNvSpPr>
            <a:spLocks noGrp="1"/>
          </p:cNvSpPr>
          <p:nvPr>
            <p:ph type="title"/>
          </p:nvPr>
        </p:nvSpPr>
        <p:spPr>
          <a:xfrm>
            <a:off x="913795" y="106431"/>
            <a:ext cx="10353762" cy="721199"/>
          </a:xfrm>
        </p:spPr>
        <p:txBody>
          <a:bodyPr>
            <a:normAutofit/>
          </a:bodyPr>
          <a:lstStyle/>
          <a:p>
            <a:r>
              <a:rPr lang="en-US" sz="2800" b="1" dirty="0"/>
              <a:t>Standardize Date formats to YYYY-MM-DD</a:t>
            </a:r>
            <a:endParaRPr lang="en-IN" sz="2400" b="1" dirty="0"/>
          </a:p>
        </p:txBody>
      </p:sp>
      <p:pic>
        <p:nvPicPr>
          <p:cNvPr id="12" name="Content Placeholder 11">
            <a:extLst>
              <a:ext uri="{FF2B5EF4-FFF2-40B4-BE49-F238E27FC236}">
                <a16:creationId xmlns:a16="http://schemas.microsoft.com/office/drawing/2014/main" id="{0E943DCE-D5C6-4C0A-7BB0-3D49952C9B86}"/>
              </a:ext>
            </a:extLst>
          </p:cNvPr>
          <p:cNvPicPr>
            <a:picLocks noGrp="1" noChangeAspect="1"/>
          </p:cNvPicPr>
          <p:nvPr>
            <p:ph idx="1"/>
          </p:nvPr>
        </p:nvPicPr>
        <p:blipFill>
          <a:blip r:embed="rId2"/>
          <a:stretch>
            <a:fillRect/>
          </a:stretch>
        </p:blipFill>
        <p:spPr>
          <a:xfrm>
            <a:off x="5669682" y="1932274"/>
            <a:ext cx="6078456" cy="1725326"/>
          </a:xfrm>
          <a:prstGeom prst="rect">
            <a:avLst/>
          </a:prstGeom>
          <a:effectLst>
            <a:outerShdw blurRad="25400" dir="17880000">
              <a:srgbClr val="000000">
                <a:alpha val="46000"/>
              </a:srgbClr>
            </a:outerShdw>
          </a:effectLst>
        </p:spPr>
      </p:pic>
      <p:pic>
        <p:nvPicPr>
          <p:cNvPr id="10" name="Picture 9">
            <a:extLst>
              <a:ext uri="{FF2B5EF4-FFF2-40B4-BE49-F238E27FC236}">
                <a16:creationId xmlns:a16="http://schemas.microsoft.com/office/drawing/2014/main" id="{DDBE1CB0-3B52-962A-7A7F-746514FAAEAD}"/>
              </a:ext>
            </a:extLst>
          </p:cNvPr>
          <p:cNvPicPr>
            <a:picLocks noChangeAspect="1"/>
          </p:cNvPicPr>
          <p:nvPr/>
        </p:nvPicPr>
        <p:blipFill>
          <a:blip r:embed="rId3"/>
          <a:stretch>
            <a:fillRect/>
          </a:stretch>
        </p:blipFill>
        <p:spPr>
          <a:xfrm>
            <a:off x="796623" y="1932274"/>
            <a:ext cx="4601217" cy="3229426"/>
          </a:xfrm>
          <a:prstGeom prst="rect">
            <a:avLst/>
          </a:prstGeom>
        </p:spPr>
      </p:pic>
    </p:spTree>
    <p:extLst>
      <p:ext uri="{BB962C8B-B14F-4D97-AF65-F5344CB8AC3E}">
        <p14:creationId xmlns:p14="http://schemas.microsoft.com/office/powerpoint/2010/main" val="3176011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E2D09-CB08-1D8F-AB05-51A2048574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077693-77CB-D3A2-99AA-E91093FAE737}"/>
              </a:ext>
            </a:extLst>
          </p:cNvPr>
          <p:cNvSpPr>
            <a:spLocks noGrp="1"/>
          </p:cNvSpPr>
          <p:nvPr>
            <p:ph type="title"/>
          </p:nvPr>
        </p:nvSpPr>
        <p:spPr>
          <a:xfrm>
            <a:off x="402715" y="106431"/>
            <a:ext cx="11375922" cy="721199"/>
          </a:xfrm>
        </p:spPr>
        <p:txBody>
          <a:bodyPr>
            <a:normAutofit fontScale="90000"/>
          </a:bodyPr>
          <a:lstStyle/>
          <a:p>
            <a:r>
              <a:rPr lang="en-US" sz="2800" b="1" dirty="0"/>
              <a:t>Ensure that no </a:t>
            </a:r>
            <a:r>
              <a:rPr lang="en-US" sz="2800" b="1" dirty="0" err="1"/>
              <a:t>Actual_Delivery_Date</a:t>
            </a:r>
            <a:r>
              <a:rPr lang="en-US" sz="2800" b="1" dirty="0"/>
              <a:t> is before </a:t>
            </a:r>
            <a:r>
              <a:rPr lang="en-US" sz="2800" b="1" dirty="0" err="1"/>
              <a:t>Order_Date</a:t>
            </a:r>
            <a:r>
              <a:rPr lang="en-US" sz="2800" b="1" dirty="0"/>
              <a:t> (flag such records).</a:t>
            </a:r>
            <a:endParaRPr lang="en-IN" sz="2400" b="1" dirty="0"/>
          </a:p>
        </p:txBody>
      </p:sp>
      <p:sp>
        <p:nvSpPr>
          <p:cNvPr id="3" name="Content Placeholder 2">
            <a:extLst>
              <a:ext uri="{FF2B5EF4-FFF2-40B4-BE49-F238E27FC236}">
                <a16:creationId xmlns:a16="http://schemas.microsoft.com/office/drawing/2014/main" id="{BB48B159-12ED-685E-B4EB-90B4E96F3576}"/>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latin typeface="Courier New" panose="02070309020205020404" pitchFamily="49" charset="0"/>
                <a:cs typeface="Courier New" panose="02070309020205020404" pitchFamily="49" charset="0"/>
              </a:rPr>
              <a:t>SELECT </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Order_ID</a:t>
            </a: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Order_Date</a:t>
            </a:r>
            <a:r>
              <a:rPr lang="en-IN" sz="1400" dirty="0">
                <a:latin typeface="Courier New" panose="02070309020205020404" pitchFamily="49" charset="0"/>
                <a:cs typeface="Courier New" panose="02070309020205020404" pitchFamily="49" charset="0"/>
              </a:rPr>
              <a:t>, </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Expected_Delivery_Date</a:t>
            </a: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Actual_Delivery_Date</a:t>
            </a:r>
            <a:endParaRPr lang="en-IN"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FROM UPS.[Orders ]</a:t>
            </a:r>
          </a:p>
          <a:p>
            <a:pPr marL="36900" indent="0">
              <a:buNone/>
            </a:pPr>
            <a:r>
              <a:rPr lang="en-US" sz="1400" dirty="0">
                <a:latin typeface="Courier New" panose="02070309020205020404" pitchFamily="49" charset="0"/>
                <a:cs typeface="Courier New" panose="02070309020205020404" pitchFamily="49" charset="0"/>
              </a:rPr>
              <a:t>WHERE </a:t>
            </a:r>
            <a:r>
              <a:rPr lang="en-US" sz="1400" dirty="0" err="1">
                <a:latin typeface="Courier New" panose="02070309020205020404" pitchFamily="49" charset="0"/>
                <a:cs typeface="Courier New" panose="02070309020205020404" pitchFamily="49" charset="0"/>
              </a:rPr>
              <a:t>Actual_Delivery_Date</a:t>
            </a:r>
            <a:r>
              <a:rPr lang="en-US" sz="1400" dirty="0">
                <a:latin typeface="Courier New" panose="02070309020205020404" pitchFamily="49" charset="0"/>
                <a:cs typeface="Courier New" panose="02070309020205020404" pitchFamily="49" charset="0"/>
              </a:rPr>
              <a:t> &lt; </a:t>
            </a:r>
            <a:r>
              <a:rPr lang="en-US" sz="1400" dirty="0" err="1">
                <a:latin typeface="Courier New" panose="02070309020205020404" pitchFamily="49" charset="0"/>
                <a:cs typeface="Courier New" panose="02070309020205020404" pitchFamily="49" charset="0"/>
              </a:rPr>
              <a:t>Order_Date</a:t>
            </a:r>
            <a:r>
              <a:rPr lang="en-US" sz="1400" dirty="0">
                <a:latin typeface="Courier New" panose="02070309020205020404" pitchFamily="49" charset="0"/>
                <a:cs typeface="Courier New" panose="02070309020205020404" pitchFamily="49" charset="0"/>
              </a:rPr>
              <a:t>;</a:t>
            </a:r>
            <a:endParaRPr lang="en-IN" sz="1400" dirty="0">
              <a:latin typeface="Courier New" panose="02070309020205020404" pitchFamily="49" charset="0"/>
              <a:cs typeface="Courier New" panose="02070309020205020404" pitchFamily="49" charset="0"/>
            </a:endParaRPr>
          </a:p>
          <a:p>
            <a:pPr marL="36900" indent="0">
              <a:buNone/>
            </a:pPr>
            <a:endParaRPr lang="en-IN"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ALTER TABLE </a:t>
            </a:r>
            <a:r>
              <a:rPr lang="en-IN" sz="1400" dirty="0" err="1">
                <a:latin typeface="Courier New" panose="02070309020205020404" pitchFamily="49" charset="0"/>
                <a:cs typeface="Courier New" panose="02070309020205020404" pitchFamily="49" charset="0"/>
              </a:rPr>
              <a:t>UPS.Orders</a:t>
            </a:r>
            <a:endParaRPr lang="en-IN"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ADD </a:t>
            </a:r>
            <a:r>
              <a:rPr lang="en-IN" sz="1400" dirty="0" err="1">
                <a:latin typeface="Courier New" panose="02070309020205020404" pitchFamily="49" charset="0"/>
                <a:cs typeface="Courier New" panose="02070309020205020404" pitchFamily="49" charset="0"/>
              </a:rPr>
              <a:t>Is_Date_Valid</a:t>
            </a:r>
            <a:r>
              <a:rPr lang="en-IN" sz="1400" dirty="0">
                <a:latin typeface="Courier New" panose="02070309020205020404" pitchFamily="49" charset="0"/>
                <a:cs typeface="Courier New" panose="02070309020205020404" pitchFamily="49" charset="0"/>
              </a:rPr>
              <a:t> VARCHAR(20);</a:t>
            </a:r>
          </a:p>
          <a:p>
            <a:pPr marL="36900" indent="0">
              <a:buNone/>
            </a:pPr>
            <a:endParaRPr lang="en-IN"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UPDATE UPS.[Orders ]</a:t>
            </a:r>
          </a:p>
          <a:p>
            <a:pPr marL="36900" indent="0">
              <a:buNone/>
            </a:pPr>
            <a:r>
              <a:rPr lang="en-IN" sz="1400" dirty="0">
                <a:latin typeface="Courier New" panose="02070309020205020404" pitchFamily="49" charset="0"/>
                <a:cs typeface="Courier New" panose="02070309020205020404" pitchFamily="49" charset="0"/>
              </a:rPr>
              <a:t>SET </a:t>
            </a:r>
            <a:r>
              <a:rPr lang="en-IN" sz="1400" dirty="0" err="1">
                <a:latin typeface="Courier New" panose="02070309020205020404" pitchFamily="49" charset="0"/>
                <a:cs typeface="Courier New" panose="02070309020205020404" pitchFamily="49" charset="0"/>
              </a:rPr>
              <a:t>Is_Date_Valid</a:t>
            </a:r>
            <a:r>
              <a:rPr lang="en-IN" sz="1400" dirty="0">
                <a:latin typeface="Courier New" panose="02070309020205020404" pitchFamily="49" charset="0"/>
                <a:cs typeface="Courier New" panose="02070309020205020404" pitchFamily="49" charset="0"/>
              </a:rPr>
              <a:t> =</a:t>
            </a:r>
          </a:p>
          <a:p>
            <a:pPr marL="36900" indent="0">
              <a:buNone/>
            </a:pPr>
            <a:r>
              <a:rPr lang="en-IN" sz="1400" dirty="0">
                <a:latin typeface="Courier New" panose="02070309020205020404" pitchFamily="49" charset="0"/>
                <a:cs typeface="Courier New" panose="02070309020205020404" pitchFamily="49" charset="0"/>
              </a:rPr>
              <a:t>    CASE </a:t>
            </a:r>
            <a:r>
              <a:rPr lang="en-US" sz="1400" dirty="0">
                <a:latin typeface="Courier New" panose="02070309020205020404" pitchFamily="49" charset="0"/>
                <a:cs typeface="Courier New" panose="02070309020205020404" pitchFamily="49" charset="0"/>
              </a:rPr>
              <a:t>WHEN </a:t>
            </a:r>
            <a:r>
              <a:rPr lang="en-US" sz="1400" dirty="0" err="1">
                <a:latin typeface="Courier New" panose="02070309020205020404" pitchFamily="49" charset="0"/>
                <a:cs typeface="Courier New" panose="02070309020205020404" pitchFamily="49" charset="0"/>
              </a:rPr>
              <a:t>Actual_Delivery_Date</a:t>
            </a:r>
            <a:r>
              <a:rPr lang="en-US" sz="1400" dirty="0">
                <a:latin typeface="Courier New" panose="02070309020205020404" pitchFamily="49" charset="0"/>
                <a:cs typeface="Courier New" panose="02070309020205020404" pitchFamily="49" charset="0"/>
              </a:rPr>
              <a:t> &lt; </a:t>
            </a:r>
            <a:r>
              <a:rPr lang="en-US" sz="1400" dirty="0" err="1">
                <a:latin typeface="Courier New" panose="02070309020205020404" pitchFamily="49" charset="0"/>
                <a:cs typeface="Courier New" panose="02070309020205020404" pitchFamily="49" charset="0"/>
              </a:rPr>
              <a:t>Order_Date</a:t>
            </a:r>
            <a:r>
              <a:rPr lang="en-US" sz="1400" dirty="0">
                <a:latin typeface="Courier New" panose="02070309020205020404" pitchFamily="49" charset="0"/>
                <a:cs typeface="Courier New" panose="02070309020205020404" pitchFamily="49" charset="0"/>
              </a:rPr>
              <a:t> THEN 'Invalid Date'</a:t>
            </a:r>
          </a:p>
          <a:p>
            <a:pPr marL="36900" indent="0">
              <a:buNone/>
            </a:pPr>
            <a:r>
              <a:rPr lang="en-IN" sz="1400" dirty="0">
                <a:latin typeface="Courier New" panose="02070309020205020404" pitchFamily="49" charset="0"/>
                <a:cs typeface="Courier New" panose="02070309020205020404" pitchFamily="49" charset="0"/>
              </a:rPr>
              <a:t>        ELSE 'Valid Date'</a:t>
            </a:r>
          </a:p>
          <a:p>
            <a:pPr marL="36900" indent="0">
              <a:buNone/>
            </a:pPr>
            <a:r>
              <a:rPr lang="en-IN" sz="1400" dirty="0">
                <a:latin typeface="Courier New" panose="02070309020205020404" pitchFamily="49" charset="0"/>
                <a:cs typeface="Courier New" panose="02070309020205020404" pitchFamily="49" charset="0"/>
              </a:rPr>
              <a:t>    END;</a:t>
            </a:r>
          </a:p>
          <a:p>
            <a:pPr marL="36900" indent="0">
              <a:buNone/>
            </a:pPr>
            <a:endParaRPr lang="en-US" sz="1400" dirty="0">
              <a:latin typeface="Courier New" panose="02070309020205020404" pitchFamily="49" charset="0"/>
              <a:cs typeface="Courier New" panose="02070309020205020404" pitchFamily="49" charset="0"/>
            </a:endParaRPr>
          </a:p>
          <a:p>
            <a:pPr marL="36900" indent="0">
              <a:buNone/>
            </a:pPr>
            <a:endParaRPr lang="en-US" sz="1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90385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CC42D-9BA5-8348-588D-296A7EAC7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528A70-E6B5-F201-9909-98D0D0DFF449}"/>
              </a:ext>
            </a:extLst>
          </p:cNvPr>
          <p:cNvSpPr>
            <a:spLocks noGrp="1"/>
          </p:cNvSpPr>
          <p:nvPr>
            <p:ph type="title"/>
          </p:nvPr>
        </p:nvSpPr>
        <p:spPr>
          <a:xfrm>
            <a:off x="456897" y="86767"/>
            <a:ext cx="11278205" cy="721199"/>
          </a:xfrm>
        </p:spPr>
        <p:txBody>
          <a:bodyPr>
            <a:normAutofit fontScale="90000"/>
          </a:bodyPr>
          <a:lstStyle/>
          <a:p>
            <a:r>
              <a:rPr lang="en-US" sz="2800" b="1" dirty="0"/>
              <a:t>Ensure that no </a:t>
            </a:r>
            <a:r>
              <a:rPr lang="en-US" sz="2800" b="1" dirty="0" err="1"/>
              <a:t>Actual_Delivery_Date</a:t>
            </a:r>
            <a:r>
              <a:rPr lang="en-US" sz="2800" b="1" dirty="0"/>
              <a:t> is before </a:t>
            </a:r>
            <a:r>
              <a:rPr lang="en-US" sz="2800" b="1" dirty="0" err="1"/>
              <a:t>Order_Date</a:t>
            </a:r>
            <a:r>
              <a:rPr lang="en-US" sz="2800" b="1" dirty="0"/>
              <a:t> (flag such records).</a:t>
            </a:r>
            <a:endParaRPr lang="en-IN" sz="2400" b="1" dirty="0"/>
          </a:p>
        </p:txBody>
      </p:sp>
      <p:pic>
        <p:nvPicPr>
          <p:cNvPr id="8" name="Content Placeholder 7">
            <a:extLst>
              <a:ext uri="{FF2B5EF4-FFF2-40B4-BE49-F238E27FC236}">
                <a16:creationId xmlns:a16="http://schemas.microsoft.com/office/drawing/2014/main" id="{DE01F432-C8E1-CFF0-CD93-5FD4EAE56DE4}"/>
              </a:ext>
            </a:extLst>
          </p:cNvPr>
          <p:cNvPicPr>
            <a:picLocks noGrp="1" noChangeAspect="1"/>
          </p:cNvPicPr>
          <p:nvPr>
            <p:ph idx="1"/>
          </p:nvPr>
        </p:nvPicPr>
        <p:blipFill>
          <a:blip r:embed="rId2"/>
          <a:stretch>
            <a:fillRect/>
          </a:stretch>
        </p:blipFill>
        <p:spPr>
          <a:xfrm>
            <a:off x="1730702" y="1731870"/>
            <a:ext cx="8730596" cy="3394260"/>
          </a:xfrm>
          <a:prstGeom prst="rect">
            <a:avLst/>
          </a:prstGeom>
        </p:spPr>
      </p:pic>
    </p:spTree>
    <p:extLst>
      <p:ext uri="{BB962C8B-B14F-4D97-AF65-F5344CB8AC3E}">
        <p14:creationId xmlns:p14="http://schemas.microsoft.com/office/powerpoint/2010/main" val="892746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667F1-99ED-B7EA-F4AA-4259BAB50B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888E2D-3F89-F773-AF9C-DE6AC11519AE}"/>
              </a:ext>
            </a:extLst>
          </p:cNvPr>
          <p:cNvSpPr>
            <a:spLocks noGrp="1"/>
          </p:cNvSpPr>
          <p:nvPr>
            <p:ph type="title"/>
          </p:nvPr>
        </p:nvSpPr>
        <p:spPr/>
        <p:txBody>
          <a:bodyPr>
            <a:normAutofit/>
          </a:bodyPr>
          <a:lstStyle/>
          <a:p>
            <a:r>
              <a:rPr lang="en-US" dirty="0"/>
              <a:t>Task 2: Delivery Delay Analysis </a:t>
            </a:r>
            <a:endParaRPr lang="en-IN" sz="4000" dirty="0"/>
          </a:p>
        </p:txBody>
      </p:sp>
      <p:sp>
        <p:nvSpPr>
          <p:cNvPr id="3" name="Content Placeholder 2">
            <a:extLst>
              <a:ext uri="{FF2B5EF4-FFF2-40B4-BE49-F238E27FC236}">
                <a16:creationId xmlns:a16="http://schemas.microsoft.com/office/drawing/2014/main" id="{78C3D7C6-FCED-8D09-FD54-CA27F63084EF}"/>
              </a:ext>
            </a:extLst>
          </p:cNvPr>
          <p:cNvSpPr>
            <a:spLocks noGrp="1"/>
          </p:cNvSpPr>
          <p:nvPr>
            <p:ph idx="1"/>
          </p:nvPr>
        </p:nvSpPr>
        <p:spPr>
          <a:xfrm>
            <a:off x="979100" y="1540489"/>
            <a:ext cx="10233800" cy="4351338"/>
          </a:xfrm>
        </p:spPr>
        <p:txBody>
          <a:bodyPr>
            <a:normAutofit/>
          </a:bodyPr>
          <a:lstStyle/>
          <a:p>
            <a:pPr>
              <a:lnSpc>
                <a:spcPct val="150000"/>
              </a:lnSpc>
            </a:pPr>
            <a:r>
              <a:rPr lang="en-IN" b="1" dirty="0"/>
              <a:t>Objective:</a:t>
            </a:r>
            <a:br>
              <a:rPr lang="en-IN" dirty="0"/>
            </a:br>
            <a:r>
              <a:rPr lang="en-US" sz="1800" dirty="0"/>
              <a:t>Study delivery data to find delays, measure how efficient routes are, and detect delay trends at different warehouses to improve operations. This supports better decisions in logistics performance.</a:t>
            </a:r>
          </a:p>
          <a:p>
            <a:pPr>
              <a:lnSpc>
                <a:spcPct val="150000"/>
              </a:lnSpc>
            </a:pPr>
            <a:r>
              <a:rPr lang="en-US" b="1" dirty="0"/>
              <a:t>Analysis Covered:</a:t>
            </a:r>
          </a:p>
          <a:p>
            <a:pPr lvl="1">
              <a:buFont typeface="Arial" panose="020B0604020202020204" pitchFamily="34" charset="0"/>
              <a:buChar char="•"/>
            </a:pPr>
            <a:r>
              <a:rPr lang="en-US" dirty="0"/>
              <a:t>Calculate delivery delay in days for each order to measure performance gaps.</a:t>
            </a:r>
          </a:p>
          <a:p>
            <a:pPr lvl="1">
              <a:buFont typeface="Arial" panose="020B0604020202020204" pitchFamily="34" charset="0"/>
              <a:buChar char="•"/>
            </a:pPr>
            <a:r>
              <a:rPr lang="en-US" dirty="0"/>
              <a:t>Identify Top 10 delayed routes based on average delay days.</a:t>
            </a:r>
          </a:p>
          <a:p>
            <a:pPr lvl="1">
              <a:buFont typeface="Arial" panose="020B0604020202020204" pitchFamily="34" charset="0"/>
              <a:buChar char="•"/>
            </a:pPr>
            <a:r>
              <a:rPr lang="en-US" dirty="0"/>
              <a:t>Rank orders by delay within each warehouse using window functions to detect internal performance issues.</a:t>
            </a:r>
            <a:endParaRPr lang="en-IN" dirty="0"/>
          </a:p>
        </p:txBody>
      </p:sp>
    </p:spTree>
    <p:extLst>
      <p:ext uri="{BB962C8B-B14F-4D97-AF65-F5344CB8AC3E}">
        <p14:creationId xmlns:p14="http://schemas.microsoft.com/office/powerpoint/2010/main" val="751990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62443-7976-22FC-5235-4401C34647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B31C16-D8C4-9949-D91F-4C431989C4E3}"/>
              </a:ext>
            </a:extLst>
          </p:cNvPr>
          <p:cNvSpPr>
            <a:spLocks noGrp="1"/>
          </p:cNvSpPr>
          <p:nvPr>
            <p:ph type="title"/>
          </p:nvPr>
        </p:nvSpPr>
        <p:spPr>
          <a:xfrm>
            <a:off x="402715" y="106431"/>
            <a:ext cx="11375922" cy="721199"/>
          </a:xfrm>
        </p:spPr>
        <p:txBody>
          <a:bodyPr>
            <a:normAutofit/>
          </a:bodyPr>
          <a:lstStyle/>
          <a:p>
            <a:r>
              <a:rPr lang="en-US" sz="2800" b="1" dirty="0"/>
              <a:t>Calculate delivery delay (in days) for each order </a:t>
            </a:r>
            <a:endParaRPr lang="en-IN" sz="2400" b="1" dirty="0"/>
          </a:p>
        </p:txBody>
      </p:sp>
      <p:sp>
        <p:nvSpPr>
          <p:cNvPr id="3" name="Content Placeholder 2">
            <a:extLst>
              <a:ext uri="{FF2B5EF4-FFF2-40B4-BE49-F238E27FC236}">
                <a16:creationId xmlns:a16="http://schemas.microsoft.com/office/drawing/2014/main" id="{6CCCC4B9-0A9D-C0F4-9A34-D5B38E369956}"/>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latin typeface="Courier New" panose="02070309020205020404" pitchFamily="49" charset="0"/>
                <a:cs typeface="Courier New" panose="02070309020205020404" pitchFamily="49" charset="0"/>
              </a:rPr>
              <a:t>SELECT </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Order_ID</a:t>
            </a:r>
            <a:r>
              <a:rPr lang="en-IN"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Order_Date</a:t>
            </a:r>
            <a:r>
              <a:rPr lang="en-IN"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Expected_Delivery_Date</a:t>
            </a:r>
            <a:r>
              <a:rPr lang="en-IN"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Actual_Delivery_Date</a:t>
            </a:r>
            <a:r>
              <a:rPr lang="en-IN"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Delivery_Status</a:t>
            </a:r>
            <a:r>
              <a:rPr lang="en-IN" sz="1400" dirty="0">
                <a:latin typeface="Courier New" panose="02070309020205020404" pitchFamily="49" charset="0"/>
                <a:cs typeface="Courier New" panose="02070309020205020404" pitchFamily="49" charset="0"/>
              </a:rPr>
              <a:t>,</a:t>
            </a:r>
          </a:p>
          <a:p>
            <a:pPr marL="36900" indent="0">
              <a:buNone/>
            </a:pPr>
            <a:r>
              <a:rPr lang="en-US" sz="1400" dirty="0">
                <a:latin typeface="Courier New" panose="02070309020205020404" pitchFamily="49" charset="0"/>
                <a:cs typeface="Courier New" panose="02070309020205020404" pitchFamily="49" charset="0"/>
              </a:rPr>
              <a:t>	DATEDIFF(DAY, </a:t>
            </a:r>
            <a:r>
              <a:rPr lang="en-US" sz="1400" dirty="0" err="1">
                <a:latin typeface="Courier New" panose="02070309020205020404" pitchFamily="49" charset="0"/>
                <a:cs typeface="Courier New" panose="02070309020205020404" pitchFamily="49" charset="0"/>
              </a:rPr>
              <a:t>Expected_Delivery_Date</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Actual_Delivery_Date</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Delay_In_Days</a:t>
            </a:r>
            <a:endParaRPr lang="en-US"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FROM  UPS.[Orders ];</a:t>
            </a:r>
            <a:endParaRPr lang="en-US" sz="1400" dirty="0">
              <a:latin typeface="Courier New" panose="02070309020205020404" pitchFamily="49" charset="0"/>
              <a:cs typeface="Courier New" panose="02070309020205020404" pitchFamily="49" charset="0"/>
            </a:endParaRPr>
          </a:p>
          <a:p>
            <a:pPr marL="36900" indent="0">
              <a:buNone/>
            </a:pPr>
            <a:endParaRPr lang="en-US" sz="1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13912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DA079-0CD7-02C9-B0B7-A03F632A6D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AA751-9672-3D2A-AA3B-60EB63A8822E}"/>
              </a:ext>
            </a:extLst>
          </p:cNvPr>
          <p:cNvSpPr>
            <a:spLocks noGrp="1"/>
          </p:cNvSpPr>
          <p:nvPr>
            <p:ph type="title"/>
          </p:nvPr>
        </p:nvSpPr>
        <p:spPr>
          <a:xfrm>
            <a:off x="913795" y="106431"/>
            <a:ext cx="10353762" cy="721199"/>
          </a:xfrm>
        </p:spPr>
        <p:txBody>
          <a:bodyPr>
            <a:normAutofit/>
          </a:bodyPr>
          <a:lstStyle/>
          <a:p>
            <a:r>
              <a:rPr lang="en-US" sz="2800" b="1" dirty="0"/>
              <a:t>Calculate delivery delay (in days) for each order </a:t>
            </a:r>
            <a:endParaRPr lang="en-IN" sz="2400" b="1" dirty="0"/>
          </a:p>
        </p:txBody>
      </p:sp>
      <p:pic>
        <p:nvPicPr>
          <p:cNvPr id="6" name="Content Placeholder 5">
            <a:extLst>
              <a:ext uri="{FF2B5EF4-FFF2-40B4-BE49-F238E27FC236}">
                <a16:creationId xmlns:a16="http://schemas.microsoft.com/office/drawing/2014/main" id="{87A0BABA-F78A-C996-F6E4-54F32E9E81FE}"/>
              </a:ext>
            </a:extLst>
          </p:cNvPr>
          <p:cNvPicPr>
            <a:picLocks noGrp="1" noChangeAspect="1"/>
          </p:cNvPicPr>
          <p:nvPr>
            <p:ph idx="1"/>
          </p:nvPr>
        </p:nvPicPr>
        <p:blipFill>
          <a:blip r:embed="rId2"/>
          <a:stretch>
            <a:fillRect/>
          </a:stretch>
        </p:blipFill>
        <p:spPr>
          <a:xfrm>
            <a:off x="1978463" y="1261875"/>
            <a:ext cx="8235073" cy="4334249"/>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38091070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7C575-4467-5E20-95EB-1A6EC70CB6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ACD48A-8B0E-70DB-D07E-1219905AA940}"/>
              </a:ext>
            </a:extLst>
          </p:cNvPr>
          <p:cNvSpPr>
            <a:spLocks noGrp="1"/>
          </p:cNvSpPr>
          <p:nvPr>
            <p:ph type="title"/>
          </p:nvPr>
        </p:nvSpPr>
        <p:spPr>
          <a:xfrm>
            <a:off x="402715" y="106431"/>
            <a:ext cx="11375922" cy="721199"/>
          </a:xfrm>
        </p:spPr>
        <p:txBody>
          <a:bodyPr>
            <a:normAutofit/>
          </a:bodyPr>
          <a:lstStyle/>
          <a:p>
            <a:r>
              <a:rPr lang="en-US" sz="2800" b="1" dirty="0"/>
              <a:t>Find Top 10 delayed Routes based on Average Delay Days.</a:t>
            </a:r>
            <a:endParaRPr lang="en-IN" sz="2400" b="1" dirty="0"/>
          </a:p>
        </p:txBody>
      </p:sp>
      <p:sp>
        <p:nvSpPr>
          <p:cNvPr id="3" name="Content Placeholder 2">
            <a:extLst>
              <a:ext uri="{FF2B5EF4-FFF2-40B4-BE49-F238E27FC236}">
                <a16:creationId xmlns:a16="http://schemas.microsoft.com/office/drawing/2014/main" id="{17E07231-6AD7-983B-E985-59C419992270}"/>
              </a:ext>
            </a:extLst>
          </p:cNvPr>
          <p:cNvSpPr>
            <a:spLocks noGrp="1"/>
          </p:cNvSpPr>
          <p:nvPr>
            <p:ph idx="1"/>
          </p:nvPr>
        </p:nvSpPr>
        <p:spPr>
          <a:xfrm>
            <a:off x="913795" y="935051"/>
            <a:ext cx="10353762" cy="5455917"/>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latin typeface="Courier New" panose="02070309020205020404" pitchFamily="49" charset="0"/>
                <a:cs typeface="Courier New" panose="02070309020205020404" pitchFamily="49" charset="0"/>
              </a:rPr>
              <a:t>SELECT TOP 10 </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r.Route_ID</a:t>
            </a: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r.Start_Location</a:t>
            </a:r>
            <a:r>
              <a:rPr lang="en-IN"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r.End_Location</a:t>
            </a: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r.Distance_KM</a:t>
            </a:r>
            <a:r>
              <a:rPr lang="en-IN"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r.Average_Travel_Time_Min</a:t>
            </a: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r.Traffic_Delay_Min</a:t>
            </a:r>
            <a:r>
              <a:rPr lang="en-IN" sz="1400" dirty="0">
                <a:latin typeface="Courier New" panose="02070309020205020404" pitchFamily="49" charset="0"/>
                <a:cs typeface="Courier New" panose="02070309020205020404" pitchFamily="49" charset="0"/>
              </a:rPr>
              <a:t>,</a:t>
            </a:r>
          </a:p>
          <a:p>
            <a:pPr marL="36900" indent="0">
              <a:buNone/>
            </a:pPr>
            <a:r>
              <a:rPr lang="en-US" sz="1400" dirty="0">
                <a:latin typeface="Courier New" panose="02070309020205020404" pitchFamily="49" charset="0"/>
                <a:cs typeface="Courier New" panose="02070309020205020404" pitchFamily="49" charset="0"/>
              </a:rPr>
              <a:t>	ROUND(</a:t>
            </a:r>
          </a:p>
          <a:p>
            <a:pPr marL="36900" indent="0">
              <a:buNone/>
            </a:pPr>
            <a:r>
              <a:rPr lang="en-US" sz="1400" dirty="0">
                <a:latin typeface="Courier New" panose="02070309020205020404" pitchFamily="49" charset="0"/>
                <a:cs typeface="Courier New" panose="02070309020205020404" pitchFamily="49" charset="0"/>
              </a:rPr>
              <a:t>		AVG(CAST(DATEDIFF(DAY, </a:t>
            </a:r>
            <a:r>
              <a:rPr lang="en-US" sz="1400" dirty="0" err="1">
                <a:latin typeface="Courier New" panose="02070309020205020404" pitchFamily="49" charset="0"/>
                <a:cs typeface="Courier New" panose="02070309020205020404" pitchFamily="49" charset="0"/>
              </a:rPr>
              <a:t>o.Expected_Delivery_Date</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o.Actual_Delivery_Date</a:t>
            </a:r>
            <a:r>
              <a:rPr lang="en-US" sz="1400" dirty="0">
                <a:latin typeface="Courier New" panose="02070309020205020404" pitchFamily="49" charset="0"/>
                <a:cs typeface="Courier New" panose="02070309020205020404" pitchFamily="49" charset="0"/>
              </a:rPr>
              <a:t>) AS FLOAT) 	),2) </a:t>
            </a:r>
            <a:r>
              <a:rPr lang="en-US" sz="1400" dirty="0" err="1">
                <a:latin typeface="Courier New" panose="02070309020205020404" pitchFamily="49" charset="0"/>
                <a:cs typeface="Courier New" panose="02070309020205020404" pitchFamily="49" charset="0"/>
              </a:rPr>
              <a:t>Avg_Delay_In_Days</a:t>
            </a:r>
            <a:endParaRPr lang="en-US"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FROM UPS.[Orders ] o</a:t>
            </a:r>
          </a:p>
          <a:p>
            <a:pPr marL="36900" indent="0">
              <a:buNone/>
            </a:pPr>
            <a:r>
              <a:rPr lang="en-IN" sz="1400" dirty="0">
                <a:latin typeface="Courier New" panose="02070309020205020404" pitchFamily="49" charset="0"/>
                <a:cs typeface="Courier New" panose="02070309020205020404" pitchFamily="49" charset="0"/>
              </a:rPr>
              <a:t>JOIN UPS.[Routes ] r ON </a:t>
            </a:r>
            <a:r>
              <a:rPr lang="en-IN" sz="1400" dirty="0" err="1">
                <a:latin typeface="Courier New" panose="02070309020205020404" pitchFamily="49" charset="0"/>
                <a:cs typeface="Courier New" panose="02070309020205020404" pitchFamily="49" charset="0"/>
              </a:rPr>
              <a:t>o.Route_ID</a:t>
            </a:r>
            <a:r>
              <a:rPr lang="en-IN" sz="1400" dirty="0">
                <a:latin typeface="Courier New" panose="02070309020205020404" pitchFamily="49" charset="0"/>
                <a:cs typeface="Courier New" panose="02070309020205020404" pitchFamily="49" charset="0"/>
              </a:rPr>
              <a:t> = </a:t>
            </a:r>
            <a:r>
              <a:rPr lang="en-IN" sz="1400" dirty="0" err="1">
                <a:latin typeface="Courier New" panose="02070309020205020404" pitchFamily="49" charset="0"/>
                <a:cs typeface="Courier New" panose="02070309020205020404" pitchFamily="49" charset="0"/>
              </a:rPr>
              <a:t>r.Route_ID</a:t>
            </a:r>
            <a:endParaRPr lang="en-IN" sz="1400" dirty="0">
              <a:latin typeface="Courier New" panose="02070309020205020404" pitchFamily="49" charset="0"/>
              <a:cs typeface="Courier New" panose="02070309020205020404" pitchFamily="49" charset="0"/>
            </a:endParaRPr>
          </a:p>
          <a:p>
            <a:pPr marL="36900" indent="0">
              <a:buNone/>
            </a:pPr>
            <a:r>
              <a:rPr lang="en-US" sz="1400" dirty="0">
                <a:latin typeface="Courier New" panose="02070309020205020404" pitchFamily="49" charset="0"/>
                <a:cs typeface="Courier New" panose="02070309020205020404" pitchFamily="49" charset="0"/>
              </a:rPr>
              <a:t>GROUP BY </a:t>
            </a:r>
          </a:p>
          <a:p>
            <a:pPr marL="36900" inden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r.Route_ID</a:t>
            </a:r>
            <a:r>
              <a:rPr lang="en-US"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r.Start_Location</a:t>
            </a:r>
            <a:r>
              <a:rPr lang="en-IN"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r.End_Location</a:t>
            </a: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r.Distance_KM</a:t>
            </a:r>
            <a:r>
              <a:rPr lang="en-IN"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r.Average_Travel_Time_Min</a:t>
            </a: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r.Traffic_Delay_Min</a:t>
            </a:r>
            <a:endParaRPr lang="en-IN" sz="1400" dirty="0">
              <a:latin typeface="Courier New" panose="02070309020205020404" pitchFamily="49" charset="0"/>
              <a:cs typeface="Courier New" panose="02070309020205020404" pitchFamily="49" charset="0"/>
            </a:endParaRPr>
          </a:p>
          <a:p>
            <a:pPr marL="36900" indent="0">
              <a:buNone/>
            </a:pPr>
            <a:r>
              <a:rPr lang="en-US" sz="1400" dirty="0">
                <a:latin typeface="Courier New" panose="02070309020205020404" pitchFamily="49" charset="0"/>
                <a:cs typeface="Courier New" panose="02070309020205020404" pitchFamily="49" charset="0"/>
              </a:rPr>
              <a:t>ORDER BY </a:t>
            </a:r>
            <a:r>
              <a:rPr lang="en-US" sz="1400" dirty="0" err="1">
                <a:latin typeface="Courier New" panose="02070309020205020404" pitchFamily="49" charset="0"/>
                <a:cs typeface="Courier New" panose="02070309020205020404" pitchFamily="49" charset="0"/>
              </a:rPr>
              <a:t>Avg_Delay_In_Days</a:t>
            </a:r>
            <a:r>
              <a:rPr lang="en-US" sz="1400" dirty="0">
                <a:latin typeface="Courier New" panose="02070309020205020404" pitchFamily="49" charset="0"/>
                <a:cs typeface="Courier New" panose="02070309020205020404" pitchFamily="49" charset="0"/>
              </a:rPr>
              <a:t> DESC, </a:t>
            </a:r>
            <a:r>
              <a:rPr lang="en-US" sz="1400" dirty="0" err="1">
                <a:latin typeface="Courier New" panose="02070309020205020404" pitchFamily="49" charset="0"/>
                <a:cs typeface="Courier New" panose="02070309020205020404" pitchFamily="49" charset="0"/>
              </a:rPr>
              <a:t>r.Route_ID</a:t>
            </a:r>
            <a:r>
              <a:rPr lang="en-US" sz="1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535506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0AB6A-014A-2463-9894-28E749D9AF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938C4-9E11-267A-2772-11F89DA24245}"/>
              </a:ext>
            </a:extLst>
          </p:cNvPr>
          <p:cNvSpPr>
            <a:spLocks noGrp="1"/>
          </p:cNvSpPr>
          <p:nvPr>
            <p:ph type="title"/>
          </p:nvPr>
        </p:nvSpPr>
        <p:spPr>
          <a:xfrm>
            <a:off x="913795" y="106431"/>
            <a:ext cx="10353762" cy="721199"/>
          </a:xfrm>
        </p:spPr>
        <p:txBody>
          <a:bodyPr>
            <a:normAutofit/>
          </a:bodyPr>
          <a:lstStyle/>
          <a:p>
            <a:r>
              <a:rPr lang="en-US" sz="2800" b="1" dirty="0"/>
              <a:t>Top 10 delayed routes based on average delay days.</a:t>
            </a:r>
            <a:endParaRPr lang="en-IN" sz="2400" b="1" dirty="0"/>
          </a:p>
        </p:txBody>
      </p:sp>
      <p:pic>
        <p:nvPicPr>
          <p:cNvPr id="11" name="Content Placeholder 10">
            <a:extLst>
              <a:ext uri="{FF2B5EF4-FFF2-40B4-BE49-F238E27FC236}">
                <a16:creationId xmlns:a16="http://schemas.microsoft.com/office/drawing/2014/main" id="{4494AA6C-67F7-D026-5034-B4FC12D2F528}"/>
              </a:ext>
            </a:extLst>
          </p:cNvPr>
          <p:cNvPicPr>
            <a:picLocks noGrp="1" noChangeAspect="1"/>
          </p:cNvPicPr>
          <p:nvPr>
            <p:ph idx="1"/>
          </p:nvPr>
        </p:nvPicPr>
        <p:blipFill>
          <a:blip r:embed="rId2"/>
          <a:stretch>
            <a:fillRect/>
          </a:stretch>
        </p:blipFill>
        <p:spPr>
          <a:xfrm>
            <a:off x="1134427" y="1897934"/>
            <a:ext cx="9923145" cy="3062131"/>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330545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1523F-4F54-8076-AEA5-FF88DA1AF1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052CA1-7F86-8642-5E26-CA865BB6BC6F}"/>
              </a:ext>
            </a:extLst>
          </p:cNvPr>
          <p:cNvSpPr>
            <a:spLocks noGrp="1"/>
          </p:cNvSpPr>
          <p:nvPr>
            <p:ph type="title"/>
          </p:nvPr>
        </p:nvSpPr>
        <p:spPr>
          <a:xfrm>
            <a:off x="913795" y="106431"/>
            <a:ext cx="10353762" cy="721199"/>
          </a:xfrm>
        </p:spPr>
        <p:txBody>
          <a:bodyPr>
            <a:normAutofit/>
          </a:bodyPr>
          <a:lstStyle/>
          <a:p>
            <a:r>
              <a:rPr lang="en-US" sz="2800" b="1" dirty="0"/>
              <a:t>Top 10 delayed routes based on average delay days.</a:t>
            </a:r>
            <a:endParaRPr lang="en-IN" sz="2400" b="1" dirty="0"/>
          </a:p>
        </p:txBody>
      </p:sp>
      <p:pic>
        <p:nvPicPr>
          <p:cNvPr id="17" name="Content Placeholder 16">
            <a:extLst>
              <a:ext uri="{FF2B5EF4-FFF2-40B4-BE49-F238E27FC236}">
                <a16:creationId xmlns:a16="http://schemas.microsoft.com/office/drawing/2014/main" id="{0B72813E-70DB-1E48-E2C6-FDE8F3A80606}"/>
              </a:ext>
            </a:extLst>
          </p:cNvPr>
          <p:cNvPicPr>
            <a:picLocks noGrp="1" noChangeAspect="1"/>
          </p:cNvPicPr>
          <p:nvPr>
            <p:ph idx="1"/>
          </p:nvPr>
        </p:nvPicPr>
        <p:blipFill>
          <a:blip r:embed="rId2"/>
          <a:stretch>
            <a:fillRect/>
          </a:stretch>
        </p:blipFill>
        <p:spPr>
          <a:xfrm>
            <a:off x="1003078" y="827630"/>
            <a:ext cx="10175196" cy="5750151"/>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346360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DEE39-53BA-4CF6-63CC-0FFD40F2C6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6B75-3128-F4A5-23E9-E31E4093C5D1}"/>
              </a:ext>
            </a:extLst>
          </p:cNvPr>
          <p:cNvSpPr>
            <a:spLocks noGrp="1"/>
          </p:cNvSpPr>
          <p:nvPr>
            <p:ph type="title"/>
          </p:nvPr>
        </p:nvSpPr>
        <p:spPr>
          <a:xfrm>
            <a:off x="402715" y="106431"/>
            <a:ext cx="11375922" cy="721199"/>
          </a:xfrm>
        </p:spPr>
        <p:txBody>
          <a:bodyPr>
            <a:normAutofit fontScale="90000"/>
          </a:bodyPr>
          <a:lstStyle/>
          <a:p>
            <a:r>
              <a:rPr lang="en-US" sz="2800" b="1" dirty="0"/>
              <a:t>Use window functions to rank all orders by delay within each warehouse. </a:t>
            </a:r>
            <a:endParaRPr lang="en-IN" sz="2400" b="1" dirty="0"/>
          </a:p>
        </p:txBody>
      </p:sp>
      <p:sp>
        <p:nvSpPr>
          <p:cNvPr id="3" name="Content Placeholder 2">
            <a:extLst>
              <a:ext uri="{FF2B5EF4-FFF2-40B4-BE49-F238E27FC236}">
                <a16:creationId xmlns:a16="http://schemas.microsoft.com/office/drawing/2014/main" id="{B3A47CC9-BB67-5E25-4617-2902EABD12D9}"/>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solidFill>
                  <a:schemeClr val="tx1">
                    <a:lumMod val="95000"/>
                  </a:schemeClr>
                </a:solidFill>
                <a:latin typeface="Courier New" panose="02070309020205020404" pitchFamily="49" charset="0"/>
                <a:cs typeface="Courier New" panose="02070309020205020404" pitchFamily="49" charset="0"/>
              </a:rPr>
              <a:t>SELECT </a:t>
            </a:r>
          </a:p>
          <a:p>
            <a:pPr marL="36900" indent="0">
              <a:buNone/>
            </a:pPr>
            <a:r>
              <a:rPr lang="en-IN" sz="1400" dirty="0">
                <a:solidFill>
                  <a:schemeClr val="tx1">
                    <a:lumMod val="95000"/>
                  </a:schemeClr>
                </a:solidFill>
                <a:latin typeface="Courier New" panose="02070309020205020404" pitchFamily="49" charset="0"/>
                <a:cs typeface="Courier New" panose="02070309020205020404" pitchFamily="49" charset="0"/>
              </a:rPr>
              <a:t>	</a:t>
            </a:r>
            <a:r>
              <a:rPr lang="en-IN" sz="1400" dirty="0" err="1">
                <a:solidFill>
                  <a:schemeClr val="tx1">
                    <a:lumMod val="95000"/>
                  </a:schemeClr>
                </a:solidFill>
                <a:latin typeface="Courier New" panose="02070309020205020404" pitchFamily="49" charset="0"/>
                <a:cs typeface="Courier New" panose="02070309020205020404" pitchFamily="49" charset="0"/>
              </a:rPr>
              <a:t>Warehouse_ID</a:t>
            </a:r>
            <a:r>
              <a:rPr lang="en-IN" sz="1400" dirty="0">
                <a:solidFill>
                  <a:schemeClr val="tx1">
                    <a:lumMod val="95000"/>
                  </a:schemeClr>
                </a:solidFill>
                <a:latin typeface="Courier New" panose="02070309020205020404" pitchFamily="49" charset="0"/>
                <a:cs typeface="Courier New" panose="02070309020205020404" pitchFamily="49" charset="0"/>
              </a:rPr>
              <a:t>, </a:t>
            </a:r>
            <a:r>
              <a:rPr lang="en-IN" sz="1400" dirty="0" err="1">
                <a:solidFill>
                  <a:schemeClr val="tx1">
                    <a:lumMod val="95000"/>
                  </a:schemeClr>
                </a:solidFill>
                <a:latin typeface="Courier New" panose="02070309020205020404" pitchFamily="49" charset="0"/>
                <a:cs typeface="Courier New" panose="02070309020205020404" pitchFamily="49" charset="0"/>
              </a:rPr>
              <a:t>Order_ID</a:t>
            </a:r>
            <a:r>
              <a:rPr lang="en-IN" sz="1400" dirty="0">
                <a:solidFill>
                  <a:schemeClr val="tx1">
                    <a:lumMod val="95000"/>
                  </a:schemeClr>
                </a:solidFill>
                <a:latin typeface="Courier New" panose="02070309020205020404" pitchFamily="49" charset="0"/>
                <a:cs typeface="Courier New" panose="02070309020205020404" pitchFamily="49" charset="0"/>
              </a:rPr>
              <a:t>,</a:t>
            </a:r>
          </a:p>
          <a:p>
            <a:pPr marL="36900" indent="0">
              <a:buNone/>
            </a:pPr>
            <a:r>
              <a:rPr lang="en-IN" sz="1400" dirty="0">
                <a:solidFill>
                  <a:schemeClr val="tx1">
                    <a:lumMod val="95000"/>
                  </a:schemeClr>
                </a:solidFill>
                <a:latin typeface="Courier New" panose="02070309020205020404" pitchFamily="49" charset="0"/>
                <a:cs typeface="Courier New" panose="02070309020205020404" pitchFamily="49" charset="0"/>
              </a:rPr>
              <a:t>	</a:t>
            </a:r>
            <a:r>
              <a:rPr lang="en-IN" sz="1400" dirty="0" err="1">
                <a:solidFill>
                  <a:schemeClr val="tx1">
                    <a:lumMod val="95000"/>
                  </a:schemeClr>
                </a:solidFill>
                <a:latin typeface="Courier New" panose="02070309020205020404" pitchFamily="49" charset="0"/>
                <a:cs typeface="Courier New" panose="02070309020205020404" pitchFamily="49" charset="0"/>
              </a:rPr>
              <a:t>Order_Date</a:t>
            </a:r>
            <a:r>
              <a:rPr lang="en-IN" sz="1400" dirty="0">
                <a:solidFill>
                  <a:schemeClr val="tx1">
                    <a:lumMod val="95000"/>
                  </a:schemeClr>
                </a:solidFill>
                <a:latin typeface="Courier New" panose="02070309020205020404" pitchFamily="49" charset="0"/>
                <a:cs typeface="Courier New" panose="02070309020205020404" pitchFamily="49" charset="0"/>
              </a:rPr>
              <a:t>, </a:t>
            </a:r>
            <a:r>
              <a:rPr lang="en-IN" sz="1400" dirty="0" err="1">
                <a:solidFill>
                  <a:schemeClr val="tx1">
                    <a:lumMod val="95000"/>
                  </a:schemeClr>
                </a:solidFill>
                <a:latin typeface="Courier New" panose="02070309020205020404" pitchFamily="49" charset="0"/>
                <a:cs typeface="Courier New" panose="02070309020205020404" pitchFamily="49" charset="0"/>
              </a:rPr>
              <a:t>Expected_Delivery_Date</a:t>
            </a:r>
            <a:r>
              <a:rPr lang="en-IN" sz="1400" dirty="0">
                <a:solidFill>
                  <a:schemeClr val="tx1">
                    <a:lumMod val="95000"/>
                  </a:schemeClr>
                </a:solidFill>
                <a:latin typeface="Courier New" panose="02070309020205020404" pitchFamily="49" charset="0"/>
                <a:cs typeface="Courier New" panose="02070309020205020404" pitchFamily="49" charset="0"/>
              </a:rPr>
              <a:t>,</a:t>
            </a:r>
          </a:p>
          <a:p>
            <a:pPr marL="36900" indent="0">
              <a:buNone/>
            </a:pPr>
            <a:r>
              <a:rPr lang="en-IN" sz="1400" dirty="0">
                <a:solidFill>
                  <a:schemeClr val="tx1">
                    <a:lumMod val="95000"/>
                  </a:schemeClr>
                </a:solidFill>
                <a:latin typeface="Courier New" panose="02070309020205020404" pitchFamily="49" charset="0"/>
                <a:cs typeface="Courier New" panose="02070309020205020404" pitchFamily="49" charset="0"/>
              </a:rPr>
              <a:t>	</a:t>
            </a:r>
            <a:r>
              <a:rPr lang="en-IN" sz="1400" dirty="0" err="1">
                <a:solidFill>
                  <a:schemeClr val="tx1">
                    <a:lumMod val="95000"/>
                  </a:schemeClr>
                </a:solidFill>
                <a:latin typeface="Courier New" panose="02070309020205020404" pitchFamily="49" charset="0"/>
                <a:cs typeface="Courier New" panose="02070309020205020404" pitchFamily="49" charset="0"/>
              </a:rPr>
              <a:t>Actual_Delivery_Date</a:t>
            </a:r>
            <a:r>
              <a:rPr lang="en-IN" sz="1400" dirty="0">
                <a:solidFill>
                  <a:schemeClr val="tx1">
                    <a:lumMod val="95000"/>
                  </a:schemeClr>
                </a:solidFill>
                <a:latin typeface="Courier New" panose="02070309020205020404" pitchFamily="49" charset="0"/>
                <a:cs typeface="Courier New" panose="02070309020205020404" pitchFamily="49" charset="0"/>
              </a:rPr>
              <a:t>, </a:t>
            </a:r>
            <a:r>
              <a:rPr lang="en-IN" sz="1400" dirty="0" err="1">
                <a:solidFill>
                  <a:schemeClr val="tx1">
                    <a:lumMod val="95000"/>
                  </a:schemeClr>
                </a:solidFill>
                <a:latin typeface="Courier New" panose="02070309020205020404" pitchFamily="49" charset="0"/>
                <a:cs typeface="Courier New" panose="02070309020205020404" pitchFamily="49" charset="0"/>
              </a:rPr>
              <a:t>Delivery_Status</a:t>
            </a:r>
            <a:r>
              <a:rPr lang="en-IN" sz="1400" dirty="0">
                <a:solidFill>
                  <a:schemeClr val="tx1">
                    <a:lumMod val="95000"/>
                  </a:schemeClr>
                </a:solidFill>
                <a:latin typeface="Courier New" panose="02070309020205020404" pitchFamily="49" charset="0"/>
                <a:cs typeface="Courier New" panose="02070309020205020404" pitchFamily="49" charset="0"/>
              </a:rPr>
              <a:t>,</a:t>
            </a:r>
          </a:p>
          <a:p>
            <a:pPr marL="36900" indent="0">
              <a:buNone/>
            </a:pPr>
            <a:r>
              <a:rPr lang="en-US" sz="1400" dirty="0">
                <a:solidFill>
                  <a:schemeClr val="tx1">
                    <a:lumMod val="95000"/>
                  </a:schemeClr>
                </a:solidFill>
                <a:latin typeface="Courier New" panose="02070309020205020404" pitchFamily="49" charset="0"/>
                <a:cs typeface="Courier New" panose="02070309020205020404" pitchFamily="49" charset="0"/>
              </a:rPr>
              <a:t>	DATEDIFF(DAY, </a:t>
            </a:r>
            <a:r>
              <a:rPr lang="en-US" sz="1400" dirty="0" err="1">
                <a:solidFill>
                  <a:schemeClr val="tx1">
                    <a:lumMod val="95000"/>
                  </a:schemeClr>
                </a:solidFill>
                <a:latin typeface="Courier New" panose="02070309020205020404" pitchFamily="49" charset="0"/>
                <a:cs typeface="Courier New" panose="02070309020205020404" pitchFamily="49" charset="0"/>
              </a:rPr>
              <a:t>Expected_Delivery_Date</a:t>
            </a:r>
            <a:r>
              <a:rPr lang="en-US" sz="1400" dirty="0">
                <a:solidFill>
                  <a:schemeClr val="tx1">
                    <a:lumMod val="95000"/>
                  </a:schemeClr>
                </a:solidFill>
                <a:latin typeface="Courier New" panose="02070309020205020404" pitchFamily="49" charset="0"/>
                <a:cs typeface="Courier New" panose="02070309020205020404" pitchFamily="49" charset="0"/>
              </a:rPr>
              <a:t>, </a:t>
            </a:r>
            <a:r>
              <a:rPr lang="en-US" sz="1400" dirty="0" err="1">
                <a:solidFill>
                  <a:schemeClr val="tx1">
                    <a:lumMod val="95000"/>
                  </a:schemeClr>
                </a:solidFill>
                <a:latin typeface="Courier New" panose="02070309020205020404" pitchFamily="49" charset="0"/>
                <a:cs typeface="Courier New" panose="02070309020205020404" pitchFamily="49" charset="0"/>
              </a:rPr>
              <a:t>Actual_Delivery_Date</a:t>
            </a:r>
            <a:r>
              <a:rPr lang="en-US" sz="1400" dirty="0">
                <a:solidFill>
                  <a:schemeClr val="tx1">
                    <a:lumMod val="95000"/>
                  </a:schemeClr>
                </a:solidFill>
                <a:latin typeface="Courier New" panose="02070309020205020404" pitchFamily="49" charset="0"/>
                <a:cs typeface="Courier New" panose="02070309020205020404" pitchFamily="49" charset="0"/>
              </a:rPr>
              <a:t>) </a:t>
            </a:r>
            <a:r>
              <a:rPr lang="en-US" sz="1400" dirty="0" err="1">
                <a:solidFill>
                  <a:schemeClr val="tx1">
                    <a:lumMod val="95000"/>
                  </a:schemeClr>
                </a:solidFill>
                <a:latin typeface="Courier New" panose="02070309020205020404" pitchFamily="49" charset="0"/>
                <a:cs typeface="Courier New" panose="02070309020205020404" pitchFamily="49" charset="0"/>
              </a:rPr>
              <a:t>Delay_In_Days</a:t>
            </a:r>
            <a:r>
              <a:rPr lang="en-US" sz="1400" dirty="0">
                <a:solidFill>
                  <a:schemeClr val="tx1">
                    <a:lumMod val="95000"/>
                  </a:schemeClr>
                </a:solidFill>
                <a:latin typeface="Courier New" panose="02070309020205020404" pitchFamily="49" charset="0"/>
                <a:cs typeface="Courier New" panose="02070309020205020404" pitchFamily="49" charset="0"/>
              </a:rPr>
              <a:t>,</a:t>
            </a:r>
          </a:p>
          <a:p>
            <a:pPr marL="36900" indent="0">
              <a:buNone/>
            </a:pPr>
            <a:r>
              <a:rPr lang="en-IN" sz="1400" dirty="0">
                <a:solidFill>
                  <a:schemeClr val="tx1">
                    <a:lumMod val="95000"/>
                  </a:schemeClr>
                </a:solidFill>
                <a:latin typeface="Courier New" panose="02070309020205020404" pitchFamily="49" charset="0"/>
                <a:cs typeface="Courier New" panose="02070309020205020404" pitchFamily="49" charset="0"/>
              </a:rPr>
              <a:t>	DENSE_RANK() OVER (</a:t>
            </a:r>
          </a:p>
          <a:p>
            <a:pPr marL="36900" indent="0">
              <a:buNone/>
            </a:pPr>
            <a:r>
              <a:rPr lang="en-IN" sz="1400" dirty="0">
                <a:solidFill>
                  <a:schemeClr val="tx1">
                    <a:lumMod val="95000"/>
                  </a:schemeClr>
                </a:solidFill>
                <a:latin typeface="Courier New" panose="02070309020205020404" pitchFamily="49" charset="0"/>
                <a:cs typeface="Courier New" panose="02070309020205020404" pitchFamily="49" charset="0"/>
              </a:rPr>
              <a:t>        PARTITION BY </a:t>
            </a:r>
            <a:r>
              <a:rPr lang="en-IN" sz="1400" dirty="0" err="1">
                <a:solidFill>
                  <a:schemeClr val="tx1">
                    <a:lumMod val="95000"/>
                  </a:schemeClr>
                </a:solidFill>
                <a:latin typeface="Courier New" panose="02070309020205020404" pitchFamily="49" charset="0"/>
                <a:cs typeface="Courier New" panose="02070309020205020404" pitchFamily="49" charset="0"/>
              </a:rPr>
              <a:t>Warehouse_ID</a:t>
            </a:r>
            <a:endParaRPr lang="en-IN" sz="1400" dirty="0">
              <a:solidFill>
                <a:schemeClr val="tx1">
                  <a:lumMod val="95000"/>
                </a:schemeClr>
              </a:solidFill>
              <a:latin typeface="Courier New" panose="02070309020205020404" pitchFamily="49" charset="0"/>
              <a:cs typeface="Courier New" panose="02070309020205020404" pitchFamily="49" charset="0"/>
            </a:endParaRPr>
          </a:p>
          <a:p>
            <a:pPr marL="36900" indent="0">
              <a:buNone/>
            </a:pPr>
            <a:r>
              <a:rPr lang="en-US" sz="1400" dirty="0">
                <a:solidFill>
                  <a:schemeClr val="tx1">
                    <a:lumMod val="95000"/>
                  </a:schemeClr>
                </a:solidFill>
                <a:latin typeface="Courier New" panose="02070309020205020404" pitchFamily="49" charset="0"/>
                <a:cs typeface="Courier New" panose="02070309020205020404" pitchFamily="49" charset="0"/>
              </a:rPr>
              <a:t>        ORDER BY DATEDIFF(DAY, </a:t>
            </a:r>
            <a:r>
              <a:rPr lang="en-US" sz="1400" dirty="0" err="1">
                <a:solidFill>
                  <a:schemeClr val="tx1">
                    <a:lumMod val="95000"/>
                  </a:schemeClr>
                </a:solidFill>
                <a:latin typeface="Courier New" panose="02070309020205020404" pitchFamily="49" charset="0"/>
                <a:cs typeface="Courier New" panose="02070309020205020404" pitchFamily="49" charset="0"/>
              </a:rPr>
              <a:t>Expected_Delivery_Date</a:t>
            </a:r>
            <a:r>
              <a:rPr lang="en-US" sz="1400" dirty="0">
                <a:solidFill>
                  <a:schemeClr val="tx1">
                    <a:lumMod val="95000"/>
                  </a:schemeClr>
                </a:solidFill>
                <a:latin typeface="Courier New" panose="02070309020205020404" pitchFamily="49" charset="0"/>
                <a:cs typeface="Courier New" panose="02070309020205020404" pitchFamily="49" charset="0"/>
              </a:rPr>
              <a:t>, </a:t>
            </a:r>
            <a:r>
              <a:rPr lang="en-US" sz="1400" dirty="0" err="1">
                <a:solidFill>
                  <a:schemeClr val="tx1">
                    <a:lumMod val="95000"/>
                  </a:schemeClr>
                </a:solidFill>
                <a:latin typeface="Courier New" panose="02070309020205020404" pitchFamily="49" charset="0"/>
                <a:cs typeface="Courier New" panose="02070309020205020404" pitchFamily="49" charset="0"/>
              </a:rPr>
              <a:t>Actual_Delivery_Date</a:t>
            </a:r>
            <a:r>
              <a:rPr lang="en-US" sz="1400" dirty="0">
                <a:solidFill>
                  <a:schemeClr val="tx1">
                    <a:lumMod val="95000"/>
                  </a:schemeClr>
                </a:solidFill>
                <a:latin typeface="Courier New" panose="02070309020205020404" pitchFamily="49" charset="0"/>
                <a:cs typeface="Courier New" panose="02070309020205020404" pitchFamily="49" charset="0"/>
              </a:rPr>
              <a:t>) DESC</a:t>
            </a:r>
          </a:p>
          <a:p>
            <a:pPr marL="36900" indent="0">
              <a:buNone/>
            </a:pPr>
            <a:r>
              <a:rPr lang="en-US" sz="1400" dirty="0">
                <a:solidFill>
                  <a:schemeClr val="tx1">
                    <a:lumMod val="95000"/>
                  </a:schemeClr>
                </a:solidFill>
                <a:latin typeface="Courier New" panose="02070309020205020404" pitchFamily="49" charset="0"/>
                <a:cs typeface="Courier New" panose="02070309020205020404" pitchFamily="49" charset="0"/>
              </a:rPr>
              <a:t>    ) AS </a:t>
            </a:r>
            <a:r>
              <a:rPr lang="en-US" sz="1400" dirty="0" err="1">
                <a:solidFill>
                  <a:schemeClr val="tx1">
                    <a:lumMod val="95000"/>
                  </a:schemeClr>
                </a:solidFill>
                <a:latin typeface="Courier New" panose="02070309020205020404" pitchFamily="49" charset="0"/>
                <a:cs typeface="Courier New" panose="02070309020205020404" pitchFamily="49" charset="0"/>
              </a:rPr>
              <a:t>Rank_Per_Order_By_Warehouse</a:t>
            </a:r>
            <a:endParaRPr lang="en-US" sz="1400" dirty="0">
              <a:solidFill>
                <a:schemeClr val="tx1">
                  <a:lumMod val="95000"/>
                </a:schemeClr>
              </a:solidFill>
              <a:latin typeface="Courier New" panose="02070309020205020404" pitchFamily="49" charset="0"/>
              <a:cs typeface="Courier New" panose="02070309020205020404" pitchFamily="49" charset="0"/>
            </a:endParaRPr>
          </a:p>
          <a:p>
            <a:pPr marL="36900" indent="0">
              <a:buNone/>
            </a:pPr>
            <a:r>
              <a:rPr lang="en-IN" sz="1400" dirty="0">
                <a:solidFill>
                  <a:schemeClr val="tx1">
                    <a:lumMod val="95000"/>
                  </a:schemeClr>
                </a:solidFill>
                <a:latin typeface="Courier New" panose="02070309020205020404" pitchFamily="49" charset="0"/>
                <a:cs typeface="Courier New" panose="02070309020205020404" pitchFamily="49" charset="0"/>
              </a:rPr>
              <a:t>FROM UPS.[Orders ];</a:t>
            </a:r>
            <a:endParaRPr lang="en-US" sz="1400" dirty="0">
              <a:solidFill>
                <a:schemeClr val="tx1">
                  <a:lumMod val="95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81019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357E1-88D8-1B45-8FC4-E3D9C7B326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D6C129-F11B-11B6-4F1A-A362848A45BB}"/>
              </a:ext>
            </a:extLst>
          </p:cNvPr>
          <p:cNvSpPr>
            <a:spLocks noGrp="1"/>
          </p:cNvSpPr>
          <p:nvPr>
            <p:ph type="title"/>
          </p:nvPr>
        </p:nvSpPr>
        <p:spPr>
          <a:xfrm>
            <a:off x="913795" y="106431"/>
            <a:ext cx="10353762" cy="721199"/>
          </a:xfrm>
        </p:spPr>
        <p:txBody>
          <a:bodyPr>
            <a:normAutofit/>
          </a:bodyPr>
          <a:lstStyle/>
          <a:p>
            <a:r>
              <a:rPr lang="en-US" sz="2800" b="1" dirty="0"/>
              <a:t>Top 10 delayed routes based on average delay days.</a:t>
            </a:r>
            <a:endParaRPr lang="en-IN" sz="2400" b="1" dirty="0"/>
          </a:p>
        </p:txBody>
      </p:sp>
      <p:pic>
        <p:nvPicPr>
          <p:cNvPr id="6" name="Content Placeholder 5">
            <a:extLst>
              <a:ext uri="{FF2B5EF4-FFF2-40B4-BE49-F238E27FC236}">
                <a16:creationId xmlns:a16="http://schemas.microsoft.com/office/drawing/2014/main" id="{4AB07A94-3022-8967-0C46-7256F09867BA}"/>
              </a:ext>
            </a:extLst>
          </p:cNvPr>
          <p:cNvPicPr>
            <a:picLocks noGrp="1" noChangeAspect="1"/>
          </p:cNvPicPr>
          <p:nvPr>
            <p:ph idx="1"/>
          </p:nvPr>
        </p:nvPicPr>
        <p:blipFill>
          <a:blip r:embed="rId2"/>
          <a:stretch>
            <a:fillRect/>
          </a:stretch>
        </p:blipFill>
        <p:spPr>
          <a:xfrm>
            <a:off x="2246795" y="827630"/>
            <a:ext cx="7687762" cy="5823138"/>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919077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AAD34-84A6-A7E9-EFED-8A813227D8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4A3E3C-86BC-9A5B-3BE9-36D793D40520}"/>
              </a:ext>
            </a:extLst>
          </p:cNvPr>
          <p:cNvSpPr>
            <a:spLocks noGrp="1"/>
          </p:cNvSpPr>
          <p:nvPr>
            <p:ph type="title"/>
          </p:nvPr>
        </p:nvSpPr>
        <p:spPr/>
        <p:txBody>
          <a:bodyPr>
            <a:normAutofit/>
          </a:bodyPr>
          <a:lstStyle/>
          <a:p>
            <a:r>
              <a:rPr lang="en-US" dirty="0"/>
              <a:t>Task 3: Route Optimization Insights</a:t>
            </a:r>
            <a:endParaRPr lang="en-IN" sz="4000" dirty="0"/>
          </a:p>
        </p:txBody>
      </p:sp>
      <p:sp>
        <p:nvSpPr>
          <p:cNvPr id="3" name="Content Placeholder 2">
            <a:extLst>
              <a:ext uri="{FF2B5EF4-FFF2-40B4-BE49-F238E27FC236}">
                <a16:creationId xmlns:a16="http://schemas.microsoft.com/office/drawing/2014/main" id="{3FDF7C1C-0952-407C-5AC3-F09C3C03D51A}"/>
              </a:ext>
            </a:extLst>
          </p:cNvPr>
          <p:cNvSpPr>
            <a:spLocks noGrp="1"/>
          </p:cNvSpPr>
          <p:nvPr>
            <p:ph idx="1"/>
          </p:nvPr>
        </p:nvSpPr>
        <p:spPr>
          <a:xfrm>
            <a:off x="979100" y="1540489"/>
            <a:ext cx="10233800" cy="4351338"/>
          </a:xfrm>
        </p:spPr>
        <p:txBody>
          <a:bodyPr>
            <a:normAutofit/>
          </a:bodyPr>
          <a:lstStyle/>
          <a:p>
            <a:pPr>
              <a:lnSpc>
                <a:spcPct val="150000"/>
              </a:lnSpc>
            </a:pPr>
            <a:r>
              <a:rPr lang="en-IN" b="1" dirty="0"/>
              <a:t>Objective:</a:t>
            </a:r>
            <a:br>
              <a:rPr lang="en-IN" dirty="0"/>
            </a:br>
            <a:r>
              <a:rPr lang="en-US" sz="1800" dirty="0"/>
              <a:t>Evaluate route performance to uncover inefficiencies, delay patterns, and improvement opportunities in transportation operations. This supports data-driven decisions for logistics optimization.</a:t>
            </a:r>
          </a:p>
          <a:p>
            <a:pPr>
              <a:lnSpc>
                <a:spcPct val="150000"/>
              </a:lnSpc>
            </a:pPr>
            <a:r>
              <a:rPr lang="en-US" b="1" dirty="0"/>
              <a:t>Subtasks Covered:</a:t>
            </a:r>
          </a:p>
          <a:p>
            <a:pPr lvl="1">
              <a:buFont typeface="Arial" panose="020B0604020202020204" pitchFamily="34" charset="0"/>
              <a:buChar char="•"/>
            </a:pPr>
            <a:r>
              <a:rPr lang="en-US" dirty="0"/>
              <a:t>Calculate average delivery time, average traffic delay, and distance-to-time efficiency ratio for each route.</a:t>
            </a:r>
          </a:p>
          <a:p>
            <a:pPr lvl="1">
              <a:buFont typeface="Arial" panose="020B0604020202020204" pitchFamily="34" charset="0"/>
              <a:buChar char="•"/>
            </a:pPr>
            <a:r>
              <a:rPr lang="en-US" dirty="0"/>
              <a:t>Identify 3 routes with the worst efficiency ratio to detect performance bottlenecks.</a:t>
            </a:r>
          </a:p>
          <a:p>
            <a:pPr lvl="1">
              <a:buFont typeface="Arial" panose="020B0604020202020204" pitchFamily="34" charset="0"/>
              <a:buChar char="•"/>
            </a:pPr>
            <a:r>
              <a:rPr lang="en-US" dirty="0"/>
              <a:t>Find routes with more than 20% delayed shipments to highlight reliability issues.</a:t>
            </a:r>
          </a:p>
          <a:p>
            <a:pPr lvl="1">
              <a:buFont typeface="Arial" panose="020B0604020202020204" pitchFamily="34" charset="0"/>
              <a:buChar char="•"/>
            </a:pPr>
            <a:r>
              <a:rPr lang="en-US" dirty="0"/>
              <a:t>Recommend potential routes for optimization based on performance indicators.</a:t>
            </a:r>
            <a:endParaRPr lang="en-IN" dirty="0"/>
          </a:p>
        </p:txBody>
      </p:sp>
    </p:spTree>
    <p:extLst>
      <p:ext uri="{BB962C8B-B14F-4D97-AF65-F5344CB8AC3E}">
        <p14:creationId xmlns:p14="http://schemas.microsoft.com/office/powerpoint/2010/main" val="24434190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4AC14-9193-E362-BB53-FF9D904E52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CAE2CE-F21D-38AB-1A35-02199E373630}"/>
              </a:ext>
            </a:extLst>
          </p:cNvPr>
          <p:cNvSpPr>
            <a:spLocks noGrp="1"/>
          </p:cNvSpPr>
          <p:nvPr>
            <p:ph type="title"/>
          </p:nvPr>
        </p:nvSpPr>
        <p:spPr>
          <a:xfrm>
            <a:off x="402715" y="106431"/>
            <a:ext cx="11375922" cy="721199"/>
          </a:xfrm>
        </p:spPr>
        <p:txBody>
          <a:bodyPr>
            <a:normAutofit/>
          </a:bodyPr>
          <a:lstStyle/>
          <a:p>
            <a:r>
              <a:rPr lang="en-US" sz="2800" b="1" dirty="0"/>
              <a:t>Average Delivery Time (in days) and Traffic Delay for each Route</a:t>
            </a:r>
            <a:endParaRPr lang="en-IN" sz="2400" b="1" dirty="0"/>
          </a:p>
        </p:txBody>
      </p:sp>
      <p:sp>
        <p:nvSpPr>
          <p:cNvPr id="3" name="Content Placeholder 2">
            <a:extLst>
              <a:ext uri="{FF2B5EF4-FFF2-40B4-BE49-F238E27FC236}">
                <a16:creationId xmlns:a16="http://schemas.microsoft.com/office/drawing/2014/main" id="{DE4E1571-B3DB-1F3E-2C81-6A6DEE99CD1D}"/>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latin typeface="Courier New" panose="02070309020205020404" pitchFamily="49" charset="0"/>
                <a:cs typeface="Courier New" panose="02070309020205020404" pitchFamily="49" charset="0"/>
              </a:rPr>
              <a:t>SELECT </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Route_ID</a:t>
            </a:r>
            <a:r>
              <a:rPr lang="en-IN" sz="1400" dirty="0">
                <a:latin typeface="Courier New" panose="02070309020205020404" pitchFamily="49" charset="0"/>
                <a:cs typeface="Courier New" panose="02070309020205020404" pitchFamily="49" charset="0"/>
              </a:rPr>
              <a:t>,</a:t>
            </a:r>
          </a:p>
          <a:p>
            <a:pPr marL="36900" indent="0">
              <a:buNone/>
            </a:pPr>
            <a:r>
              <a:rPr lang="en-US" sz="1400" dirty="0">
                <a:latin typeface="Courier New" panose="02070309020205020404" pitchFamily="49" charset="0"/>
                <a:cs typeface="Courier New" panose="02070309020205020404" pitchFamily="49" charset="0"/>
              </a:rPr>
              <a:t>	ROUND(AVG(CAST(DATEDIFF(day, </a:t>
            </a:r>
            <a:r>
              <a:rPr lang="en-US" sz="1400" dirty="0" err="1">
                <a:latin typeface="Courier New" panose="02070309020205020404" pitchFamily="49" charset="0"/>
                <a:cs typeface="Courier New" panose="02070309020205020404" pitchFamily="49" charset="0"/>
              </a:rPr>
              <a:t>Order_Date</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Actual_Delivery_Date</a:t>
            </a:r>
            <a:r>
              <a:rPr lang="en-US" sz="1400" dirty="0">
                <a:latin typeface="Courier New" panose="02070309020205020404" pitchFamily="49" charset="0"/>
                <a:cs typeface="Courier New" panose="02070309020205020404" pitchFamily="49" charset="0"/>
              </a:rPr>
              <a:t>) AS FLOAT)),2) 	</a:t>
            </a:r>
            <a:r>
              <a:rPr lang="en-US" sz="1400" dirty="0" err="1">
                <a:latin typeface="Courier New" panose="02070309020205020404" pitchFamily="49" charset="0"/>
                <a:cs typeface="Courier New" panose="02070309020205020404" pitchFamily="49" charset="0"/>
              </a:rPr>
              <a:t>Delivery_Time_Days</a:t>
            </a:r>
            <a:endParaRPr lang="en-US"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FROM UPS.[Orders ]</a:t>
            </a:r>
          </a:p>
          <a:p>
            <a:pPr marL="36900" indent="0">
              <a:buNone/>
            </a:pPr>
            <a:r>
              <a:rPr lang="en-IN" sz="1400" dirty="0">
                <a:latin typeface="Courier New" panose="02070309020205020404" pitchFamily="49" charset="0"/>
                <a:cs typeface="Courier New" panose="02070309020205020404" pitchFamily="49" charset="0"/>
              </a:rPr>
              <a:t>GROUP BY </a:t>
            </a:r>
            <a:r>
              <a:rPr lang="en-IN" sz="1400" dirty="0" err="1">
                <a:latin typeface="Courier New" panose="02070309020205020404" pitchFamily="49" charset="0"/>
                <a:cs typeface="Courier New" panose="02070309020205020404" pitchFamily="49" charset="0"/>
              </a:rPr>
              <a:t>Route_ID</a:t>
            </a:r>
            <a:endParaRPr lang="en-IN" sz="1400" dirty="0">
              <a:latin typeface="Courier New" panose="02070309020205020404" pitchFamily="49" charset="0"/>
              <a:cs typeface="Courier New" panose="02070309020205020404" pitchFamily="49" charset="0"/>
            </a:endParaRPr>
          </a:p>
          <a:p>
            <a:pPr marL="36900" indent="0">
              <a:buNone/>
            </a:pPr>
            <a:r>
              <a:rPr lang="en-US" sz="1400" dirty="0">
                <a:latin typeface="Courier New" panose="02070309020205020404" pitchFamily="49" charset="0"/>
                <a:cs typeface="Courier New" panose="02070309020205020404" pitchFamily="49" charset="0"/>
              </a:rPr>
              <a:t>ORDER BY </a:t>
            </a:r>
            <a:r>
              <a:rPr lang="en-US" sz="1400" dirty="0" err="1">
                <a:latin typeface="Courier New" panose="02070309020205020404" pitchFamily="49" charset="0"/>
                <a:cs typeface="Courier New" panose="02070309020205020404" pitchFamily="49" charset="0"/>
              </a:rPr>
              <a:t>Delivery_Time_Days</a:t>
            </a:r>
            <a:r>
              <a:rPr lang="en-US" sz="1400" dirty="0">
                <a:latin typeface="Courier New" panose="02070309020205020404" pitchFamily="49" charset="0"/>
                <a:cs typeface="Courier New" panose="02070309020205020404" pitchFamily="49" charset="0"/>
              </a:rPr>
              <a:t> DESC, </a:t>
            </a:r>
            <a:r>
              <a:rPr lang="en-US" sz="1400" dirty="0" err="1">
                <a:latin typeface="Courier New" panose="02070309020205020404" pitchFamily="49" charset="0"/>
                <a:cs typeface="Courier New" panose="02070309020205020404" pitchFamily="49" charset="0"/>
              </a:rPr>
              <a:t>Route_ID</a:t>
            </a:r>
            <a:r>
              <a:rPr lang="en-US" sz="1400" dirty="0">
                <a:latin typeface="Courier New" panose="02070309020205020404" pitchFamily="49" charset="0"/>
                <a:cs typeface="Courier New" panose="02070309020205020404" pitchFamily="49" charset="0"/>
              </a:rPr>
              <a:t>;</a:t>
            </a:r>
          </a:p>
          <a:p>
            <a:pPr marL="36900" indent="0">
              <a:buNone/>
            </a:pPr>
            <a:endParaRPr lang="en-US" sz="1400" b="1" dirty="0">
              <a:solidFill>
                <a:schemeClr val="tx1"/>
              </a:solidFill>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SELECT </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Route_ID</a:t>
            </a:r>
            <a:r>
              <a:rPr lang="en-IN" sz="1400" dirty="0">
                <a:latin typeface="Courier New" panose="02070309020205020404" pitchFamily="49" charset="0"/>
                <a:cs typeface="Courier New" panose="02070309020205020404" pitchFamily="49" charset="0"/>
              </a:rPr>
              <a:t>,</a:t>
            </a:r>
          </a:p>
          <a:p>
            <a:pPr marL="36900" indent="0">
              <a:buNone/>
            </a:pPr>
            <a:r>
              <a:rPr lang="en-US" sz="1400" dirty="0">
                <a:latin typeface="Courier New" panose="02070309020205020404" pitchFamily="49" charset="0"/>
                <a:cs typeface="Courier New" panose="02070309020205020404" pitchFamily="49" charset="0"/>
              </a:rPr>
              <a:t>	AVG(</a:t>
            </a:r>
            <a:r>
              <a:rPr lang="en-US" sz="1400" dirty="0" err="1">
                <a:latin typeface="Courier New" panose="02070309020205020404" pitchFamily="49" charset="0"/>
                <a:cs typeface="Courier New" panose="02070309020205020404" pitchFamily="49" charset="0"/>
              </a:rPr>
              <a:t>Traffic_Delay_Min</a:t>
            </a:r>
            <a:r>
              <a:rPr lang="en-US" sz="1400" dirty="0">
                <a:latin typeface="Courier New" panose="02070309020205020404" pitchFamily="49" charset="0"/>
                <a:cs typeface="Courier New" panose="02070309020205020404" pitchFamily="49" charset="0"/>
              </a:rPr>
              <a:t>) OVER(PARTITION BY </a:t>
            </a:r>
            <a:r>
              <a:rPr lang="en-US" sz="1400" dirty="0" err="1">
                <a:latin typeface="Courier New" panose="02070309020205020404" pitchFamily="49" charset="0"/>
                <a:cs typeface="Courier New" panose="02070309020205020404" pitchFamily="49" charset="0"/>
              </a:rPr>
              <a:t>Route_ID</a:t>
            </a:r>
            <a:r>
              <a:rPr lang="en-US" sz="1400" dirty="0">
                <a:latin typeface="Courier New" panose="02070309020205020404" pitchFamily="49" charset="0"/>
                <a:cs typeface="Courier New" panose="02070309020205020404" pitchFamily="49" charset="0"/>
              </a:rPr>
              <a:t>) as </a:t>
            </a:r>
            <a:r>
              <a:rPr lang="en-US" sz="1400" dirty="0" err="1">
                <a:latin typeface="Courier New" panose="02070309020205020404" pitchFamily="49" charset="0"/>
                <a:cs typeface="Courier New" panose="02070309020205020404" pitchFamily="49" charset="0"/>
              </a:rPr>
              <a:t>Avg_Traffic_Delay</a:t>
            </a:r>
            <a:endParaRPr lang="en-US"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FROM UPS.[Routes ]</a:t>
            </a:r>
          </a:p>
          <a:p>
            <a:pPr marL="36900" indent="0">
              <a:buNone/>
            </a:pPr>
            <a:r>
              <a:rPr lang="en-US" sz="1400" dirty="0">
                <a:latin typeface="Courier New" panose="02070309020205020404" pitchFamily="49" charset="0"/>
                <a:cs typeface="Courier New" panose="02070309020205020404" pitchFamily="49" charset="0"/>
              </a:rPr>
              <a:t>ORDER BY </a:t>
            </a:r>
            <a:r>
              <a:rPr lang="en-US" sz="1400" dirty="0" err="1">
                <a:latin typeface="Courier New" panose="02070309020205020404" pitchFamily="49" charset="0"/>
                <a:cs typeface="Courier New" panose="02070309020205020404" pitchFamily="49" charset="0"/>
              </a:rPr>
              <a:t>Avg_Traffic_Delay</a:t>
            </a:r>
            <a:r>
              <a:rPr lang="en-US" sz="1400" dirty="0">
                <a:latin typeface="Courier New" panose="02070309020205020404" pitchFamily="49" charset="0"/>
                <a:cs typeface="Courier New" panose="02070309020205020404" pitchFamily="49" charset="0"/>
              </a:rPr>
              <a:t> DESC, </a:t>
            </a:r>
            <a:r>
              <a:rPr lang="en-US" sz="1400" dirty="0" err="1">
                <a:latin typeface="Courier New" panose="02070309020205020404" pitchFamily="49" charset="0"/>
                <a:cs typeface="Courier New" panose="02070309020205020404" pitchFamily="49" charset="0"/>
              </a:rPr>
              <a:t>Route_ID</a:t>
            </a:r>
            <a:r>
              <a:rPr lang="en-US" sz="1400" dirty="0">
                <a:latin typeface="Courier New" panose="02070309020205020404" pitchFamily="49" charset="0"/>
                <a:cs typeface="Courier New" panose="02070309020205020404" pitchFamily="49" charset="0"/>
              </a:rPr>
              <a:t>;</a:t>
            </a:r>
            <a:endParaRPr lang="en-IN" sz="1400" b="1"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9383770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141E7-CA87-9F0F-6DF2-7D96D52B32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7B85D1-D362-5B8C-63E2-09004055CA85}"/>
              </a:ext>
            </a:extLst>
          </p:cNvPr>
          <p:cNvSpPr>
            <a:spLocks noGrp="1"/>
          </p:cNvSpPr>
          <p:nvPr>
            <p:ph type="title"/>
          </p:nvPr>
        </p:nvSpPr>
        <p:spPr>
          <a:xfrm>
            <a:off x="913795" y="106431"/>
            <a:ext cx="10353762" cy="721199"/>
          </a:xfrm>
        </p:spPr>
        <p:txBody>
          <a:bodyPr>
            <a:normAutofit/>
          </a:bodyPr>
          <a:lstStyle/>
          <a:p>
            <a:r>
              <a:rPr lang="en-US" sz="2800" b="1" dirty="0"/>
              <a:t>Average Delivery Time (in days) for each Route</a:t>
            </a:r>
            <a:endParaRPr lang="en-IN" sz="2400" b="1" dirty="0"/>
          </a:p>
        </p:txBody>
      </p:sp>
      <p:pic>
        <p:nvPicPr>
          <p:cNvPr id="9" name="Picture 8">
            <a:extLst>
              <a:ext uri="{FF2B5EF4-FFF2-40B4-BE49-F238E27FC236}">
                <a16:creationId xmlns:a16="http://schemas.microsoft.com/office/drawing/2014/main" id="{9C892884-FCB8-89EA-C531-791EEAA0E1D3}"/>
              </a:ext>
            </a:extLst>
          </p:cNvPr>
          <p:cNvPicPr>
            <a:picLocks noChangeAspect="1"/>
          </p:cNvPicPr>
          <p:nvPr/>
        </p:nvPicPr>
        <p:blipFill>
          <a:blip r:embed="rId2"/>
          <a:stretch>
            <a:fillRect/>
          </a:stretch>
        </p:blipFill>
        <p:spPr>
          <a:xfrm>
            <a:off x="3470787" y="1212946"/>
            <a:ext cx="8465573" cy="4824180"/>
          </a:xfrm>
          <a:prstGeom prst="rect">
            <a:avLst/>
          </a:prstGeom>
        </p:spPr>
      </p:pic>
      <p:pic>
        <p:nvPicPr>
          <p:cNvPr id="13" name="Content Placeholder 12">
            <a:extLst>
              <a:ext uri="{FF2B5EF4-FFF2-40B4-BE49-F238E27FC236}">
                <a16:creationId xmlns:a16="http://schemas.microsoft.com/office/drawing/2014/main" id="{CCD05D56-FFA0-FEFF-5738-71E0EE163E63}"/>
              </a:ext>
            </a:extLst>
          </p:cNvPr>
          <p:cNvPicPr>
            <a:picLocks noGrp="1" noChangeAspect="1"/>
          </p:cNvPicPr>
          <p:nvPr>
            <p:ph idx="1"/>
          </p:nvPr>
        </p:nvPicPr>
        <p:blipFill>
          <a:blip r:embed="rId3"/>
          <a:stretch>
            <a:fillRect/>
          </a:stretch>
        </p:blipFill>
        <p:spPr>
          <a:xfrm>
            <a:off x="557616" y="1212946"/>
            <a:ext cx="2628036" cy="4809202"/>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7547540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02B42-5E88-1C20-26DC-CC3DB51011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322BBD-818A-F678-7752-371593D70F7F}"/>
              </a:ext>
            </a:extLst>
          </p:cNvPr>
          <p:cNvSpPr>
            <a:spLocks noGrp="1"/>
          </p:cNvSpPr>
          <p:nvPr>
            <p:ph type="title"/>
          </p:nvPr>
        </p:nvSpPr>
        <p:spPr>
          <a:xfrm>
            <a:off x="913795" y="106431"/>
            <a:ext cx="10353762" cy="721199"/>
          </a:xfrm>
        </p:spPr>
        <p:txBody>
          <a:bodyPr>
            <a:normAutofit/>
          </a:bodyPr>
          <a:lstStyle/>
          <a:p>
            <a:r>
              <a:rPr lang="en-US" sz="2800" b="1" dirty="0"/>
              <a:t>Average Traffic Delay for each Route</a:t>
            </a:r>
            <a:endParaRPr lang="en-IN" sz="2400" b="1" dirty="0"/>
          </a:p>
        </p:txBody>
      </p:sp>
      <p:pic>
        <p:nvPicPr>
          <p:cNvPr id="14" name="Content Placeholder 13">
            <a:extLst>
              <a:ext uri="{FF2B5EF4-FFF2-40B4-BE49-F238E27FC236}">
                <a16:creationId xmlns:a16="http://schemas.microsoft.com/office/drawing/2014/main" id="{97A5DA5B-F050-BE4D-65ED-C052CAA37F46}"/>
              </a:ext>
            </a:extLst>
          </p:cNvPr>
          <p:cNvPicPr>
            <a:picLocks noGrp="1" noChangeAspect="1"/>
          </p:cNvPicPr>
          <p:nvPr>
            <p:ph idx="1"/>
          </p:nvPr>
        </p:nvPicPr>
        <p:blipFill>
          <a:blip r:embed="rId2"/>
          <a:stretch>
            <a:fillRect/>
          </a:stretch>
        </p:blipFill>
        <p:spPr>
          <a:xfrm>
            <a:off x="357021" y="1201993"/>
            <a:ext cx="2926446" cy="5484113"/>
          </a:xfrm>
          <a:prstGeom prst="rect">
            <a:avLst/>
          </a:prstGeom>
          <a:effectLst>
            <a:outerShdw blurRad="25400" dir="17880000">
              <a:srgbClr val="000000">
                <a:alpha val="46000"/>
              </a:srgbClr>
            </a:outerShdw>
          </a:effectLst>
        </p:spPr>
      </p:pic>
      <p:pic>
        <p:nvPicPr>
          <p:cNvPr id="11" name="Picture 10">
            <a:extLst>
              <a:ext uri="{FF2B5EF4-FFF2-40B4-BE49-F238E27FC236}">
                <a16:creationId xmlns:a16="http://schemas.microsoft.com/office/drawing/2014/main" id="{D9B03581-56F7-AF22-997B-1B47EDBB98B9}"/>
              </a:ext>
            </a:extLst>
          </p:cNvPr>
          <p:cNvPicPr>
            <a:picLocks noChangeAspect="1"/>
          </p:cNvPicPr>
          <p:nvPr/>
        </p:nvPicPr>
        <p:blipFill>
          <a:blip r:embed="rId3"/>
          <a:stretch>
            <a:fillRect/>
          </a:stretch>
        </p:blipFill>
        <p:spPr>
          <a:xfrm>
            <a:off x="3724054" y="1201993"/>
            <a:ext cx="8022435" cy="4454014"/>
          </a:xfrm>
          <a:prstGeom prst="rect">
            <a:avLst/>
          </a:prstGeom>
        </p:spPr>
      </p:pic>
    </p:spTree>
    <p:extLst>
      <p:ext uri="{BB962C8B-B14F-4D97-AF65-F5344CB8AC3E}">
        <p14:creationId xmlns:p14="http://schemas.microsoft.com/office/powerpoint/2010/main" val="3551465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F64FE-ACED-1775-F483-629A0C904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62C8C-5290-8089-842E-26A44204AE7E}"/>
              </a:ext>
            </a:extLst>
          </p:cNvPr>
          <p:cNvSpPr>
            <a:spLocks noGrp="1"/>
          </p:cNvSpPr>
          <p:nvPr>
            <p:ph type="title"/>
          </p:nvPr>
        </p:nvSpPr>
        <p:spPr>
          <a:xfrm>
            <a:off x="402715" y="106431"/>
            <a:ext cx="11375922" cy="721199"/>
          </a:xfrm>
        </p:spPr>
        <p:txBody>
          <a:bodyPr>
            <a:normAutofit/>
          </a:bodyPr>
          <a:lstStyle/>
          <a:p>
            <a:r>
              <a:rPr lang="en-US" sz="2800" b="1" dirty="0"/>
              <a:t>Distance to Time Efficiency Ratio for each Route</a:t>
            </a:r>
            <a:endParaRPr lang="en-IN" sz="2400" b="1" dirty="0"/>
          </a:p>
        </p:txBody>
      </p:sp>
      <p:sp>
        <p:nvSpPr>
          <p:cNvPr id="3" name="Content Placeholder 2">
            <a:extLst>
              <a:ext uri="{FF2B5EF4-FFF2-40B4-BE49-F238E27FC236}">
                <a16:creationId xmlns:a16="http://schemas.microsoft.com/office/drawing/2014/main" id="{D072DA42-AE92-10F1-21AB-80E95CEF6A7D}"/>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latin typeface="Courier New" panose="02070309020205020404" pitchFamily="49" charset="0"/>
                <a:cs typeface="Courier New" panose="02070309020205020404" pitchFamily="49" charset="0"/>
              </a:rPr>
              <a:t>SELECT </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Route_ID</a:t>
            </a:r>
            <a:r>
              <a:rPr lang="en-IN" sz="1400" dirty="0">
                <a:latin typeface="Courier New" panose="02070309020205020404" pitchFamily="49" charset="0"/>
                <a:cs typeface="Courier New" panose="02070309020205020404" pitchFamily="49" charset="0"/>
              </a:rPr>
              <a:t>,</a:t>
            </a:r>
          </a:p>
          <a:p>
            <a:pPr marL="36900" indent="0">
              <a:buNone/>
            </a:pPr>
            <a:r>
              <a:rPr lang="en-US" sz="1400" dirty="0">
                <a:latin typeface="Courier New" panose="02070309020205020404" pitchFamily="49" charset="0"/>
                <a:cs typeface="Courier New" panose="02070309020205020404" pitchFamily="49" charset="0"/>
              </a:rPr>
              <a:t>	CAST</a:t>
            </a:r>
          </a:p>
          <a:p>
            <a:pPr marL="36900" indent="0">
              <a:buNone/>
            </a:pPr>
            <a:r>
              <a:rPr lang="en-US" sz="1400" dirty="0">
                <a:latin typeface="Courier New" panose="02070309020205020404" pitchFamily="49" charset="0"/>
                <a:cs typeface="Courier New" panose="02070309020205020404" pitchFamily="49" charset="0"/>
              </a:rPr>
              <a:t>		(ROUND(</a:t>
            </a:r>
          </a:p>
          <a:p>
            <a:pPr marL="36900" inden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Distance_KM</a:t>
            </a:r>
            <a:r>
              <a:rPr lang="en-US" sz="1400" dirty="0">
                <a:latin typeface="Courier New" panose="02070309020205020404" pitchFamily="49" charset="0"/>
                <a:cs typeface="Courier New" panose="02070309020205020404" pitchFamily="49" charset="0"/>
              </a:rPr>
              <a:t> * 1.0 / </a:t>
            </a:r>
            <a:r>
              <a:rPr lang="en-US" sz="1400" dirty="0" err="1">
                <a:latin typeface="Courier New" panose="02070309020205020404" pitchFamily="49" charset="0"/>
                <a:cs typeface="Courier New" panose="02070309020205020404" pitchFamily="49" charset="0"/>
              </a:rPr>
              <a:t>Average_Travel_Time_Min</a:t>
            </a:r>
            <a:r>
              <a:rPr lang="en-US" sz="1400" dirty="0">
                <a:latin typeface="Courier New" panose="02070309020205020404" pitchFamily="49" charset="0"/>
                <a:cs typeface="Courier New" panose="02070309020205020404" pitchFamily="49" charset="0"/>
              </a:rPr>
              <a:t>, 2) AS DECIMAL(10,2)) 	</a:t>
            </a:r>
            <a:r>
              <a:rPr lang="en-US" sz="1400" dirty="0" err="1">
                <a:latin typeface="Courier New" panose="02070309020205020404" pitchFamily="49" charset="0"/>
                <a:cs typeface="Courier New" panose="02070309020205020404" pitchFamily="49" charset="0"/>
              </a:rPr>
              <a:t>Efficiency_Ratio</a:t>
            </a:r>
            <a:endParaRPr lang="en-US"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FROM UPS.[Routes ]</a:t>
            </a:r>
          </a:p>
          <a:p>
            <a:pPr marL="36900" indent="0">
              <a:buNone/>
            </a:pPr>
            <a:r>
              <a:rPr lang="en-US" sz="1400" dirty="0">
                <a:latin typeface="Courier New" panose="02070309020205020404" pitchFamily="49" charset="0"/>
                <a:cs typeface="Courier New" panose="02070309020205020404" pitchFamily="49" charset="0"/>
              </a:rPr>
              <a:t>ORDER BY </a:t>
            </a:r>
            <a:r>
              <a:rPr lang="en-US" sz="1400" dirty="0" err="1">
                <a:latin typeface="Courier New" panose="02070309020205020404" pitchFamily="49" charset="0"/>
                <a:cs typeface="Courier New" panose="02070309020205020404" pitchFamily="49" charset="0"/>
              </a:rPr>
              <a:t>Efficiency_Ratio</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Route_ID</a:t>
            </a:r>
            <a:r>
              <a:rPr lang="en-US" sz="1400" dirty="0">
                <a:latin typeface="Courier New" panose="02070309020205020404" pitchFamily="49" charset="0"/>
                <a:cs typeface="Courier New" panose="02070309020205020404" pitchFamily="49" charset="0"/>
              </a:rPr>
              <a:t> DESC</a:t>
            </a:r>
            <a:r>
              <a:rPr lang="en-IN" sz="1400" dirty="0">
                <a:latin typeface="Courier New" panose="02070309020205020404" pitchFamily="49" charset="0"/>
                <a:cs typeface="Courier New" panose="02070309020205020404" pitchFamily="49" charset="0"/>
              </a:rPr>
              <a:t>;</a:t>
            </a:r>
            <a:endParaRPr lang="en-IN" sz="1400" b="1"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986604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4A7FB-4F91-8615-8F9B-BFDA51F64F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643A6-F2FD-0ADB-C85D-13CB1B2E0F08}"/>
              </a:ext>
            </a:extLst>
          </p:cNvPr>
          <p:cNvSpPr>
            <a:spLocks noGrp="1"/>
          </p:cNvSpPr>
          <p:nvPr>
            <p:ph type="title"/>
          </p:nvPr>
        </p:nvSpPr>
        <p:spPr>
          <a:xfrm>
            <a:off x="913795" y="106431"/>
            <a:ext cx="10353762" cy="721199"/>
          </a:xfrm>
        </p:spPr>
        <p:txBody>
          <a:bodyPr>
            <a:normAutofit/>
          </a:bodyPr>
          <a:lstStyle/>
          <a:p>
            <a:r>
              <a:rPr lang="en-US" sz="2800" b="1" dirty="0"/>
              <a:t>Distance to Time Efficiency Ratio for each Route</a:t>
            </a:r>
            <a:endParaRPr lang="en-IN" sz="2400" b="1" dirty="0"/>
          </a:p>
        </p:txBody>
      </p:sp>
      <p:pic>
        <p:nvPicPr>
          <p:cNvPr id="6" name="Content Placeholder 5">
            <a:extLst>
              <a:ext uri="{FF2B5EF4-FFF2-40B4-BE49-F238E27FC236}">
                <a16:creationId xmlns:a16="http://schemas.microsoft.com/office/drawing/2014/main" id="{45DD566B-CAF2-653A-821B-4DDE6B118BCA}"/>
              </a:ext>
            </a:extLst>
          </p:cNvPr>
          <p:cNvPicPr>
            <a:picLocks noGrp="1" noChangeAspect="1"/>
          </p:cNvPicPr>
          <p:nvPr>
            <p:ph idx="1"/>
          </p:nvPr>
        </p:nvPicPr>
        <p:blipFill>
          <a:blip r:embed="rId2"/>
          <a:stretch>
            <a:fillRect/>
          </a:stretch>
        </p:blipFill>
        <p:spPr>
          <a:xfrm>
            <a:off x="376594" y="1201993"/>
            <a:ext cx="2671406" cy="5095878"/>
          </a:xfrm>
          <a:prstGeom prst="rect">
            <a:avLst/>
          </a:prstGeom>
          <a:effectLst>
            <a:outerShdw blurRad="25400" dir="17880000">
              <a:srgbClr val="000000">
                <a:alpha val="46000"/>
              </a:srgbClr>
            </a:outerShdw>
          </a:effectLst>
        </p:spPr>
      </p:pic>
      <p:pic>
        <p:nvPicPr>
          <p:cNvPr id="8" name="Picture 7">
            <a:extLst>
              <a:ext uri="{FF2B5EF4-FFF2-40B4-BE49-F238E27FC236}">
                <a16:creationId xmlns:a16="http://schemas.microsoft.com/office/drawing/2014/main" id="{E6765794-6713-3E67-33CF-45DD6166B96B}"/>
              </a:ext>
            </a:extLst>
          </p:cNvPr>
          <p:cNvPicPr>
            <a:picLocks noChangeAspect="1"/>
          </p:cNvPicPr>
          <p:nvPr/>
        </p:nvPicPr>
        <p:blipFill>
          <a:blip r:embed="rId3"/>
          <a:stretch>
            <a:fillRect/>
          </a:stretch>
        </p:blipFill>
        <p:spPr>
          <a:xfrm>
            <a:off x="3467490" y="1201993"/>
            <a:ext cx="8426132" cy="4559710"/>
          </a:xfrm>
          <a:prstGeom prst="rect">
            <a:avLst/>
          </a:prstGeom>
        </p:spPr>
      </p:pic>
    </p:spTree>
    <p:extLst>
      <p:ext uri="{BB962C8B-B14F-4D97-AF65-F5344CB8AC3E}">
        <p14:creationId xmlns:p14="http://schemas.microsoft.com/office/powerpoint/2010/main" val="7407577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754F4-26E7-D935-2F73-421D28235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CA169D-1FE8-D8FD-DB5F-3F2AC902130F}"/>
              </a:ext>
            </a:extLst>
          </p:cNvPr>
          <p:cNvSpPr>
            <a:spLocks noGrp="1"/>
          </p:cNvSpPr>
          <p:nvPr>
            <p:ph type="title"/>
          </p:nvPr>
        </p:nvSpPr>
        <p:spPr>
          <a:xfrm>
            <a:off x="402715" y="106431"/>
            <a:ext cx="11375922" cy="721199"/>
          </a:xfrm>
        </p:spPr>
        <p:txBody>
          <a:bodyPr>
            <a:normAutofit/>
          </a:bodyPr>
          <a:lstStyle/>
          <a:p>
            <a:r>
              <a:rPr lang="en-US" sz="2800" b="1" dirty="0"/>
              <a:t>Top 3 Routes with the worst Efficiency Ratio</a:t>
            </a:r>
            <a:endParaRPr lang="en-IN" sz="2400" b="1" dirty="0"/>
          </a:p>
        </p:txBody>
      </p:sp>
      <p:sp>
        <p:nvSpPr>
          <p:cNvPr id="3" name="Content Placeholder 2">
            <a:extLst>
              <a:ext uri="{FF2B5EF4-FFF2-40B4-BE49-F238E27FC236}">
                <a16:creationId xmlns:a16="http://schemas.microsoft.com/office/drawing/2014/main" id="{B95D6F66-BC67-7B0C-A286-B9110B0AEAC7}"/>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latin typeface="Courier New" panose="02070309020205020404" pitchFamily="49" charset="0"/>
                <a:cs typeface="Courier New" panose="02070309020205020404" pitchFamily="49" charset="0"/>
              </a:rPr>
              <a:t>SELECT TOP 3</a:t>
            </a:r>
          </a:p>
          <a:p>
            <a:pPr marL="36900" indent="0">
              <a:buNone/>
            </a:pPr>
            <a:r>
              <a:rPr lang="en-IN" sz="1400" dirty="0" err="1">
                <a:latin typeface="Courier New" panose="02070309020205020404" pitchFamily="49" charset="0"/>
                <a:cs typeface="Courier New" panose="02070309020205020404" pitchFamily="49" charset="0"/>
              </a:rPr>
              <a:t>Route_ID</a:t>
            </a:r>
            <a:r>
              <a:rPr lang="en-IN" sz="1400" dirty="0">
                <a:latin typeface="Courier New" panose="02070309020205020404" pitchFamily="49" charset="0"/>
                <a:cs typeface="Courier New" panose="02070309020205020404" pitchFamily="49" charset="0"/>
              </a:rPr>
              <a:t>,</a:t>
            </a:r>
          </a:p>
          <a:p>
            <a:pPr marL="36900" indent="0">
              <a:buNone/>
            </a:pPr>
            <a:r>
              <a:rPr lang="en-US" sz="1400" dirty="0">
                <a:latin typeface="Courier New" panose="02070309020205020404" pitchFamily="49" charset="0"/>
                <a:cs typeface="Courier New" panose="02070309020205020404" pitchFamily="49" charset="0"/>
              </a:rPr>
              <a:t>ROUND(CAST(</a:t>
            </a:r>
            <a:r>
              <a:rPr lang="en-US" sz="1400" dirty="0" err="1">
                <a:latin typeface="Courier New" panose="02070309020205020404" pitchFamily="49" charset="0"/>
                <a:cs typeface="Courier New" panose="02070309020205020404" pitchFamily="49" charset="0"/>
              </a:rPr>
              <a:t>Distance_KM</a:t>
            </a:r>
            <a:r>
              <a:rPr lang="en-US" sz="1400" dirty="0">
                <a:latin typeface="Courier New" panose="02070309020205020404" pitchFamily="49" charset="0"/>
                <a:cs typeface="Courier New" panose="02070309020205020404" pitchFamily="49" charset="0"/>
              </a:rPr>
              <a:t> * 1.0 / </a:t>
            </a:r>
            <a:r>
              <a:rPr lang="en-US" sz="1400" dirty="0" err="1">
                <a:latin typeface="Courier New" panose="02070309020205020404" pitchFamily="49" charset="0"/>
                <a:cs typeface="Courier New" panose="02070309020205020404" pitchFamily="49" charset="0"/>
              </a:rPr>
              <a:t>Average_Travel_Time_Min</a:t>
            </a:r>
            <a:r>
              <a:rPr lang="en-US" sz="1400" dirty="0">
                <a:latin typeface="Courier New" panose="02070309020205020404" pitchFamily="49" charset="0"/>
                <a:cs typeface="Courier New" panose="02070309020205020404" pitchFamily="49" charset="0"/>
              </a:rPr>
              <a:t> AS FLOAT) ,2) as </a:t>
            </a:r>
            <a:r>
              <a:rPr lang="en-US" sz="1400" dirty="0" err="1">
                <a:latin typeface="Courier New" panose="02070309020205020404" pitchFamily="49" charset="0"/>
                <a:cs typeface="Courier New" panose="02070309020205020404" pitchFamily="49" charset="0"/>
              </a:rPr>
              <a:t>Efficiency_Ratio</a:t>
            </a:r>
            <a:endParaRPr lang="en-US"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FROM UPS.[Routes ]</a:t>
            </a:r>
          </a:p>
          <a:p>
            <a:pPr marL="36900" indent="0">
              <a:buNone/>
            </a:pPr>
            <a:r>
              <a:rPr lang="en-US" sz="1400" dirty="0">
                <a:latin typeface="Courier New" panose="02070309020205020404" pitchFamily="49" charset="0"/>
                <a:cs typeface="Courier New" panose="02070309020205020404" pitchFamily="49" charset="0"/>
              </a:rPr>
              <a:t>ORDER BY </a:t>
            </a:r>
            <a:r>
              <a:rPr lang="en-US" sz="1400" dirty="0" err="1">
                <a:latin typeface="Courier New" panose="02070309020205020404" pitchFamily="49" charset="0"/>
                <a:cs typeface="Courier New" panose="02070309020205020404" pitchFamily="49" charset="0"/>
              </a:rPr>
              <a:t>Efficiency_Ratio</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Route_ID</a:t>
            </a:r>
            <a:r>
              <a:rPr lang="en-US" sz="1400" dirty="0">
                <a:latin typeface="Courier New" panose="02070309020205020404" pitchFamily="49" charset="0"/>
                <a:cs typeface="Courier New" panose="02070309020205020404" pitchFamily="49" charset="0"/>
              </a:rPr>
              <a:t>;</a:t>
            </a:r>
            <a:endParaRPr lang="en-IN" sz="1400" b="1"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097659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E2EA4-A98C-8540-0902-F07E2D0177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E348FE-4723-EF9F-1177-20AE2611EC6E}"/>
              </a:ext>
            </a:extLst>
          </p:cNvPr>
          <p:cNvSpPr>
            <a:spLocks noGrp="1"/>
          </p:cNvSpPr>
          <p:nvPr>
            <p:ph type="title"/>
          </p:nvPr>
        </p:nvSpPr>
        <p:spPr>
          <a:xfrm>
            <a:off x="913795" y="106431"/>
            <a:ext cx="10353762" cy="721199"/>
          </a:xfrm>
        </p:spPr>
        <p:txBody>
          <a:bodyPr>
            <a:normAutofit/>
          </a:bodyPr>
          <a:lstStyle/>
          <a:p>
            <a:r>
              <a:rPr lang="en-US" sz="2800" b="1" dirty="0"/>
              <a:t>Top 3 Routes with the worst Efficiency Ratio</a:t>
            </a:r>
            <a:endParaRPr lang="en-IN" sz="2400" b="1" dirty="0"/>
          </a:p>
        </p:txBody>
      </p:sp>
      <p:pic>
        <p:nvPicPr>
          <p:cNvPr id="4" name="Picture 3">
            <a:extLst>
              <a:ext uri="{FF2B5EF4-FFF2-40B4-BE49-F238E27FC236}">
                <a16:creationId xmlns:a16="http://schemas.microsoft.com/office/drawing/2014/main" id="{1C0CEBE8-389C-AD81-5B3E-97353CC2B5A1}"/>
              </a:ext>
            </a:extLst>
          </p:cNvPr>
          <p:cNvPicPr>
            <a:picLocks noChangeAspect="1"/>
          </p:cNvPicPr>
          <p:nvPr/>
        </p:nvPicPr>
        <p:blipFill>
          <a:blip r:embed="rId2"/>
          <a:stretch>
            <a:fillRect/>
          </a:stretch>
        </p:blipFill>
        <p:spPr>
          <a:xfrm>
            <a:off x="3755923" y="1201993"/>
            <a:ext cx="7795035" cy="4058265"/>
          </a:xfrm>
          <a:prstGeom prst="rect">
            <a:avLst/>
          </a:prstGeom>
        </p:spPr>
      </p:pic>
      <p:pic>
        <p:nvPicPr>
          <p:cNvPr id="10" name="Content Placeholder 9">
            <a:extLst>
              <a:ext uri="{FF2B5EF4-FFF2-40B4-BE49-F238E27FC236}">
                <a16:creationId xmlns:a16="http://schemas.microsoft.com/office/drawing/2014/main" id="{8C5DCCC9-8C29-82C5-FD42-1A8DEAF2BB64}"/>
              </a:ext>
            </a:extLst>
          </p:cNvPr>
          <p:cNvPicPr>
            <a:picLocks noGrp="1" noChangeAspect="1"/>
          </p:cNvPicPr>
          <p:nvPr>
            <p:ph idx="1"/>
          </p:nvPr>
        </p:nvPicPr>
        <p:blipFill>
          <a:blip r:embed="rId3"/>
          <a:stretch>
            <a:fillRect/>
          </a:stretch>
        </p:blipFill>
        <p:spPr>
          <a:xfrm>
            <a:off x="641042" y="1201993"/>
            <a:ext cx="2677226" cy="1649362"/>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9585755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982D2-F823-C353-CA16-250DF62AF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7A516-84DB-EEE7-141B-6D6D542BE0F1}"/>
              </a:ext>
            </a:extLst>
          </p:cNvPr>
          <p:cNvSpPr>
            <a:spLocks noGrp="1"/>
          </p:cNvSpPr>
          <p:nvPr>
            <p:ph type="title"/>
          </p:nvPr>
        </p:nvSpPr>
        <p:spPr>
          <a:xfrm>
            <a:off x="402715" y="106431"/>
            <a:ext cx="11375922" cy="721199"/>
          </a:xfrm>
        </p:spPr>
        <p:txBody>
          <a:bodyPr>
            <a:normAutofit/>
          </a:bodyPr>
          <a:lstStyle/>
          <a:p>
            <a:r>
              <a:rPr lang="en-US" sz="2800" b="1" dirty="0"/>
              <a:t>Routes with more than 20% Delayed Shipments</a:t>
            </a:r>
            <a:endParaRPr lang="en-IN" sz="2400" b="1" dirty="0"/>
          </a:p>
        </p:txBody>
      </p:sp>
      <p:sp>
        <p:nvSpPr>
          <p:cNvPr id="3" name="Content Placeholder 2">
            <a:extLst>
              <a:ext uri="{FF2B5EF4-FFF2-40B4-BE49-F238E27FC236}">
                <a16:creationId xmlns:a16="http://schemas.microsoft.com/office/drawing/2014/main" id="{60E7D420-9F9E-149F-1EEE-6D69ADBBAC02}"/>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latin typeface="Courier New" panose="02070309020205020404" pitchFamily="49" charset="0"/>
                <a:cs typeface="Courier New" panose="02070309020205020404" pitchFamily="49" charset="0"/>
              </a:rPr>
              <a:t>SELECT </a:t>
            </a:r>
            <a:r>
              <a:rPr lang="en-IN" sz="1400" dirty="0" err="1">
                <a:latin typeface="Courier New" panose="02070309020205020404" pitchFamily="49" charset="0"/>
                <a:cs typeface="Courier New" panose="02070309020205020404" pitchFamily="49" charset="0"/>
              </a:rPr>
              <a:t>Route_ID</a:t>
            </a:r>
            <a:r>
              <a:rPr lang="en-IN"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Delayed_Orders_Per_Route</a:t>
            </a: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Total_Orders_Per_Route</a:t>
            </a:r>
            <a:r>
              <a:rPr lang="en-IN" sz="1400" dirty="0">
                <a:latin typeface="Courier New" panose="02070309020205020404" pitchFamily="49" charset="0"/>
                <a:cs typeface="Courier New" panose="02070309020205020404" pitchFamily="49" charset="0"/>
              </a:rPr>
              <a:t>,</a:t>
            </a:r>
          </a:p>
          <a:p>
            <a:pPr marL="36900" indent="0">
              <a:buNone/>
            </a:pPr>
            <a:r>
              <a:rPr lang="en-US" sz="1400" dirty="0">
                <a:latin typeface="Courier New" panose="02070309020205020404" pitchFamily="49" charset="0"/>
                <a:cs typeface="Courier New" panose="02070309020205020404" pitchFamily="49" charset="0"/>
              </a:rPr>
              <a:t>	CAST(100 * </a:t>
            </a:r>
            <a:r>
              <a:rPr lang="en-US" sz="1400" dirty="0" err="1">
                <a:latin typeface="Courier New" panose="02070309020205020404" pitchFamily="49" charset="0"/>
                <a:cs typeface="Courier New" panose="02070309020205020404" pitchFamily="49" charset="0"/>
              </a:rPr>
              <a:t>Delayed_Orders_Per_Route</a:t>
            </a:r>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Total_Orders_Per_Route</a:t>
            </a:r>
            <a:r>
              <a:rPr lang="en-US" sz="1400" dirty="0">
                <a:latin typeface="Courier New" panose="02070309020205020404" pitchFamily="49" charset="0"/>
                <a:cs typeface="Courier New" panose="02070309020205020404" pitchFamily="49" charset="0"/>
              </a:rPr>
              <a:t> AS DECIMAL(5,2) ) 	</a:t>
            </a:r>
            <a:r>
              <a:rPr lang="en-US" sz="1400" dirty="0" err="1">
                <a:latin typeface="Courier New" panose="02070309020205020404" pitchFamily="49" charset="0"/>
                <a:cs typeface="Courier New" panose="02070309020205020404" pitchFamily="49" charset="0"/>
              </a:rPr>
              <a:t>Delayed_Percentage</a:t>
            </a:r>
            <a:endParaRPr lang="en-US"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FROM</a:t>
            </a:r>
          </a:p>
          <a:p>
            <a:pPr marL="36900" indent="0">
              <a:buNone/>
            </a:pPr>
            <a:r>
              <a:rPr lang="en-IN" sz="1400" dirty="0">
                <a:latin typeface="Courier New" panose="02070309020205020404" pitchFamily="49" charset="0"/>
                <a:cs typeface="Courier New" panose="02070309020205020404" pitchFamily="49" charset="0"/>
              </a:rPr>
              <a:t>	(SELECT </a:t>
            </a:r>
            <a:r>
              <a:rPr lang="en-IN" sz="1400" dirty="0" err="1">
                <a:latin typeface="Courier New" panose="02070309020205020404" pitchFamily="49" charset="0"/>
                <a:cs typeface="Courier New" panose="02070309020205020404" pitchFamily="49" charset="0"/>
              </a:rPr>
              <a:t>Route_ID</a:t>
            </a:r>
            <a:r>
              <a:rPr lang="en-IN" sz="1400" dirty="0">
                <a:latin typeface="Courier New" panose="02070309020205020404" pitchFamily="49" charset="0"/>
                <a:cs typeface="Courier New" panose="02070309020205020404" pitchFamily="49" charset="0"/>
              </a:rPr>
              <a:t>,</a:t>
            </a:r>
          </a:p>
          <a:p>
            <a:pPr marL="36900" indent="0">
              <a:buNone/>
            </a:pPr>
            <a:r>
              <a:rPr lang="en-US" sz="1400" dirty="0">
                <a:latin typeface="Courier New" panose="02070309020205020404" pitchFamily="49" charset="0"/>
                <a:cs typeface="Courier New" panose="02070309020205020404" pitchFamily="49" charset="0"/>
              </a:rPr>
              <a:t>		COUNT(*) </a:t>
            </a:r>
            <a:r>
              <a:rPr lang="en-US" sz="1400" dirty="0" err="1">
                <a:latin typeface="Courier New" panose="02070309020205020404" pitchFamily="49" charset="0"/>
                <a:cs typeface="Courier New" panose="02070309020205020404" pitchFamily="49" charset="0"/>
              </a:rPr>
              <a:t>Total_Orders_Per_Route</a:t>
            </a:r>
            <a:r>
              <a:rPr lang="en-US"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SUM(CASE </a:t>
            </a:r>
            <a:r>
              <a:rPr lang="en-US" sz="1400" dirty="0">
                <a:latin typeface="Courier New" panose="02070309020205020404" pitchFamily="49" charset="0"/>
                <a:cs typeface="Courier New" panose="02070309020205020404" pitchFamily="49" charset="0"/>
              </a:rPr>
              <a:t>WHEN </a:t>
            </a:r>
            <a:r>
              <a:rPr lang="en-US" sz="1400" dirty="0" err="1">
                <a:latin typeface="Courier New" panose="02070309020205020404" pitchFamily="49" charset="0"/>
                <a:cs typeface="Courier New" panose="02070309020205020404" pitchFamily="49" charset="0"/>
              </a:rPr>
              <a:t>Delivery_Status</a:t>
            </a:r>
            <a:r>
              <a:rPr lang="en-US" sz="1400" dirty="0">
                <a:latin typeface="Courier New" panose="02070309020205020404" pitchFamily="49" charset="0"/>
                <a:cs typeface="Courier New" panose="02070309020205020404" pitchFamily="49" charset="0"/>
              </a:rPr>
              <a:t> = 'Delayed' THEN 1</a:t>
            </a:r>
          </a:p>
          <a:p>
            <a:pPr marL="36900" indent="0">
              <a:buNone/>
            </a:pPr>
            <a:r>
              <a:rPr lang="en-IN" sz="1400" dirty="0">
                <a:latin typeface="Courier New" panose="02070309020205020404" pitchFamily="49" charset="0"/>
                <a:cs typeface="Courier New" panose="02070309020205020404" pitchFamily="49" charset="0"/>
              </a:rPr>
              <a:t>			ELSE 0</a:t>
            </a:r>
          </a:p>
          <a:p>
            <a:pPr marL="36900" indent="0">
              <a:buNone/>
            </a:pPr>
            <a:r>
              <a:rPr lang="en-US" sz="1400" dirty="0">
                <a:latin typeface="Courier New" panose="02070309020205020404" pitchFamily="49" charset="0"/>
                <a:cs typeface="Courier New" panose="02070309020205020404" pitchFamily="49" charset="0"/>
              </a:rPr>
              <a:t>		END) AS </a:t>
            </a:r>
            <a:r>
              <a:rPr lang="en-US" sz="1400" dirty="0" err="1">
                <a:latin typeface="Courier New" panose="02070309020205020404" pitchFamily="49" charset="0"/>
                <a:cs typeface="Courier New" panose="02070309020205020404" pitchFamily="49" charset="0"/>
              </a:rPr>
              <a:t>Delayed_Orders_Per_Route</a:t>
            </a:r>
            <a:endParaRPr lang="en-IN"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	FROM UPS.[Orders ]</a:t>
            </a:r>
          </a:p>
          <a:p>
            <a:pPr marL="36900" indent="0">
              <a:buNone/>
            </a:pPr>
            <a:r>
              <a:rPr lang="en-US" sz="1400" dirty="0">
                <a:latin typeface="Courier New" panose="02070309020205020404" pitchFamily="49" charset="0"/>
                <a:cs typeface="Courier New" panose="02070309020205020404" pitchFamily="49" charset="0"/>
              </a:rPr>
              <a:t>	GROUP BY </a:t>
            </a:r>
            <a:r>
              <a:rPr lang="en-US" sz="1400" dirty="0" err="1">
                <a:latin typeface="Courier New" panose="02070309020205020404" pitchFamily="49" charset="0"/>
                <a:cs typeface="Courier New" panose="02070309020205020404" pitchFamily="49" charset="0"/>
              </a:rPr>
              <a:t>Route_ID</a:t>
            </a:r>
            <a:r>
              <a:rPr lang="en-US" sz="1400" dirty="0">
                <a:latin typeface="Courier New" panose="02070309020205020404" pitchFamily="49" charset="0"/>
                <a:cs typeface="Courier New" panose="02070309020205020404" pitchFamily="49" charset="0"/>
              </a:rPr>
              <a:t> ) t</a:t>
            </a:r>
          </a:p>
          <a:p>
            <a:pPr marL="36900" indent="0">
              <a:buNone/>
            </a:pPr>
            <a:r>
              <a:rPr lang="en-US" sz="1400" dirty="0">
                <a:latin typeface="Courier New" panose="02070309020205020404" pitchFamily="49" charset="0"/>
                <a:cs typeface="Courier New" panose="02070309020205020404" pitchFamily="49" charset="0"/>
              </a:rPr>
              <a:t>ORDER BY </a:t>
            </a:r>
            <a:r>
              <a:rPr lang="en-US" sz="1400" dirty="0" err="1">
                <a:latin typeface="Courier New" panose="02070309020205020404" pitchFamily="49" charset="0"/>
                <a:cs typeface="Courier New" panose="02070309020205020404" pitchFamily="49" charset="0"/>
              </a:rPr>
              <a:t>Delayed_Percentage</a:t>
            </a:r>
            <a:r>
              <a:rPr lang="en-US" sz="1400" dirty="0">
                <a:latin typeface="Courier New" panose="02070309020205020404" pitchFamily="49" charset="0"/>
                <a:cs typeface="Courier New" panose="02070309020205020404" pitchFamily="49" charset="0"/>
              </a:rPr>
              <a:t> DESC, </a:t>
            </a:r>
            <a:r>
              <a:rPr lang="en-US" sz="1400" dirty="0" err="1">
                <a:latin typeface="Courier New" panose="02070309020205020404" pitchFamily="49" charset="0"/>
                <a:cs typeface="Courier New" panose="02070309020205020404" pitchFamily="49" charset="0"/>
              </a:rPr>
              <a:t>Route_ID</a:t>
            </a:r>
            <a:r>
              <a:rPr lang="en-US" sz="1400" dirty="0">
                <a:latin typeface="Courier New" panose="02070309020205020404" pitchFamily="49" charset="0"/>
                <a:cs typeface="Courier New" panose="02070309020205020404" pitchFamily="49" charset="0"/>
              </a:rPr>
              <a:t>;</a:t>
            </a:r>
            <a:endParaRPr lang="en-IN" sz="1400" b="1"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7342726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3A7AC-E5BF-3D8D-0ED9-80E0F3FE81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F4E2E-C9A4-DF20-EE97-D92C825192C8}"/>
              </a:ext>
            </a:extLst>
          </p:cNvPr>
          <p:cNvSpPr>
            <a:spLocks noGrp="1"/>
          </p:cNvSpPr>
          <p:nvPr>
            <p:ph type="title"/>
          </p:nvPr>
        </p:nvSpPr>
        <p:spPr>
          <a:xfrm>
            <a:off x="913795" y="106431"/>
            <a:ext cx="10353762" cy="721199"/>
          </a:xfrm>
        </p:spPr>
        <p:txBody>
          <a:bodyPr>
            <a:normAutofit/>
          </a:bodyPr>
          <a:lstStyle/>
          <a:p>
            <a:r>
              <a:rPr lang="en-US" sz="2800" b="1" dirty="0"/>
              <a:t>Routes with more than 20% Delayed Shipments</a:t>
            </a:r>
            <a:endParaRPr lang="en-IN" sz="2400" b="1" dirty="0"/>
          </a:p>
        </p:txBody>
      </p:sp>
      <p:pic>
        <p:nvPicPr>
          <p:cNvPr id="7" name="Content Placeholder 6">
            <a:extLst>
              <a:ext uri="{FF2B5EF4-FFF2-40B4-BE49-F238E27FC236}">
                <a16:creationId xmlns:a16="http://schemas.microsoft.com/office/drawing/2014/main" id="{222272C8-B9D6-422E-D4F7-C684E2A5CDD4}"/>
              </a:ext>
            </a:extLst>
          </p:cNvPr>
          <p:cNvPicPr>
            <a:picLocks noGrp="1" noChangeAspect="1"/>
          </p:cNvPicPr>
          <p:nvPr>
            <p:ph idx="1"/>
          </p:nvPr>
        </p:nvPicPr>
        <p:blipFill>
          <a:blip r:embed="rId2"/>
          <a:stretch>
            <a:fillRect/>
          </a:stretch>
        </p:blipFill>
        <p:spPr>
          <a:xfrm>
            <a:off x="2478401" y="901770"/>
            <a:ext cx="7224550" cy="5682651"/>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7082582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70F12-EE1E-1919-BB00-A651F19AB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D3753E-258A-4C4F-B656-6FBD26D8BA6C}"/>
              </a:ext>
            </a:extLst>
          </p:cNvPr>
          <p:cNvSpPr>
            <a:spLocks noGrp="1"/>
          </p:cNvSpPr>
          <p:nvPr>
            <p:ph type="title"/>
          </p:nvPr>
        </p:nvSpPr>
        <p:spPr>
          <a:xfrm>
            <a:off x="913795" y="106431"/>
            <a:ext cx="10353762" cy="721199"/>
          </a:xfrm>
        </p:spPr>
        <p:txBody>
          <a:bodyPr>
            <a:normAutofit/>
          </a:bodyPr>
          <a:lstStyle/>
          <a:p>
            <a:r>
              <a:rPr lang="en-US" sz="2800" b="1" dirty="0"/>
              <a:t>Routes with more than 20% Delayed Shipments</a:t>
            </a:r>
            <a:endParaRPr lang="en-IN" sz="2400" b="1" dirty="0"/>
          </a:p>
        </p:txBody>
      </p:sp>
      <p:pic>
        <p:nvPicPr>
          <p:cNvPr id="6" name="Content Placeholder 5">
            <a:extLst>
              <a:ext uri="{FF2B5EF4-FFF2-40B4-BE49-F238E27FC236}">
                <a16:creationId xmlns:a16="http://schemas.microsoft.com/office/drawing/2014/main" id="{875D65E4-87D1-2C8B-4FDC-1C198FF858DF}"/>
              </a:ext>
            </a:extLst>
          </p:cNvPr>
          <p:cNvPicPr>
            <a:picLocks noGrp="1" noChangeAspect="1"/>
          </p:cNvPicPr>
          <p:nvPr>
            <p:ph idx="1"/>
          </p:nvPr>
        </p:nvPicPr>
        <p:blipFill>
          <a:blip r:embed="rId2"/>
          <a:stretch>
            <a:fillRect/>
          </a:stretch>
        </p:blipFill>
        <p:spPr>
          <a:xfrm>
            <a:off x="924443" y="827630"/>
            <a:ext cx="10353762" cy="5703482"/>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574940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56B5D-3DD4-10FB-6C9C-4FA9234DE782}"/>
              </a:ext>
            </a:extLst>
          </p:cNvPr>
          <p:cNvSpPr>
            <a:spLocks noGrp="1"/>
          </p:cNvSpPr>
          <p:nvPr>
            <p:ph type="title"/>
          </p:nvPr>
        </p:nvSpPr>
        <p:spPr/>
        <p:txBody>
          <a:bodyPr/>
          <a:lstStyle/>
          <a:p>
            <a:r>
              <a:rPr lang="en-US" b="1" dirty="0"/>
              <a:t>Recommendations – Routes Performance</a:t>
            </a:r>
            <a:endParaRPr lang="en-IN" b="1" dirty="0"/>
          </a:p>
        </p:txBody>
      </p:sp>
      <p:sp>
        <p:nvSpPr>
          <p:cNvPr id="3" name="Content Placeholder 2">
            <a:extLst>
              <a:ext uri="{FF2B5EF4-FFF2-40B4-BE49-F238E27FC236}">
                <a16:creationId xmlns:a16="http://schemas.microsoft.com/office/drawing/2014/main" id="{57ED0B90-517E-7115-1EBE-7DAF12EF416D}"/>
              </a:ext>
            </a:extLst>
          </p:cNvPr>
          <p:cNvSpPr>
            <a:spLocks noGrp="1"/>
          </p:cNvSpPr>
          <p:nvPr>
            <p:ph idx="1"/>
          </p:nvPr>
        </p:nvSpPr>
        <p:spPr>
          <a:xfrm>
            <a:off x="913795" y="1671485"/>
            <a:ext cx="10353762" cy="4945625"/>
          </a:xfrm>
        </p:spPr>
        <p:txBody>
          <a:bodyPr>
            <a:normAutofit fontScale="77500" lnSpcReduction="20000"/>
          </a:bodyPr>
          <a:lstStyle/>
          <a:p>
            <a:pPr>
              <a:lnSpc>
                <a:spcPct val="160000"/>
              </a:lnSpc>
            </a:pPr>
            <a:r>
              <a:rPr lang="en-US" sz="2100" b="1" dirty="0">
                <a:effectLst/>
              </a:rPr>
              <a:t>R016, R006, and R008 need urgent improvement</a:t>
            </a:r>
            <a:r>
              <a:rPr lang="en-US" sz="2100" dirty="0">
                <a:effectLst/>
              </a:rPr>
              <a:t> because they have the worst efficiency ratios. This means they take more time compared to the distance covered, so route planning or road conditions should be reviewed.</a:t>
            </a:r>
          </a:p>
          <a:p>
            <a:pPr>
              <a:lnSpc>
                <a:spcPct val="160000"/>
              </a:lnSpc>
            </a:pPr>
            <a:r>
              <a:rPr lang="en-US" sz="2100" b="1" dirty="0">
                <a:effectLst/>
              </a:rPr>
              <a:t>Routes like R020 and R012 show very high delay percentages</a:t>
            </a:r>
            <a:r>
              <a:rPr lang="en-US" sz="2100" dirty="0">
                <a:effectLst/>
              </a:rPr>
              <a:t>, so delivery schedules on these routes should be rechecked and buffer time may be required.</a:t>
            </a:r>
          </a:p>
          <a:p>
            <a:pPr>
              <a:lnSpc>
                <a:spcPct val="160000"/>
              </a:lnSpc>
            </a:pPr>
            <a:r>
              <a:rPr lang="en-US" sz="2100" b="1" dirty="0">
                <a:effectLst/>
              </a:rPr>
              <a:t>R014 and R007 have high traffic delays</a:t>
            </a:r>
            <a:r>
              <a:rPr lang="en-US" sz="2100" dirty="0">
                <a:effectLst/>
              </a:rPr>
              <a:t>, which indicates congestion issues. Alternative roads or different delivery time slots (non-peak hours) can reduce delay.</a:t>
            </a:r>
          </a:p>
          <a:p>
            <a:pPr>
              <a:lnSpc>
                <a:spcPct val="160000"/>
              </a:lnSpc>
            </a:pPr>
            <a:r>
              <a:rPr lang="en-US" sz="2100" b="1" dirty="0">
                <a:effectLst/>
              </a:rPr>
              <a:t>Routes with high delivery time but moderate distance (like R015 and R017)</a:t>
            </a:r>
            <a:r>
              <a:rPr lang="en-US" sz="2100" dirty="0">
                <a:effectLst/>
              </a:rPr>
              <a:t> suggest operational inefficiency, so driver performance or stop management should be analyzed.</a:t>
            </a:r>
          </a:p>
          <a:p>
            <a:pPr>
              <a:lnSpc>
                <a:spcPct val="160000"/>
              </a:lnSpc>
            </a:pPr>
            <a:r>
              <a:rPr lang="en-US" sz="2100" b="1" dirty="0">
                <a:effectLst/>
              </a:rPr>
              <a:t>Routes with low efficiency but high delay % should be prioritized first</a:t>
            </a:r>
            <a:r>
              <a:rPr lang="en-US" sz="2100" dirty="0">
                <a:effectLst/>
              </a:rPr>
              <a:t>, as they impact both speed and service reliability.</a:t>
            </a:r>
          </a:p>
          <a:p>
            <a:pPr>
              <a:lnSpc>
                <a:spcPct val="160000"/>
              </a:lnSpc>
            </a:pPr>
            <a:r>
              <a:rPr lang="en-US" sz="2100" dirty="0">
                <a:effectLst/>
              </a:rPr>
              <a:t>Overall, combining </a:t>
            </a:r>
            <a:r>
              <a:rPr lang="en-US" sz="2100" b="1" dirty="0">
                <a:effectLst/>
              </a:rPr>
              <a:t>traffic management, route redesign, and schedule adjustment</a:t>
            </a:r>
            <a:r>
              <a:rPr lang="en-US" sz="2100" dirty="0">
                <a:effectLst/>
              </a:rPr>
              <a:t> can significantly improve delivery performance on the identified routes.</a:t>
            </a:r>
          </a:p>
          <a:p>
            <a:endParaRPr lang="en-IN" dirty="0"/>
          </a:p>
        </p:txBody>
      </p:sp>
    </p:spTree>
    <p:extLst>
      <p:ext uri="{BB962C8B-B14F-4D97-AF65-F5344CB8AC3E}">
        <p14:creationId xmlns:p14="http://schemas.microsoft.com/office/powerpoint/2010/main" val="18361642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AAD0A-B7DB-0755-24FC-8FC65012DC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F28D2D-5443-7123-BCDA-E84188C4E09D}"/>
              </a:ext>
            </a:extLst>
          </p:cNvPr>
          <p:cNvSpPr>
            <a:spLocks noGrp="1"/>
          </p:cNvSpPr>
          <p:nvPr>
            <p:ph type="title"/>
          </p:nvPr>
        </p:nvSpPr>
        <p:spPr/>
        <p:txBody>
          <a:bodyPr>
            <a:normAutofit/>
          </a:bodyPr>
          <a:lstStyle/>
          <a:p>
            <a:r>
              <a:rPr lang="en-US" dirty="0"/>
              <a:t>Task 4: </a:t>
            </a:r>
            <a:r>
              <a:rPr lang="en-IN" dirty="0"/>
              <a:t>Warehouse Performance</a:t>
            </a:r>
            <a:endParaRPr lang="en-IN" sz="4000" dirty="0"/>
          </a:p>
        </p:txBody>
      </p:sp>
      <p:sp>
        <p:nvSpPr>
          <p:cNvPr id="3" name="Content Placeholder 2">
            <a:extLst>
              <a:ext uri="{FF2B5EF4-FFF2-40B4-BE49-F238E27FC236}">
                <a16:creationId xmlns:a16="http://schemas.microsoft.com/office/drawing/2014/main" id="{775210E1-1515-5AEF-1C17-A1E32C27F2CA}"/>
              </a:ext>
            </a:extLst>
          </p:cNvPr>
          <p:cNvSpPr>
            <a:spLocks noGrp="1"/>
          </p:cNvSpPr>
          <p:nvPr>
            <p:ph idx="1"/>
          </p:nvPr>
        </p:nvSpPr>
        <p:spPr>
          <a:xfrm>
            <a:off x="979100" y="1540489"/>
            <a:ext cx="10233800" cy="4351338"/>
          </a:xfrm>
        </p:spPr>
        <p:txBody>
          <a:bodyPr>
            <a:normAutofit fontScale="92500" lnSpcReduction="20000"/>
          </a:bodyPr>
          <a:lstStyle/>
          <a:p>
            <a:pPr>
              <a:lnSpc>
                <a:spcPct val="150000"/>
              </a:lnSpc>
            </a:pPr>
            <a:r>
              <a:rPr lang="en-IN" sz="2200" b="1" dirty="0"/>
              <a:t>Objective:</a:t>
            </a:r>
            <a:br>
              <a:rPr lang="en-IN" dirty="0"/>
            </a:br>
            <a:r>
              <a:rPr lang="en-US" sz="1900" dirty="0"/>
              <a:t>Evaluate warehouse performance to identify processing inefficiencies, delay contributors, and operational bottlenecks. This enables data-driven decisions for warehouse optimization and resource planning.</a:t>
            </a:r>
          </a:p>
          <a:p>
            <a:r>
              <a:rPr lang="en-US" sz="2200" b="1" dirty="0"/>
              <a:t>Subtasks Covered:</a:t>
            </a:r>
          </a:p>
          <a:p>
            <a:pPr lvl="1">
              <a:buFont typeface="Arial" panose="020B0604020202020204" pitchFamily="34" charset="0"/>
              <a:buChar char="•"/>
            </a:pPr>
            <a:r>
              <a:rPr lang="en-US" sz="1900" dirty="0"/>
              <a:t>Calculate average processing time for each warehouse to measure operational speed.</a:t>
            </a:r>
          </a:p>
          <a:p>
            <a:pPr lvl="1">
              <a:buFont typeface="Arial" panose="020B0604020202020204" pitchFamily="34" charset="0"/>
              <a:buChar char="•"/>
            </a:pPr>
            <a:r>
              <a:rPr lang="en-US" sz="1900" dirty="0"/>
              <a:t>Identify the top 3 warehouses with the highest average processing time to detect slow-performing facilities.</a:t>
            </a:r>
          </a:p>
          <a:p>
            <a:pPr lvl="1">
              <a:buFont typeface="Arial" panose="020B0604020202020204" pitchFamily="34" charset="0"/>
              <a:buChar char="•"/>
            </a:pPr>
            <a:r>
              <a:rPr lang="en-US" sz="1900" dirty="0"/>
              <a:t>Compute total shipments vs. delayed shipments for every warehouse to assess reliability.</a:t>
            </a:r>
          </a:p>
          <a:p>
            <a:pPr lvl="1">
              <a:buFont typeface="Arial" panose="020B0604020202020204" pitchFamily="34" charset="0"/>
              <a:buChar char="•"/>
            </a:pPr>
            <a:r>
              <a:rPr lang="en-US" sz="1900" dirty="0"/>
              <a:t>Use CTEs to find bottleneck warehouses where processing time exceeds the global system average.</a:t>
            </a:r>
          </a:p>
          <a:p>
            <a:pPr lvl="1">
              <a:buFont typeface="Arial" panose="020B0604020202020204" pitchFamily="34" charset="0"/>
              <a:buChar char="•"/>
            </a:pPr>
            <a:r>
              <a:rPr lang="en-US" sz="1900" dirty="0"/>
              <a:t>Rank warehouses based on on-time delivery percentage to compare performance levels.</a:t>
            </a:r>
          </a:p>
        </p:txBody>
      </p:sp>
    </p:spTree>
    <p:extLst>
      <p:ext uri="{BB962C8B-B14F-4D97-AF65-F5344CB8AC3E}">
        <p14:creationId xmlns:p14="http://schemas.microsoft.com/office/powerpoint/2010/main" val="17775049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B34CD-63A1-3763-E2E8-46CCCF5119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D6E7DF-5995-57E0-0C0D-0224B295E42C}"/>
              </a:ext>
            </a:extLst>
          </p:cNvPr>
          <p:cNvSpPr>
            <a:spLocks noGrp="1"/>
          </p:cNvSpPr>
          <p:nvPr>
            <p:ph type="title"/>
          </p:nvPr>
        </p:nvSpPr>
        <p:spPr>
          <a:xfrm>
            <a:off x="402715" y="106431"/>
            <a:ext cx="11375922" cy="721199"/>
          </a:xfrm>
        </p:spPr>
        <p:txBody>
          <a:bodyPr>
            <a:normAutofit/>
          </a:bodyPr>
          <a:lstStyle/>
          <a:p>
            <a:r>
              <a:rPr lang="en-US" sz="2800" b="1" dirty="0"/>
              <a:t>Top 3 Warehouses with the Highest Average Processing Time</a:t>
            </a:r>
            <a:endParaRPr lang="en-IN" sz="2400" b="1" dirty="0"/>
          </a:p>
        </p:txBody>
      </p:sp>
      <p:sp>
        <p:nvSpPr>
          <p:cNvPr id="3" name="Content Placeholder 2">
            <a:extLst>
              <a:ext uri="{FF2B5EF4-FFF2-40B4-BE49-F238E27FC236}">
                <a16:creationId xmlns:a16="http://schemas.microsoft.com/office/drawing/2014/main" id="{72D37763-B267-26B9-929B-F6F42E1B7750}"/>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latin typeface="Courier New" panose="02070309020205020404" pitchFamily="49" charset="0"/>
                <a:cs typeface="Courier New" panose="02070309020205020404" pitchFamily="49" charset="0"/>
              </a:rPr>
              <a:t>SELECT TOP 3</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Warehouse_ID</a:t>
            </a:r>
            <a:r>
              <a:rPr lang="en-IN" sz="1400" dirty="0">
                <a:latin typeface="Courier New" panose="02070309020205020404" pitchFamily="49" charset="0"/>
                <a:cs typeface="Courier New" panose="02070309020205020404" pitchFamily="49" charset="0"/>
              </a:rPr>
              <a:t>,</a:t>
            </a:r>
          </a:p>
          <a:p>
            <a:pPr marL="36900" indent="0">
              <a:buNone/>
            </a:pPr>
            <a:r>
              <a:rPr lang="en-US" sz="1400" dirty="0">
                <a:latin typeface="Courier New" panose="02070309020205020404" pitchFamily="49" charset="0"/>
                <a:cs typeface="Courier New" panose="02070309020205020404" pitchFamily="49" charset="0"/>
              </a:rPr>
              <a:t>	AVG(</a:t>
            </a:r>
            <a:r>
              <a:rPr lang="en-US" sz="1400" dirty="0" err="1">
                <a:latin typeface="Courier New" panose="02070309020205020404" pitchFamily="49" charset="0"/>
                <a:cs typeface="Courier New" panose="02070309020205020404" pitchFamily="49" charset="0"/>
              </a:rPr>
              <a:t>Processing_Time_Min</a:t>
            </a:r>
            <a:r>
              <a:rPr lang="en-US" sz="1400" dirty="0">
                <a:latin typeface="Courier New" panose="02070309020205020404" pitchFamily="49" charset="0"/>
                <a:cs typeface="Courier New" panose="02070309020205020404" pitchFamily="49" charset="0"/>
              </a:rPr>
              <a:t>) AS Top_3_avg_processing_time</a:t>
            </a:r>
          </a:p>
          <a:p>
            <a:pPr marL="36900" indent="0">
              <a:buNone/>
            </a:pPr>
            <a:r>
              <a:rPr lang="en-IN" sz="1400" dirty="0">
                <a:latin typeface="Courier New" panose="02070309020205020404" pitchFamily="49" charset="0"/>
                <a:cs typeface="Courier New" panose="02070309020205020404" pitchFamily="49" charset="0"/>
              </a:rPr>
              <a:t>FROM UPS.[Warehouses ]</a:t>
            </a:r>
          </a:p>
          <a:p>
            <a:pPr marL="36900" indent="0">
              <a:buNone/>
            </a:pPr>
            <a:r>
              <a:rPr lang="en-IN" sz="1400" dirty="0">
                <a:latin typeface="Courier New" panose="02070309020205020404" pitchFamily="49" charset="0"/>
                <a:cs typeface="Courier New" panose="02070309020205020404" pitchFamily="49" charset="0"/>
              </a:rPr>
              <a:t>GROUP BY </a:t>
            </a:r>
            <a:r>
              <a:rPr lang="en-IN" sz="1400" dirty="0" err="1">
                <a:latin typeface="Courier New" panose="02070309020205020404" pitchFamily="49" charset="0"/>
                <a:cs typeface="Courier New" panose="02070309020205020404" pitchFamily="49" charset="0"/>
              </a:rPr>
              <a:t>Warehouse_ID</a:t>
            </a:r>
            <a:endParaRPr lang="en-IN" sz="1400" dirty="0">
              <a:latin typeface="Courier New" panose="02070309020205020404" pitchFamily="49" charset="0"/>
              <a:cs typeface="Courier New" panose="02070309020205020404" pitchFamily="49" charset="0"/>
            </a:endParaRPr>
          </a:p>
          <a:p>
            <a:pPr marL="36900" indent="0">
              <a:buNone/>
            </a:pPr>
            <a:r>
              <a:rPr lang="en-US" sz="1400" dirty="0">
                <a:latin typeface="Courier New" panose="02070309020205020404" pitchFamily="49" charset="0"/>
                <a:cs typeface="Courier New" panose="02070309020205020404" pitchFamily="49" charset="0"/>
              </a:rPr>
              <a:t>ORDER BY AVG(</a:t>
            </a:r>
            <a:r>
              <a:rPr lang="en-US" sz="1400" dirty="0" err="1">
                <a:latin typeface="Courier New" panose="02070309020205020404" pitchFamily="49" charset="0"/>
                <a:cs typeface="Courier New" panose="02070309020205020404" pitchFamily="49" charset="0"/>
              </a:rPr>
              <a:t>Processing_Time_Min</a:t>
            </a:r>
            <a:r>
              <a:rPr lang="en-US" sz="1400" dirty="0">
                <a:latin typeface="Courier New" panose="02070309020205020404" pitchFamily="49" charset="0"/>
                <a:cs typeface="Courier New" panose="02070309020205020404" pitchFamily="49" charset="0"/>
              </a:rPr>
              <a:t>) DESC, </a:t>
            </a:r>
            <a:r>
              <a:rPr lang="en-US" sz="1400" dirty="0" err="1">
                <a:latin typeface="Courier New" panose="02070309020205020404" pitchFamily="49" charset="0"/>
                <a:cs typeface="Courier New" panose="02070309020205020404" pitchFamily="49" charset="0"/>
              </a:rPr>
              <a:t>Warehouse_ID</a:t>
            </a:r>
            <a:r>
              <a:rPr lang="en-US" sz="1400" dirty="0">
                <a:latin typeface="Courier New" panose="02070309020205020404" pitchFamily="49" charset="0"/>
                <a:cs typeface="Courier New" panose="02070309020205020404" pitchFamily="49" charset="0"/>
              </a:rPr>
              <a:t>;</a:t>
            </a:r>
            <a:endParaRPr lang="en-IN" sz="1400" b="1" dirty="0">
              <a:solidFill>
                <a:schemeClr val="tx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468182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A942A-ABE5-72C5-C905-91C0D0F881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9D247F-CC49-DA48-67AC-309C15D31F55}"/>
              </a:ext>
            </a:extLst>
          </p:cNvPr>
          <p:cNvSpPr>
            <a:spLocks noGrp="1"/>
          </p:cNvSpPr>
          <p:nvPr>
            <p:ph type="title"/>
          </p:nvPr>
        </p:nvSpPr>
        <p:spPr>
          <a:xfrm>
            <a:off x="913795" y="106431"/>
            <a:ext cx="10353762" cy="721199"/>
          </a:xfrm>
        </p:spPr>
        <p:txBody>
          <a:bodyPr>
            <a:normAutofit/>
          </a:bodyPr>
          <a:lstStyle/>
          <a:p>
            <a:r>
              <a:rPr lang="en-US" sz="2800" b="1" dirty="0"/>
              <a:t>Top 3 Warehouses with the Highest Average Processing Time</a:t>
            </a:r>
            <a:endParaRPr lang="en-IN" sz="2400" b="1" dirty="0"/>
          </a:p>
        </p:txBody>
      </p:sp>
      <p:pic>
        <p:nvPicPr>
          <p:cNvPr id="7" name="Content Placeholder 6">
            <a:extLst>
              <a:ext uri="{FF2B5EF4-FFF2-40B4-BE49-F238E27FC236}">
                <a16:creationId xmlns:a16="http://schemas.microsoft.com/office/drawing/2014/main" id="{0EB277DC-9A29-15CA-5669-7BB642A647F5}"/>
              </a:ext>
            </a:extLst>
          </p:cNvPr>
          <p:cNvPicPr>
            <a:picLocks noGrp="1" noChangeAspect="1"/>
          </p:cNvPicPr>
          <p:nvPr>
            <p:ph idx="1"/>
          </p:nvPr>
        </p:nvPicPr>
        <p:blipFill>
          <a:blip r:embed="rId2"/>
          <a:stretch>
            <a:fillRect/>
          </a:stretch>
        </p:blipFill>
        <p:spPr>
          <a:xfrm>
            <a:off x="2074606" y="1111607"/>
            <a:ext cx="3628103" cy="5296001"/>
          </a:xfrm>
          <a:prstGeom prst="rect">
            <a:avLst/>
          </a:prstGeom>
          <a:effectLst>
            <a:outerShdw blurRad="25400" dir="17880000">
              <a:srgbClr val="000000">
                <a:alpha val="46000"/>
              </a:srgbClr>
            </a:outerShdw>
          </a:effectLst>
        </p:spPr>
      </p:pic>
      <p:pic>
        <p:nvPicPr>
          <p:cNvPr id="9" name="Picture 8">
            <a:extLst>
              <a:ext uri="{FF2B5EF4-FFF2-40B4-BE49-F238E27FC236}">
                <a16:creationId xmlns:a16="http://schemas.microsoft.com/office/drawing/2014/main" id="{DDC36FAB-62F4-6DDC-42B0-0481A11F2B41}"/>
              </a:ext>
            </a:extLst>
          </p:cNvPr>
          <p:cNvPicPr>
            <a:picLocks noChangeAspect="1"/>
          </p:cNvPicPr>
          <p:nvPr/>
        </p:nvPicPr>
        <p:blipFill>
          <a:blip r:embed="rId3"/>
          <a:stretch>
            <a:fillRect/>
          </a:stretch>
        </p:blipFill>
        <p:spPr>
          <a:xfrm>
            <a:off x="6090676" y="1111607"/>
            <a:ext cx="4753694" cy="1779077"/>
          </a:xfrm>
          <a:prstGeom prst="rect">
            <a:avLst/>
          </a:prstGeom>
        </p:spPr>
      </p:pic>
    </p:spTree>
    <p:extLst>
      <p:ext uri="{BB962C8B-B14F-4D97-AF65-F5344CB8AC3E}">
        <p14:creationId xmlns:p14="http://schemas.microsoft.com/office/powerpoint/2010/main" val="22077736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A124C-9A96-5277-7B07-B5208C8A6F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0FBAE-9B01-8366-3078-679841B1B536}"/>
              </a:ext>
            </a:extLst>
          </p:cNvPr>
          <p:cNvSpPr>
            <a:spLocks noGrp="1"/>
          </p:cNvSpPr>
          <p:nvPr>
            <p:ph type="title"/>
          </p:nvPr>
        </p:nvSpPr>
        <p:spPr>
          <a:xfrm>
            <a:off x="402715" y="106431"/>
            <a:ext cx="11375922" cy="721199"/>
          </a:xfrm>
        </p:spPr>
        <p:txBody>
          <a:bodyPr>
            <a:normAutofit/>
          </a:bodyPr>
          <a:lstStyle/>
          <a:p>
            <a:r>
              <a:rPr lang="en-US" sz="2800" b="1" dirty="0"/>
              <a:t>Total vs. Delayed Orders per Warehouse</a:t>
            </a:r>
            <a:endParaRPr lang="en-IN" sz="2400" b="1" dirty="0"/>
          </a:p>
        </p:txBody>
      </p:sp>
      <p:sp>
        <p:nvSpPr>
          <p:cNvPr id="3" name="Content Placeholder 2">
            <a:extLst>
              <a:ext uri="{FF2B5EF4-FFF2-40B4-BE49-F238E27FC236}">
                <a16:creationId xmlns:a16="http://schemas.microsoft.com/office/drawing/2014/main" id="{2BA78A35-3BA2-5690-18BF-4C02F5264918}"/>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effectLst/>
                <a:latin typeface="Courier New" panose="02070309020205020404" pitchFamily="49" charset="0"/>
                <a:cs typeface="Courier New" panose="02070309020205020404" pitchFamily="49" charset="0"/>
              </a:rPr>
              <a:t>SELECT </a:t>
            </a:r>
          </a:p>
          <a:p>
            <a:pPr marL="36900" indent="0">
              <a:buNone/>
            </a:pPr>
            <a:r>
              <a:rPr lang="en-IN" sz="1400" dirty="0">
                <a:effectLst/>
                <a:latin typeface="Courier New" panose="02070309020205020404" pitchFamily="49" charset="0"/>
                <a:cs typeface="Courier New" panose="02070309020205020404" pitchFamily="49" charset="0"/>
              </a:rPr>
              <a:t>	</a:t>
            </a:r>
            <a:r>
              <a:rPr lang="en-IN" sz="1400" dirty="0" err="1">
                <a:effectLst/>
                <a:latin typeface="Courier New" panose="02070309020205020404" pitchFamily="49" charset="0"/>
                <a:cs typeface="Courier New" panose="02070309020205020404" pitchFamily="49" charset="0"/>
              </a:rPr>
              <a:t>Warehouse_ID</a:t>
            </a:r>
            <a:r>
              <a:rPr lang="en-IN" sz="1400" dirty="0">
                <a:effectLst/>
                <a:latin typeface="Courier New" panose="02070309020205020404" pitchFamily="49" charset="0"/>
                <a:cs typeface="Courier New" panose="02070309020205020404" pitchFamily="49" charset="0"/>
              </a:rPr>
              <a:t>,</a:t>
            </a:r>
          </a:p>
          <a:p>
            <a:pPr marL="36900" indent="0">
              <a:buNone/>
            </a:pPr>
            <a:r>
              <a:rPr lang="en-US" sz="1400" dirty="0">
                <a:effectLst/>
                <a:latin typeface="Courier New" panose="02070309020205020404" pitchFamily="49" charset="0"/>
                <a:cs typeface="Courier New" panose="02070309020205020404" pitchFamily="49" charset="0"/>
              </a:rPr>
              <a:t>	COUNT(*) </a:t>
            </a:r>
            <a:r>
              <a:rPr lang="en-US" sz="1400" dirty="0" err="1">
                <a:effectLst/>
                <a:latin typeface="Courier New" panose="02070309020205020404" pitchFamily="49" charset="0"/>
                <a:cs typeface="Courier New" panose="02070309020205020404" pitchFamily="49" charset="0"/>
              </a:rPr>
              <a:t>Total_Orders_Per_Warehouse</a:t>
            </a:r>
            <a:r>
              <a:rPr lang="en-US" sz="1400" dirty="0">
                <a:effectLst/>
                <a:latin typeface="Courier New" panose="02070309020205020404" pitchFamily="49" charset="0"/>
                <a:cs typeface="Courier New" panose="02070309020205020404" pitchFamily="49" charset="0"/>
              </a:rPr>
              <a:t>,</a:t>
            </a:r>
          </a:p>
          <a:p>
            <a:pPr marL="36900" indent="0">
              <a:buNone/>
            </a:pPr>
            <a:r>
              <a:rPr lang="en-IN" sz="1400" dirty="0">
                <a:effectLst/>
                <a:latin typeface="Courier New" panose="02070309020205020404" pitchFamily="49" charset="0"/>
                <a:cs typeface="Courier New" panose="02070309020205020404" pitchFamily="49" charset="0"/>
              </a:rPr>
              <a:t>	SUM(CASE</a:t>
            </a:r>
          </a:p>
          <a:p>
            <a:pPr marL="36900" indent="0">
              <a:buNone/>
            </a:pPr>
            <a:r>
              <a:rPr lang="en-US" sz="1400" dirty="0">
                <a:effectLst/>
                <a:latin typeface="Courier New" panose="02070309020205020404" pitchFamily="49" charset="0"/>
                <a:cs typeface="Courier New" panose="02070309020205020404" pitchFamily="49" charset="0"/>
              </a:rPr>
              <a:t>		WHEN </a:t>
            </a:r>
            <a:r>
              <a:rPr lang="en-US" sz="1400" dirty="0" err="1">
                <a:effectLst/>
                <a:latin typeface="Courier New" panose="02070309020205020404" pitchFamily="49" charset="0"/>
                <a:cs typeface="Courier New" panose="02070309020205020404" pitchFamily="49" charset="0"/>
              </a:rPr>
              <a:t>Delivery_Status</a:t>
            </a:r>
            <a:r>
              <a:rPr lang="en-US" sz="1400" dirty="0">
                <a:effectLst/>
                <a:latin typeface="Courier New" panose="02070309020205020404" pitchFamily="49" charset="0"/>
                <a:cs typeface="Courier New" panose="02070309020205020404" pitchFamily="49" charset="0"/>
              </a:rPr>
              <a:t> = 'Delayed' THEN 1</a:t>
            </a:r>
          </a:p>
          <a:p>
            <a:pPr marL="36900" indent="0">
              <a:buNone/>
            </a:pPr>
            <a:r>
              <a:rPr lang="en-IN" sz="1400" dirty="0">
                <a:effectLst/>
                <a:latin typeface="Courier New" panose="02070309020205020404" pitchFamily="49" charset="0"/>
                <a:cs typeface="Courier New" panose="02070309020205020404" pitchFamily="49" charset="0"/>
              </a:rPr>
              <a:t>		ELSE 0</a:t>
            </a:r>
          </a:p>
          <a:p>
            <a:pPr marL="36900" indent="0">
              <a:buNone/>
            </a:pPr>
            <a:r>
              <a:rPr lang="en-US" sz="1400" dirty="0">
                <a:effectLst/>
                <a:latin typeface="Courier New" panose="02070309020205020404" pitchFamily="49" charset="0"/>
                <a:cs typeface="Courier New" panose="02070309020205020404" pitchFamily="49" charset="0"/>
              </a:rPr>
              <a:t>	END) </a:t>
            </a:r>
            <a:r>
              <a:rPr lang="en-US" sz="1400" dirty="0" err="1">
                <a:effectLst/>
                <a:latin typeface="Courier New" panose="02070309020205020404" pitchFamily="49" charset="0"/>
                <a:cs typeface="Courier New" panose="02070309020205020404" pitchFamily="49" charset="0"/>
              </a:rPr>
              <a:t>Delayed_Orders_Per_Warehouse</a:t>
            </a:r>
            <a:endParaRPr lang="en-US" sz="1400" dirty="0">
              <a:effectLst/>
              <a:latin typeface="Courier New" panose="02070309020205020404" pitchFamily="49" charset="0"/>
              <a:cs typeface="Courier New" panose="02070309020205020404" pitchFamily="49" charset="0"/>
            </a:endParaRPr>
          </a:p>
          <a:p>
            <a:pPr marL="36900" indent="0">
              <a:buNone/>
            </a:pPr>
            <a:r>
              <a:rPr lang="en-IN" sz="1400" dirty="0">
                <a:effectLst/>
                <a:latin typeface="Courier New" panose="02070309020205020404" pitchFamily="49" charset="0"/>
                <a:cs typeface="Courier New" panose="02070309020205020404" pitchFamily="49" charset="0"/>
              </a:rPr>
              <a:t>FROM UPS.[Orders ]</a:t>
            </a:r>
          </a:p>
          <a:p>
            <a:pPr marL="36900" indent="0">
              <a:buNone/>
            </a:pPr>
            <a:r>
              <a:rPr lang="en-IN" sz="1400" dirty="0">
                <a:effectLst/>
                <a:latin typeface="Courier New" panose="02070309020205020404" pitchFamily="49" charset="0"/>
                <a:cs typeface="Courier New" panose="02070309020205020404" pitchFamily="49" charset="0"/>
              </a:rPr>
              <a:t>GROUP BY </a:t>
            </a:r>
            <a:r>
              <a:rPr lang="en-IN" sz="1400" dirty="0" err="1">
                <a:effectLst/>
                <a:latin typeface="Courier New" panose="02070309020205020404" pitchFamily="49" charset="0"/>
                <a:cs typeface="Courier New" panose="02070309020205020404" pitchFamily="49" charset="0"/>
              </a:rPr>
              <a:t>Warehouse_ID</a:t>
            </a:r>
            <a:r>
              <a:rPr lang="en-IN" sz="1400" dirty="0">
                <a:effectLst/>
                <a:latin typeface="Courier New" panose="02070309020205020404" pitchFamily="49" charset="0"/>
                <a:cs typeface="Courier New" panose="02070309020205020404" pitchFamily="49" charset="0"/>
              </a:rPr>
              <a:t>;</a:t>
            </a:r>
            <a:endParaRPr lang="en-IN" sz="1400" b="1" dirty="0">
              <a:solidFill>
                <a:schemeClr val="tx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388719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A8AA6-5398-0A68-B0BB-A3C09BFBF0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4781B7-A331-37AE-50F0-422144AB18B6}"/>
              </a:ext>
            </a:extLst>
          </p:cNvPr>
          <p:cNvSpPr>
            <a:spLocks noGrp="1"/>
          </p:cNvSpPr>
          <p:nvPr>
            <p:ph type="title"/>
          </p:nvPr>
        </p:nvSpPr>
        <p:spPr>
          <a:xfrm>
            <a:off x="913795" y="106431"/>
            <a:ext cx="10353762" cy="721199"/>
          </a:xfrm>
        </p:spPr>
        <p:txBody>
          <a:bodyPr>
            <a:normAutofit/>
          </a:bodyPr>
          <a:lstStyle/>
          <a:p>
            <a:r>
              <a:rPr lang="en-US" sz="2800" b="1" dirty="0"/>
              <a:t>Top 3 Warehouses with the Highest Average Processing Time</a:t>
            </a:r>
            <a:endParaRPr lang="en-IN" sz="2400" b="1" dirty="0"/>
          </a:p>
        </p:txBody>
      </p:sp>
      <p:pic>
        <p:nvPicPr>
          <p:cNvPr id="8" name="Content Placeholder 7">
            <a:extLst>
              <a:ext uri="{FF2B5EF4-FFF2-40B4-BE49-F238E27FC236}">
                <a16:creationId xmlns:a16="http://schemas.microsoft.com/office/drawing/2014/main" id="{8D09027E-0A8E-A6B4-CE62-A4FF0C8BAD4B}"/>
              </a:ext>
            </a:extLst>
          </p:cNvPr>
          <p:cNvPicPr>
            <a:picLocks noGrp="1" noChangeAspect="1"/>
          </p:cNvPicPr>
          <p:nvPr>
            <p:ph idx="1"/>
          </p:nvPr>
        </p:nvPicPr>
        <p:blipFill>
          <a:blip r:embed="rId2"/>
          <a:stretch>
            <a:fillRect/>
          </a:stretch>
        </p:blipFill>
        <p:spPr>
          <a:xfrm>
            <a:off x="1307690" y="1301381"/>
            <a:ext cx="9576619" cy="4647991"/>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2067063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FB4DC-1AFE-C246-C3DF-70993555D9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FEE6E2-52DA-7964-503A-A65DDA21089E}"/>
              </a:ext>
            </a:extLst>
          </p:cNvPr>
          <p:cNvSpPr>
            <a:spLocks noGrp="1"/>
          </p:cNvSpPr>
          <p:nvPr>
            <p:ph type="title"/>
          </p:nvPr>
        </p:nvSpPr>
        <p:spPr>
          <a:xfrm>
            <a:off x="913795" y="106431"/>
            <a:ext cx="10353762" cy="721199"/>
          </a:xfrm>
        </p:spPr>
        <p:txBody>
          <a:bodyPr>
            <a:normAutofit/>
          </a:bodyPr>
          <a:lstStyle/>
          <a:p>
            <a:r>
              <a:rPr lang="en-US" sz="2800" b="1" dirty="0"/>
              <a:t>Top 3 Warehouses with the Highest Average Processing Time</a:t>
            </a:r>
            <a:endParaRPr lang="en-IN" sz="2400" b="1" dirty="0"/>
          </a:p>
        </p:txBody>
      </p:sp>
      <p:pic>
        <p:nvPicPr>
          <p:cNvPr id="12" name="Content Placeholder 11">
            <a:extLst>
              <a:ext uri="{FF2B5EF4-FFF2-40B4-BE49-F238E27FC236}">
                <a16:creationId xmlns:a16="http://schemas.microsoft.com/office/drawing/2014/main" id="{32E9EFA0-CE4F-A665-ADE5-26EA7B418A81}"/>
              </a:ext>
            </a:extLst>
          </p:cNvPr>
          <p:cNvPicPr>
            <a:picLocks noGrp="1" noChangeAspect="1"/>
          </p:cNvPicPr>
          <p:nvPr>
            <p:ph idx="1"/>
          </p:nvPr>
        </p:nvPicPr>
        <p:blipFill>
          <a:blip r:embed="rId2"/>
          <a:stretch>
            <a:fillRect/>
          </a:stretch>
        </p:blipFill>
        <p:spPr>
          <a:xfrm>
            <a:off x="1115659" y="965283"/>
            <a:ext cx="9950034" cy="5522583"/>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5430256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14051-F129-C9A9-99AC-ED6D702AE0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989A8A-A4C7-FF94-CCEB-146128252DDD}"/>
              </a:ext>
            </a:extLst>
          </p:cNvPr>
          <p:cNvSpPr>
            <a:spLocks noGrp="1"/>
          </p:cNvSpPr>
          <p:nvPr>
            <p:ph type="title"/>
          </p:nvPr>
        </p:nvSpPr>
        <p:spPr>
          <a:xfrm>
            <a:off x="402715" y="106431"/>
            <a:ext cx="11375922" cy="721199"/>
          </a:xfrm>
        </p:spPr>
        <p:txBody>
          <a:bodyPr>
            <a:normAutofit/>
          </a:bodyPr>
          <a:lstStyle/>
          <a:p>
            <a:r>
              <a:rPr lang="en-US" sz="2800" b="1" dirty="0"/>
              <a:t>Bottleneck Warehouses where </a:t>
            </a:r>
            <a:r>
              <a:rPr lang="en-US" sz="2800" b="1" dirty="0" err="1"/>
              <a:t>Processing_Time</a:t>
            </a:r>
            <a:r>
              <a:rPr lang="en-US" sz="2800" b="1" dirty="0"/>
              <a:t> &gt; Global Average</a:t>
            </a:r>
            <a:endParaRPr lang="en-IN" sz="2400" b="1" dirty="0"/>
          </a:p>
        </p:txBody>
      </p:sp>
      <p:sp>
        <p:nvSpPr>
          <p:cNvPr id="3" name="Content Placeholder 2">
            <a:extLst>
              <a:ext uri="{FF2B5EF4-FFF2-40B4-BE49-F238E27FC236}">
                <a16:creationId xmlns:a16="http://schemas.microsoft.com/office/drawing/2014/main" id="{C10C3E8B-8C7D-F3DB-6773-AB49D308E3DA}"/>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US" sz="1400" dirty="0">
                <a:latin typeface="Courier New" panose="02070309020205020404" pitchFamily="49" charset="0"/>
                <a:cs typeface="Courier New" panose="02070309020205020404" pitchFamily="49" charset="0"/>
              </a:rPr>
              <a:t>WITH </a:t>
            </a:r>
            <a:r>
              <a:rPr lang="en-US" sz="1400" dirty="0" err="1">
                <a:latin typeface="Courier New" panose="02070309020205020404" pitchFamily="49" charset="0"/>
                <a:cs typeface="Courier New" panose="02070309020205020404" pitchFamily="49" charset="0"/>
              </a:rPr>
              <a:t>Global_Average_Processing_Time</a:t>
            </a:r>
            <a:r>
              <a:rPr lang="en-US" sz="1400" dirty="0">
                <a:latin typeface="Courier New" panose="02070309020205020404" pitchFamily="49" charset="0"/>
                <a:cs typeface="Courier New" panose="02070309020205020404" pitchFamily="49" charset="0"/>
              </a:rPr>
              <a:t> AS (</a:t>
            </a:r>
          </a:p>
          <a:p>
            <a:pPr marL="36900" indent="0">
              <a:buNone/>
            </a:pPr>
            <a:r>
              <a:rPr lang="en-IN" sz="1400" dirty="0">
                <a:latin typeface="Courier New" panose="02070309020205020404" pitchFamily="49" charset="0"/>
                <a:cs typeface="Courier New" panose="02070309020205020404" pitchFamily="49" charset="0"/>
              </a:rPr>
              <a:t>SELECT </a:t>
            </a:r>
          </a:p>
          <a:p>
            <a:pPr marL="36900" indent="0">
              <a:buNone/>
            </a:pPr>
            <a:r>
              <a:rPr lang="en-US" sz="1400" dirty="0">
                <a:latin typeface="Courier New" panose="02070309020205020404" pitchFamily="49" charset="0"/>
                <a:cs typeface="Courier New" panose="02070309020205020404" pitchFamily="49" charset="0"/>
              </a:rPr>
              <a:t>	AVG(</a:t>
            </a:r>
            <a:r>
              <a:rPr lang="en-US" sz="1400" dirty="0" err="1">
                <a:latin typeface="Courier New" panose="02070309020205020404" pitchFamily="49" charset="0"/>
                <a:cs typeface="Courier New" panose="02070309020205020404" pitchFamily="49" charset="0"/>
              </a:rPr>
              <a:t>Processing_Time_Min</a:t>
            </a:r>
            <a:r>
              <a:rPr lang="en-US" sz="1400" dirty="0">
                <a:latin typeface="Courier New" panose="02070309020205020404" pitchFamily="49" charset="0"/>
                <a:cs typeface="Courier New" panose="02070309020205020404" pitchFamily="49" charset="0"/>
              </a:rPr>
              <a:t>) AS </a:t>
            </a:r>
            <a:r>
              <a:rPr lang="en-US" sz="1400" dirty="0" err="1">
                <a:latin typeface="Courier New" panose="02070309020205020404" pitchFamily="49" charset="0"/>
                <a:cs typeface="Courier New" panose="02070309020205020404" pitchFamily="49" charset="0"/>
              </a:rPr>
              <a:t>Global_Avg_Time</a:t>
            </a:r>
            <a:endParaRPr lang="en-US"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FROM UPS.[Warehouses ])</a:t>
            </a:r>
          </a:p>
          <a:p>
            <a:pPr marL="36900" indent="0">
              <a:buNone/>
            </a:pPr>
            <a:r>
              <a:rPr lang="en-IN" sz="1400" dirty="0">
                <a:latin typeface="Courier New" panose="02070309020205020404" pitchFamily="49" charset="0"/>
                <a:cs typeface="Courier New" panose="02070309020205020404" pitchFamily="49" charset="0"/>
              </a:rPr>
              <a:t>SELECT </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w.Warehouse_ID</a:t>
            </a:r>
            <a:r>
              <a:rPr lang="en-IN"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w.Processing_Time_Min</a:t>
            </a:r>
            <a:r>
              <a:rPr lang="en-IN"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ga.Global_Avg_Time</a:t>
            </a:r>
            <a:endParaRPr lang="en-IN" sz="1400" dirty="0">
              <a:latin typeface="Courier New" panose="02070309020205020404" pitchFamily="49" charset="0"/>
              <a:cs typeface="Courier New" panose="02070309020205020404" pitchFamily="49" charset="0"/>
            </a:endParaRPr>
          </a:p>
          <a:p>
            <a:pPr marL="36900" indent="0">
              <a:buNone/>
            </a:pPr>
            <a:r>
              <a:rPr lang="en-US" sz="1400" dirty="0">
                <a:latin typeface="Courier New" panose="02070309020205020404" pitchFamily="49" charset="0"/>
                <a:cs typeface="Courier New" panose="02070309020205020404" pitchFamily="49" charset="0"/>
              </a:rPr>
              <a:t>FROM UPS.[Warehouses ] AS w, </a:t>
            </a:r>
            <a:r>
              <a:rPr lang="en-US" sz="1400" dirty="0" err="1">
                <a:latin typeface="Courier New" panose="02070309020205020404" pitchFamily="49" charset="0"/>
                <a:cs typeface="Courier New" panose="02070309020205020404" pitchFamily="49" charset="0"/>
              </a:rPr>
              <a:t>Global_Average_Processing_Time</a:t>
            </a:r>
            <a:r>
              <a:rPr lang="en-US" sz="1400" dirty="0">
                <a:latin typeface="Courier New" panose="02070309020205020404" pitchFamily="49" charset="0"/>
                <a:cs typeface="Courier New" panose="02070309020205020404" pitchFamily="49" charset="0"/>
              </a:rPr>
              <a:t> AS ga</a:t>
            </a:r>
          </a:p>
          <a:p>
            <a:pPr marL="36900" indent="0">
              <a:buNone/>
            </a:pPr>
            <a:r>
              <a:rPr lang="en-US" sz="1400" dirty="0">
                <a:latin typeface="Courier New" panose="02070309020205020404" pitchFamily="49" charset="0"/>
                <a:cs typeface="Courier New" panose="02070309020205020404" pitchFamily="49" charset="0"/>
              </a:rPr>
              <a:t>WHERE </a:t>
            </a:r>
            <a:r>
              <a:rPr lang="en-US" sz="1400" dirty="0" err="1">
                <a:latin typeface="Courier New" panose="02070309020205020404" pitchFamily="49" charset="0"/>
                <a:cs typeface="Courier New" panose="02070309020205020404" pitchFamily="49" charset="0"/>
              </a:rPr>
              <a:t>w.Processing_Time_Min</a:t>
            </a:r>
            <a:r>
              <a:rPr lang="en-US" sz="1400" dirty="0">
                <a:latin typeface="Courier New" panose="02070309020205020404" pitchFamily="49" charset="0"/>
                <a:cs typeface="Courier New" panose="02070309020205020404" pitchFamily="49" charset="0"/>
              </a:rPr>
              <a:t> &gt; </a:t>
            </a:r>
            <a:r>
              <a:rPr lang="en-US" sz="1400" dirty="0" err="1">
                <a:latin typeface="Courier New" panose="02070309020205020404" pitchFamily="49" charset="0"/>
                <a:cs typeface="Courier New" panose="02070309020205020404" pitchFamily="49" charset="0"/>
              </a:rPr>
              <a:t>ga.Global_Avg_Time</a:t>
            </a:r>
            <a:r>
              <a:rPr lang="en-US" sz="1400" dirty="0">
                <a:latin typeface="Courier New" panose="02070309020205020404" pitchFamily="49" charset="0"/>
                <a:cs typeface="Courier New" panose="02070309020205020404" pitchFamily="49" charset="0"/>
              </a:rPr>
              <a:t>;</a:t>
            </a:r>
            <a:endParaRPr lang="en-IN" sz="1400" b="1" dirty="0">
              <a:solidFill>
                <a:schemeClr val="tx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5217231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7F912-C46F-C129-5245-E063C80EAF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6F4AC8-3D98-EC8D-15CF-29D4A78417CE}"/>
              </a:ext>
            </a:extLst>
          </p:cNvPr>
          <p:cNvSpPr>
            <a:spLocks noGrp="1"/>
          </p:cNvSpPr>
          <p:nvPr>
            <p:ph type="title"/>
          </p:nvPr>
        </p:nvSpPr>
        <p:spPr>
          <a:xfrm>
            <a:off x="913795" y="106431"/>
            <a:ext cx="10353762" cy="721199"/>
          </a:xfrm>
        </p:spPr>
        <p:txBody>
          <a:bodyPr>
            <a:normAutofit fontScale="90000"/>
          </a:bodyPr>
          <a:lstStyle/>
          <a:p>
            <a:r>
              <a:rPr lang="en-US" sz="2800" b="1" dirty="0"/>
              <a:t>Bottleneck Warehouses where </a:t>
            </a:r>
            <a:r>
              <a:rPr lang="en-US" sz="2800" b="1" dirty="0" err="1"/>
              <a:t>Processing_Time</a:t>
            </a:r>
            <a:r>
              <a:rPr lang="en-US" sz="2800" b="1" dirty="0"/>
              <a:t> &gt; Global Average</a:t>
            </a:r>
            <a:endParaRPr lang="en-IN" sz="2400" b="1" dirty="0"/>
          </a:p>
        </p:txBody>
      </p:sp>
      <p:pic>
        <p:nvPicPr>
          <p:cNvPr id="6" name="Content Placeholder 5">
            <a:extLst>
              <a:ext uri="{FF2B5EF4-FFF2-40B4-BE49-F238E27FC236}">
                <a16:creationId xmlns:a16="http://schemas.microsoft.com/office/drawing/2014/main" id="{B80BF623-FF6D-5A67-57C5-4E3B2E6F6732}"/>
              </a:ext>
            </a:extLst>
          </p:cNvPr>
          <p:cNvPicPr>
            <a:picLocks noGrp="1" noChangeAspect="1"/>
          </p:cNvPicPr>
          <p:nvPr>
            <p:ph idx="1"/>
          </p:nvPr>
        </p:nvPicPr>
        <p:blipFill>
          <a:blip r:embed="rId2"/>
          <a:stretch>
            <a:fillRect/>
          </a:stretch>
        </p:blipFill>
        <p:spPr>
          <a:xfrm>
            <a:off x="422786" y="1857155"/>
            <a:ext cx="4372902" cy="1751283"/>
          </a:xfrm>
          <a:prstGeom prst="rect">
            <a:avLst/>
          </a:prstGeom>
          <a:effectLst>
            <a:outerShdw blurRad="25400" dir="17880000">
              <a:srgbClr val="000000">
                <a:alpha val="46000"/>
              </a:srgbClr>
            </a:outerShdw>
          </a:effectLst>
        </p:spPr>
      </p:pic>
      <p:pic>
        <p:nvPicPr>
          <p:cNvPr id="9" name="Picture 8">
            <a:extLst>
              <a:ext uri="{FF2B5EF4-FFF2-40B4-BE49-F238E27FC236}">
                <a16:creationId xmlns:a16="http://schemas.microsoft.com/office/drawing/2014/main" id="{7BD23B23-9A6D-0E51-1D1D-63F4598CA54B}"/>
              </a:ext>
            </a:extLst>
          </p:cNvPr>
          <p:cNvPicPr>
            <a:picLocks noChangeAspect="1"/>
          </p:cNvPicPr>
          <p:nvPr/>
        </p:nvPicPr>
        <p:blipFill>
          <a:blip r:embed="rId3"/>
          <a:stretch>
            <a:fillRect/>
          </a:stretch>
        </p:blipFill>
        <p:spPr>
          <a:xfrm>
            <a:off x="5034947" y="827630"/>
            <a:ext cx="6232610" cy="5862084"/>
          </a:xfrm>
          <a:prstGeom prst="rect">
            <a:avLst/>
          </a:prstGeom>
        </p:spPr>
      </p:pic>
    </p:spTree>
    <p:extLst>
      <p:ext uri="{BB962C8B-B14F-4D97-AF65-F5344CB8AC3E}">
        <p14:creationId xmlns:p14="http://schemas.microsoft.com/office/powerpoint/2010/main" val="7325317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1D39D-A4B5-A96F-B02D-6616A8929E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156BAB-8F0C-4594-A4AB-AC837D819164}"/>
              </a:ext>
            </a:extLst>
          </p:cNvPr>
          <p:cNvSpPr>
            <a:spLocks noGrp="1"/>
          </p:cNvSpPr>
          <p:nvPr>
            <p:ph type="title"/>
          </p:nvPr>
        </p:nvSpPr>
        <p:spPr>
          <a:xfrm>
            <a:off x="402715" y="106431"/>
            <a:ext cx="11375922" cy="721199"/>
          </a:xfrm>
        </p:spPr>
        <p:txBody>
          <a:bodyPr>
            <a:normAutofit/>
          </a:bodyPr>
          <a:lstStyle/>
          <a:p>
            <a:r>
              <a:rPr lang="en-US" sz="2800" b="1" dirty="0"/>
              <a:t>Warehouses based on on-time Delivery Percentage</a:t>
            </a:r>
            <a:endParaRPr lang="en-IN" sz="2400" b="1" dirty="0"/>
          </a:p>
        </p:txBody>
      </p:sp>
      <p:sp>
        <p:nvSpPr>
          <p:cNvPr id="3" name="Content Placeholder 2">
            <a:extLst>
              <a:ext uri="{FF2B5EF4-FFF2-40B4-BE49-F238E27FC236}">
                <a16:creationId xmlns:a16="http://schemas.microsoft.com/office/drawing/2014/main" id="{6D0C1FCB-2390-0E36-BC4C-28B31DFCE00F}"/>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latin typeface="Courier New" panose="02070309020205020404" pitchFamily="49" charset="0"/>
                <a:cs typeface="Courier New" panose="02070309020205020404" pitchFamily="49" charset="0"/>
              </a:rPr>
              <a:t>SELECT </a:t>
            </a:r>
            <a:r>
              <a:rPr lang="en-IN" sz="1400" dirty="0" err="1">
                <a:latin typeface="Courier New" panose="02070309020205020404" pitchFamily="49" charset="0"/>
                <a:cs typeface="Courier New" panose="02070309020205020404" pitchFamily="49" charset="0"/>
              </a:rPr>
              <a:t>Warehouse_ID</a:t>
            </a:r>
            <a:r>
              <a:rPr lang="en-IN" sz="1400" dirty="0">
                <a:latin typeface="Courier New" panose="02070309020205020404" pitchFamily="49" charset="0"/>
                <a:cs typeface="Courier New" panose="02070309020205020404" pitchFamily="49" charset="0"/>
              </a:rPr>
              <a:t>,</a:t>
            </a:r>
          </a:p>
          <a:p>
            <a:pPr marL="36900" indent="0">
              <a:buNone/>
            </a:pPr>
            <a:r>
              <a:rPr lang="en-US" sz="1400" dirty="0">
                <a:latin typeface="Courier New" panose="02070309020205020404" pitchFamily="49" charset="0"/>
                <a:cs typeface="Courier New" panose="02070309020205020404" pitchFamily="49" charset="0"/>
              </a:rPr>
              <a:t>	COUNT(*) </a:t>
            </a:r>
            <a:r>
              <a:rPr lang="en-US" sz="1400" dirty="0" err="1">
                <a:latin typeface="Courier New" panose="02070309020205020404" pitchFamily="49" charset="0"/>
                <a:cs typeface="Courier New" panose="02070309020205020404" pitchFamily="49" charset="0"/>
              </a:rPr>
              <a:t>Total_Orders_Per_Warehouse</a:t>
            </a:r>
            <a:r>
              <a:rPr lang="en-US"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SUM(CASE </a:t>
            </a:r>
            <a:r>
              <a:rPr lang="en-US" sz="1400" dirty="0">
                <a:latin typeface="Courier New" panose="02070309020205020404" pitchFamily="49" charset="0"/>
                <a:cs typeface="Courier New" panose="02070309020205020404" pitchFamily="49" charset="0"/>
              </a:rPr>
              <a:t>WHEN </a:t>
            </a:r>
            <a:r>
              <a:rPr lang="en-US" sz="1400" dirty="0" err="1">
                <a:latin typeface="Courier New" panose="02070309020205020404" pitchFamily="49" charset="0"/>
                <a:cs typeface="Courier New" panose="02070309020205020404" pitchFamily="49" charset="0"/>
              </a:rPr>
              <a:t>Delivery_Status</a:t>
            </a:r>
            <a:r>
              <a:rPr lang="en-US" sz="1400" dirty="0">
                <a:latin typeface="Courier New" panose="02070309020205020404" pitchFamily="49" charset="0"/>
                <a:cs typeface="Courier New" panose="02070309020205020404" pitchFamily="49" charset="0"/>
              </a:rPr>
              <a:t> = 'On Time' THEN 1</a:t>
            </a:r>
          </a:p>
          <a:p>
            <a:pPr marL="36900" indent="0">
              <a:buNone/>
            </a:pPr>
            <a:r>
              <a:rPr lang="en-IN" sz="1400" dirty="0">
                <a:latin typeface="Courier New" panose="02070309020205020404" pitchFamily="49" charset="0"/>
                <a:cs typeface="Courier New" panose="02070309020205020404" pitchFamily="49" charset="0"/>
              </a:rPr>
              <a:t>		ELSE 0</a:t>
            </a:r>
          </a:p>
          <a:p>
            <a:pPr marL="36900" indent="0">
              <a:buNone/>
            </a:pPr>
            <a:r>
              <a:rPr lang="en-US" sz="1400" dirty="0">
                <a:latin typeface="Courier New" panose="02070309020205020404" pitchFamily="49" charset="0"/>
                <a:cs typeface="Courier New" panose="02070309020205020404" pitchFamily="49" charset="0"/>
              </a:rPr>
              <a:t>	END) </a:t>
            </a:r>
            <a:r>
              <a:rPr lang="en-US" sz="1400" dirty="0" err="1">
                <a:latin typeface="Courier New" panose="02070309020205020404" pitchFamily="49" charset="0"/>
                <a:cs typeface="Courier New" panose="02070309020205020404" pitchFamily="49" charset="0"/>
              </a:rPr>
              <a:t>Ontime_Orders_Per_Warehouse</a:t>
            </a:r>
            <a:r>
              <a:rPr lang="en-US"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CAST(100 * SUM(CASE </a:t>
            </a:r>
            <a:r>
              <a:rPr lang="en-US" sz="1400" dirty="0">
                <a:latin typeface="Courier New" panose="02070309020205020404" pitchFamily="49" charset="0"/>
                <a:cs typeface="Courier New" panose="02070309020205020404" pitchFamily="49" charset="0"/>
              </a:rPr>
              <a:t>WHEN </a:t>
            </a:r>
            <a:r>
              <a:rPr lang="en-US" sz="1400" dirty="0" err="1">
                <a:latin typeface="Courier New" panose="02070309020205020404" pitchFamily="49" charset="0"/>
                <a:cs typeface="Courier New" panose="02070309020205020404" pitchFamily="49" charset="0"/>
              </a:rPr>
              <a:t>Delivery_Status</a:t>
            </a:r>
            <a:r>
              <a:rPr lang="en-US" sz="1400" dirty="0">
                <a:latin typeface="Courier New" panose="02070309020205020404" pitchFamily="49" charset="0"/>
                <a:cs typeface="Courier New" panose="02070309020205020404" pitchFamily="49" charset="0"/>
              </a:rPr>
              <a:t> = 'On Time' THEN 1</a:t>
            </a:r>
          </a:p>
          <a:p>
            <a:pPr marL="36900" indent="0">
              <a:buNone/>
            </a:pPr>
            <a:r>
              <a:rPr lang="en-IN" sz="1400" dirty="0">
                <a:latin typeface="Courier New" panose="02070309020205020404" pitchFamily="49" charset="0"/>
                <a:cs typeface="Courier New" panose="02070309020205020404" pitchFamily="49" charset="0"/>
              </a:rPr>
              <a:t>		ELSE 0</a:t>
            </a:r>
          </a:p>
          <a:p>
            <a:pPr marL="36900" indent="0">
              <a:buNone/>
            </a:pPr>
            <a:r>
              <a:rPr lang="en-US" sz="1400" dirty="0">
                <a:latin typeface="Courier New" panose="02070309020205020404" pitchFamily="49" charset="0"/>
                <a:cs typeface="Courier New" panose="02070309020205020404" pitchFamily="49" charset="0"/>
              </a:rPr>
              <a:t>	END) / COUNT(*) AS decimal(5,2)) </a:t>
            </a:r>
            <a:r>
              <a:rPr lang="en-US" sz="1400" dirty="0" err="1">
                <a:latin typeface="Courier New" panose="02070309020205020404" pitchFamily="49" charset="0"/>
                <a:cs typeface="Courier New" panose="02070309020205020404" pitchFamily="49" charset="0"/>
              </a:rPr>
              <a:t>Ontime_Orders_Percent</a:t>
            </a:r>
            <a:r>
              <a:rPr lang="en-US" sz="1400" dirty="0">
                <a:latin typeface="Courier New" panose="02070309020205020404" pitchFamily="49" charset="0"/>
                <a:cs typeface="Courier New" panose="02070309020205020404" pitchFamily="49" charset="0"/>
              </a:rPr>
              <a:t>,</a:t>
            </a:r>
          </a:p>
          <a:p>
            <a:pPr marL="36900" indent="0">
              <a:buNone/>
            </a:pPr>
            <a:r>
              <a:rPr lang="en-US" sz="1400" dirty="0">
                <a:latin typeface="Courier New" panose="02070309020205020404" pitchFamily="49" charset="0"/>
                <a:cs typeface="Courier New" panose="02070309020205020404" pitchFamily="49" charset="0"/>
              </a:rPr>
              <a:t>	DENSE_RANK() OVER(ORDER BY </a:t>
            </a:r>
          </a:p>
          <a:p>
            <a:pPr marL="36900" indent="0">
              <a:buNone/>
            </a:pPr>
            <a:r>
              <a:rPr lang="en-IN" sz="1400" dirty="0">
                <a:latin typeface="Courier New" panose="02070309020205020404" pitchFamily="49" charset="0"/>
                <a:cs typeface="Courier New" panose="02070309020205020404" pitchFamily="49" charset="0"/>
              </a:rPr>
              <a:t>	CAST(100 * SUM(CASE </a:t>
            </a:r>
            <a:r>
              <a:rPr lang="en-US" sz="1400" dirty="0">
                <a:latin typeface="Courier New" panose="02070309020205020404" pitchFamily="49" charset="0"/>
                <a:cs typeface="Courier New" panose="02070309020205020404" pitchFamily="49" charset="0"/>
              </a:rPr>
              <a:t>WHEN </a:t>
            </a:r>
            <a:r>
              <a:rPr lang="en-US" sz="1400" dirty="0" err="1">
                <a:latin typeface="Courier New" panose="02070309020205020404" pitchFamily="49" charset="0"/>
                <a:cs typeface="Courier New" panose="02070309020205020404" pitchFamily="49" charset="0"/>
              </a:rPr>
              <a:t>Delivery_Status</a:t>
            </a:r>
            <a:r>
              <a:rPr lang="en-US" sz="1400" dirty="0">
                <a:latin typeface="Courier New" panose="02070309020205020404" pitchFamily="49" charset="0"/>
                <a:cs typeface="Courier New" panose="02070309020205020404" pitchFamily="49" charset="0"/>
              </a:rPr>
              <a:t> = 'On Time' THEN 1</a:t>
            </a:r>
          </a:p>
          <a:p>
            <a:pPr marL="36900" indent="0">
              <a:buNone/>
            </a:pPr>
            <a:r>
              <a:rPr lang="en-IN" sz="1400" dirty="0">
                <a:latin typeface="Courier New" panose="02070309020205020404" pitchFamily="49" charset="0"/>
                <a:cs typeface="Courier New" panose="02070309020205020404" pitchFamily="49" charset="0"/>
              </a:rPr>
              <a:t>		ELSE 0 </a:t>
            </a:r>
          </a:p>
          <a:p>
            <a:pPr marL="36900" indent="0">
              <a:buNone/>
            </a:pPr>
            <a:r>
              <a:rPr lang="en-US" sz="1400" dirty="0">
                <a:latin typeface="Courier New" panose="02070309020205020404" pitchFamily="49" charset="0"/>
                <a:cs typeface="Courier New" panose="02070309020205020404" pitchFamily="49" charset="0"/>
              </a:rPr>
              <a:t>	END) / COUNT(*) AS decimal(5,2)) DESC) </a:t>
            </a:r>
            <a:r>
              <a:rPr lang="en-US" sz="1400" dirty="0" err="1">
                <a:latin typeface="Courier New" panose="02070309020205020404" pitchFamily="49" charset="0"/>
                <a:cs typeface="Courier New" panose="02070309020205020404" pitchFamily="49" charset="0"/>
              </a:rPr>
              <a:t>Warehouse_Rank</a:t>
            </a:r>
            <a:endParaRPr lang="en-US"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FROM UPS.[Orders ]</a:t>
            </a:r>
          </a:p>
          <a:p>
            <a:pPr marL="36900" indent="0">
              <a:buNone/>
            </a:pPr>
            <a:r>
              <a:rPr lang="en-IN" sz="1400" dirty="0">
                <a:latin typeface="Courier New" panose="02070309020205020404" pitchFamily="49" charset="0"/>
                <a:cs typeface="Courier New" panose="02070309020205020404" pitchFamily="49" charset="0"/>
              </a:rPr>
              <a:t>GROUP BY </a:t>
            </a:r>
            <a:r>
              <a:rPr lang="en-IN" sz="1400" dirty="0" err="1">
                <a:latin typeface="Courier New" panose="02070309020205020404" pitchFamily="49" charset="0"/>
                <a:cs typeface="Courier New" panose="02070309020205020404" pitchFamily="49" charset="0"/>
              </a:rPr>
              <a:t>Warehouse_ID</a:t>
            </a:r>
            <a:r>
              <a:rPr lang="en-IN" sz="1400" dirty="0">
                <a:latin typeface="Courier New" panose="02070309020205020404" pitchFamily="49" charset="0"/>
                <a:cs typeface="Courier New" panose="02070309020205020404" pitchFamily="49" charset="0"/>
              </a:rPr>
              <a:t>;</a:t>
            </a:r>
            <a:endParaRPr lang="en-IN" sz="1400" b="1" dirty="0">
              <a:solidFill>
                <a:schemeClr val="tx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9152870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E5022-B4B8-21EC-64C3-FC1384E794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22C796-78E8-2C01-1097-6AB0043681AB}"/>
              </a:ext>
            </a:extLst>
          </p:cNvPr>
          <p:cNvSpPr>
            <a:spLocks noGrp="1"/>
          </p:cNvSpPr>
          <p:nvPr>
            <p:ph type="title"/>
          </p:nvPr>
        </p:nvSpPr>
        <p:spPr>
          <a:xfrm>
            <a:off x="913795" y="106431"/>
            <a:ext cx="10353762" cy="721199"/>
          </a:xfrm>
        </p:spPr>
        <p:txBody>
          <a:bodyPr>
            <a:normAutofit/>
          </a:bodyPr>
          <a:lstStyle/>
          <a:p>
            <a:r>
              <a:rPr lang="en-US" sz="2800" b="1" dirty="0"/>
              <a:t>Warehouses based on on-time Delivery Percentage</a:t>
            </a:r>
            <a:endParaRPr lang="en-IN" sz="2400" b="1" dirty="0"/>
          </a:p>
        </p:txBody>
      </p:sp>
      <p:pic>
        <p:nvPicPr>
          <p:cNvPr id="7" name="Content Placeholder 6">
            <a:extLst>
              <a:ext uri="{FF2B5EF4-FFF2-40B4-BE49-F238E27FC236}">
                <a16:creationId xmlns:a16="http://schemas.microsoft.com/office/drawing/2014/main" id="{0CDBAFC0-C33B-7087-8F41-3B19B5126F8C}"/>
              </a:ext>
            </a:extLst>
          </p:cNvPr>
          <p:cNvPicPr>
            <a:picLocks noGrp="1" noChangeAspect="1"/>
          </p:cNvPicPr>
          <p:nvPr>
            <p:ph idx="1"/>
          </p:nvPr>
        </p:nvPicPr>
        <p:blipFill>
          <a:blip r:embed="rId2"/>
          <a:stretch>
            <a:fillRect/>
          </a:stretch>
        </p:blipFill>
        <p:spPr>
          <a:xfrm>
            <a:off x="2353889" y="3254477"/>
            <a:ext cx="7484222" cy="3497092"/>
          </a:xfrm>
          <a:prstGeom prst="rect">
            <a:avLst/>
          </a:prstGeom>
          <a:effectLst>
            <a:outerShdw blurRad="25400" dir="17880000">
              <a:srgbClr val="000000">
                <a:alpha val="46000"/>
              </a:srgbClr>
            </a:outerShdw>
          </a:effectLst>
        </p:spPr>
      </p:pic>
      <p:pic>
        <p:nvPicPr>
          <p:cNvPr id="10" name="Picture 9">
            <a:extLst>
              <a:ext uri="{FF2B5EF4-FFF2-40B4-BE49-F238E27FC236}">
                <a16:creationId xmlns:a16="http://schemas.microsoft.com/office/drawing/2014/main" id="{DED3B81A-59BE-F4D1-A3AC-1CE0EC0E5CFC}"/>
              </a:ext>
            </a:extLst>
          </p:cNvPr>
          <p:cNvPicPr>
            <a:picLocks noChangeAspect="1"/>
          </p:cNvPicPr>
          <p:nvPr/>
        </p:nvPicPr>
        <p:blipFill>
          <a:blip r:embed="rId3"/>
          <a:stretch>
            <a:fillRect/>
          </a:stretch>
        </p:blipFill>
        <p:spPr>
          <a:xfrm>
            <a:off x="2892315" y="827630"/>
            <a:ext cx="6396722" cy="2212400"/>
          </a:xfrm>
          <a:prstGeom prst="rect">
            <a:avLst/>
          </a:prstGeom>
        </p:spPr>
      </p:pic>
    </p:spTree>
    <p:extLst>
      <p:ext uri="{BB962C8B-B14F-4D97-AF65-F5344CB8AC3E}">
        <p14:creationId xmlns:p14="http://schemas.microsoft.com/office/powerpoint/2010/main" val="20887998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63F3B-5071-FC38-FB7D-320B36A528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8C5A8-11D4-8A44-CEFF-3F38702C3FBF}"/>
              </a:ext>
            </a:extLst>
          </p:cNvPr>
          <p:cNvSpPr>
            <a:spLocks noGrp="1"/>
          </p:cNvSpPr>
          <p:nvPr>
            <p:ph type="title"/>
          </p:nvPr>
        </p:nvSpPr>
        <p:spPr/>
        <p:txBody>
          <a:bodyPr>
            <a:normAutofit fontScale="90000"/>
          </a:bodyPr>
          <a:lstStyle/>
          <a:p>
            <a:r>
              <a:rPr lang="en-IN" b="1" dirty="0"/>
              <a:t>Recommendations — Warehouse Optimizations</a:t>
            </a:r>
          </a:p>
        </p:txBody>
      </p:sp>
      <p:sp>
        <p:nvSpPr>
          <p:cNvPr id="3" name="Content Placeholder 2">
            <a:extLst>
              <a:ext uri="{FF2B5EF4-FFF2-40B4-BE49-F238E27FC236}">
                <a16:creationId xmlns:a16="http://schemas.microsoft.com/office/drawing/2014/main" id="{C6F851FC-399D-884C-D975-6040763C03A2}"/>
              </a:ext>
            </a:extLst>
          </p:cNvPr>
          <p:cNvSpPr>
            <a:spLocks noGrp="1"/>
          </p:cNvSpPr>
          <p:nvPr>
            <p:ph idx="1"/>
          </p:nvPr>
        </p:nvSpPr>
        <p:spPr>
          <a:xfrm>
            <a:off x="913795" y="1671485"/>
            <a:ext cx="10353762" cy="4945625"/>
          </a:xfrm>
        </p:spPr>
        <p:txBody>
          <a:bodyPr>
            <a:noAutofit/>
          </a:bodyPr>
          <a:lstStyle/>
          <a:p>
            <a:r>
              <a:rPr lang="en-US" sz="1600" dirty="0">
                <a:effectLst/>
              </a:rPr>
              <a:t>Warehouses like </a:t>
            </a:r>
            <a:r>
              <a:rPr lang="en-US" sz="1600" b="1" dirty="0">
                <a:effectLst/>
              </a:rPr>
              <a:t>W010, W009, and W007</a:t>
            </a:r>
            <a:r>
              <a:rPr lang="en-US" sz="1600" dirty="0">
                <a:effectLst/>
              </a:rPr>
              <a:t> have the highest average processing times, so workload distribution and staff efficiency should be reviewed. Extra manpower or better task allocation may help reduce processing delays.</a:t>
            </a:r>
          </a:p>
          <a:p>
            <a:r>
              <a:rPr lang="en-US" sz="1600" dirty="0">
                <a:effectLst/>
              </a:rPr>
              <a:t>Warehouses identified as </a:t>
            </a:r>
            <a:r>
              <a:rPr lang="en-US" sz="1600" b="1" dirty="0">
                <a:effectLst/>
              </a:rPr>
              <a:t>bottlenecks (processing time above global average)</a:t>
            </a:r>
            <a:r>
              <a:rPr lang="en-US" sz="1600" dirty="0">
                <a:effectLst/>
              </a:rPr>
              <a:t> should be prioritized for operational improvement. Process flow, inventory handling, and system delays in these warehouses need analysis.</a:t>
            </a:r>
          </a:p>
          <a:p>
            <a:r>
              <a:rPr lang="en-US" sz="1600" dirty="0">
                <a:effectLst/>
              </a:rPr>
              <a:t>Warehouses with </a:t>
            </a:r>
            <a:r>
              <a:rPr lang="en-US" sz="1600" b="1" dirty="0">
                <a:effectLst/>
              </a:rPr>
              <a:t>high delayed shipment counts compared to total shipments</a:t>
            </a:r>
            <a:r>
              <a:rPr lang="en-US" sz="1600" dirty="0">
                <a:effectLst/>
              </a:rPr>
              <a:t> indicate reliability issues. These locations may need better coordination between dispatch teams and transportation units.</a:t>
            </a:r>
          </a:p>
          <a:p>
            <a:r>
              <a:rPr lang="en-US" sz="1600" dirty="0">
                <a:effectLst/>
              </a:rPr>
              <a:t>Warehouses with </a:t>
            </a:r>
            <a:r>
              <a:rPr lang="en-US" sz="1600" b="1" dirty="0">
                <a:effectLst/>
              </a:rPr>
              <a:t>low on-time delivery percentage</a:t>
            </a:r>
            <a:r>
              <a:rPr lang="en-US" sz="1600" dirty="0">
                <a:effectLst/>
              </a:rPr>
              <a:t> should review internal scheduling and order handling procedures. Delays might be happening before shipment leaves the warehouse.</a:t>
            </a:r>
          </a:p>
          <a:p>
            <a:r>
              <a:rPr lang="en-US" sz="1600" dirty="0">
                <a:effectLst/>
              </a:rPr>
              <a:t>Comparing top-performing warehouses with low-performing ones can help identify </a:t>
            </a:r>
            <a:r>
              <a:rPr lang="en-US" sz="1600" b="1" dirty="0">
                <a:effectLst/>
              </a:rPr>
              <a:t>best practices</a:t>
            </a:r>
            <a:r>
              <a:rPr lang="en-US" sz="1600" dirty="0">
                <a:effectLst/>
              </a:rPr>
              <a:t> that can be implemented across other warehouses.</a:t>
            </a:r>
          </a:p>
          <a:p>
            <a:r>
              <a:rPr lang="en-US" sz="1600" dirty="0">
                <a:effectLst/>
              </a:rPr>
              <a:t>If certain warehouses consistently show high processing times, </a:t>
            </a:r>
            <a:r>
              <a:rPr lang="en-US" sz="1600" b="1" dirty="0">
                <a:effectLst/>
              </a:rPr>
              <a:t>automation tools or better warehouse management systems</a:t>
            </a:r>
            <a:r>
              <a:rPr lang="en-US" sz="1600" dirty="0">
                <a:effectLst/>
              </a:rPr>
              <a:t> could improve performance.</a:t>
            </a:r>
          </a:p>
          <a:p>
            <a:r>
              <a:rPr lang="en-US" sz="1600" dirty="0">
                <a:effectLst/>
              </a:rPr>
              <a:t>Regular monitoring of warehouse KPIs like processing time, delay percentage, and shipment volume will help in early identification of future bottlenecks.</a:t>
            </a:r>
          </a:p>
        </p:txBody>
      </p:sp>
    </p:spTree>
    <p:extLst>
      <p:ext uri="{BB962C8B-B14F-4D97-AF65-F5344CB8AC3E}">
        <p14:creationId xmlns:p14="http://schemas.microsoft.com/office/powerpoint/2010/main" val="18083195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8346A-41CF-9FE5-5D0C-3B58E78C52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77A4D3-F019-5031-DFD4-8327AFACBF95}"/>
              </a:ext>
            </a:extLst>
          </p:cNvPr>
          <p:cNvSpPr>
            <a:spLocks noGrp="1"/>
          </p:cNvSpPr>
          <p:nvPr>
            <p:ph type="title"/>
          </p:nvPr>
        </p:nvSpPr>
        <p:spPr/>
        <p:txBody>
          <a:bodyPr>
            <a:normAutofit/>
          </a:bodyPr>
          <a:lstStyle/>
          <a:p>
            <a:r>
              <a:rPr lang="en-US" dirty="0"/>
              <a:t>Task 5: </a:t>
            </a:r>
            <a:r>
              <a:rPr lang="en-IN" b="1" dirty="0"/>
              <a:t>Delivery Agents Performance</a:t>
            </a:r>
            <a:endParaRPr lang="en-IN" sz="4000" b="1" dirty="0"/>
          </a:p>
        </p:txBody>
      </p:sp>
      <p:sp>
        <p:nvSpPr>
          <p:cNvPr id="3" name="Content Placeholder 2">
            <a:extLst>
              <a:ext uri="{FF2B5EF4-FFF2-40B4-BE49-F238E27FC236}">
                <a16:creationId xmlns:a16="http://schemas.microsoft.com/office/drawing/2014/main" id="{AB92D01B-E7C6-0175-5426-D18FE635A01C}"/>
              </a:ext>
            </a:extLst>
          </p:cNvPr>
          <p:cNvSpPr>
            <a:spLocks noGrp="1"/>
          </p:cNvSpPr>
          <p:nvPr>
            <p:ph idx="1"/>
          </p:nvPr>
        </p:nvSpPr>
        <p:spPr>
          <a:xfrm>
            <a:off x="979100" y="1540489"/>
            <a:ext cx="10233800" cy="5096286"/>
          </a:xfrm>
        </p:spPr>
        <p:txBody>
          <a:bodyPr>
            <a:normAutofit fontScale="92500" lnSpcReduction="10000"/>
          </a:bodyPr>
          <a:lstStyle/>
          <a:p>
            <a:pPr>
              <a:lnSpc>
                <a:spcPct val="150000"/>
              </a:lnSpc>
            </a:pPr>
            <a:r>
              <a:rPr lang="en-IN" sz="2200" b="1" dirty="0"/>
              <a:t>Objective:</a:t>
            </a:r>
            <a:br>
              <a:rPr lang="en-IN" dirty="0"/>
            </a:br>
            <a:r>
              <a:rPr lang="en-US" sz="1800" dirty="0"/>
              <a:t>Assess delivery agents to see how on-time, efficient, and dependable they are across different routes. This analysis highlights top performers, agents who need improvement, and gaps in last-mile operations. The insights help with better route assignment, focused training, and improved service quality.</a:t>
            </a:r>
          </a:p>
          <a:p>
            <a:r>
              <a:rPr lang="en-US" sz="2400" b="1" dirty="0"/>
              <a:t>Subtasks Covered:</a:t>
            </a:r>
          </a:p>
          <a:p>
            <a:pPr>
              <a:buFont typeface="Arial" panose="020B0604020202020204" pitchFamily="34" charset="0"/>
              <a:buChar char="•"/>
            </a:pPr>
            <a:r>
              <a:rPr lang="en-US" sz="1900" dirty="0">
                <a:effectLst/>
              </a:rPr>
              <a:t>Calculate </a:t>
            </a:r>
            <a:r>
              <a:rPr lang="en-US" sz="1900" b="1" dirty="0">
                <a:effectLst/>
              </a:rPr>
              <a:t>on-time delivery percentage</a:t>
            </a:r>
            <a:r>
              <a:rPr lang="en-US" sz="1900" dirty="0">
                <a:effectLst/>
              </a:rPr>
              <a:t> for each delivery agent to measure punctuality performance.</a:t>
            </a:r>
          </a:p>
          <a:p>
            <a:pPr>
              <a:buFont typeface="Arial" panose="020B0604020202020204" pitchFamily="34" charset="0"/>
              <a:buChar char="•"/>
            </a:pPr>
            <a:r>
              <a:rPr lang="en-US" sz="1900" dirty="0">
                <a:effectLst/>
              </a:rPr>
              <a:t>Rank delivery agents </a:t>
            </a:r>
            <a:r>
              <a:rPr lang="en-US" sz="1900" b="1" dirty="0">
                <a:effectLst/>
              </a:rPr>
              <a:t>within each route</a:t>
            </a:r>
            <a:r>
              <a:rPr lang="en-US" sz="1900" dirty="0">
                <a:effectLst/>
              </a:rPr>
              <a:t> based on on-time delivery percentage to ensure fair performance comparison.</a:t>
            </a:r>
          </a:p>
          <a:p>
            <a:pPr>
              <a:buFont typeface="Arial" panose="020B0604020202020204" pitchFamily="34" charset="0"/>
              <a:buChar char="•"/>
            </a:pPr>
            <a:r>
              <a:rPr lang="en-US" sz="1900" dirty="0">
                <a:effectLst/>
              </a:rPr>
              <a:t>Identify agents with </a:t>
            </a:r>
            <a:r>
              <a:rPr lang="en-US" sz="1900" b="1" dirty="0">
                <a:effectLst/>
              </a:rPr>
              <a:t>on-time delivery below 80%</a:t>
            </a:r>
            <a:r>
              <a:rPr lang="en-US" sz="1900" dirty="0">
                <a:effectLst/>
              </a:rPr>
              <a:t> to detect reliability issues and areas needing improvement.</a:t>
            </a:r>
          </a:p>
          <a:p>
            <a:pPr>
              <a:buFont typeface="Arial" panose="020B0604020202020204" pitchFamily="34" charset="0"/>
              <a:buChar char="•"/>
            </a:pPr>
            <a:r>
              <a:rPr lang="en-US" sz="1900" dirty="0">
                <a:effectLst/>
              </a:rPr>
              <a:t>Compute </a:t>
            </a:r>
            <a:r>
              <a:rPr lang="en-US" sz="1900" b="1" dirty="0">
                <a:effectLst/>
              </a:rPr>
              <a:t>average travel speed</a:t>
            </a:r>
            <a:r>
              <a:rPr lang="en-US" sz="1900" dirty="0">
                <a:effectLst/>
              </a:rPr>
              <a:t> (Distance / Travel Time) to measure operational efficiency.</a:t>
            </a:r>
          </a:p>
          <a:p>
            <a:pPr>
              <a:buFont typeface="Arial" panose="020B0604020202020204" pitchFamily="34" charset="0"/>
              <a:buChar char="•"/>
            </a:pPr>
            <a:r>
              <a:rPr lang="en-US" sz="1900" dirty="0">
                <a:effectLst/>
              </a:rPr>
              <a:t>Use subqueries to compare </a:t>
            </a:r>
            <a:r>
              <a:rPr lang="en-US" sz="1900" b="1" dirty="0">
                <a:effectLst/>
              </a:rPr>
              <a:t>average speed of top 5 vs bottom 5 agents</a:t>
            </a:r>
            <a:r>
              <a:rPr lang="en-US" sz="1900" dirty="0">
                <a:effectLst/>
              </a:rPr>
              <a:t>, highlighting the performance gap between high and low performers.</a:t>
            </a:r>
          </a:p>
          <a:p>
            <a:pPr>
              <a:lnSpc>
                <a:spcPct val="150000"/>
              </a:lnSpc>
            </a:pPr>
            <a:endParaRPr lang="en-US" sz="2200" b="1" dirty="0"/>
          </a:p>
          <a:p>
            <a:pPr>
              <a:lnSpc>
                <a:spcPct val="150000"/>
              </a:lnSpc>
            </a:pPr>
            <a:endParaRPr lang="en-US" sz="2200" b="1" dirty="0"/>
          </a:p>
        </p:txBody>
      </p:sp>
    </p:spTree>
    <p:extLst>
      <p:ext uri="{BB962C8B-B14F-4D97-AF65-F5344CB8AC3E}">
        <p14:creationId xmlns:p14="http://schemas.microsoft.com/office/powerpoint/2010/main" val="5377193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C8828-DE49-F912-672C-222F621A85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38FA5-4EA8-FD9F-BA2B-AFEC58C1F1E2}"/>
              </a:ext>
            </a:extLst>
          </p:cNvPr>
          <p:cNvSpPr>
            <a:spLocks noGrp="1"/>
          </p:cNvSpPr>
          <p:nvPr>
            <p:ph type="title"/>
          </p:nvPr>
        </p:nvSpPr>
        <p:spPr>
          <a:xfrm>
            <a:off x="402715" y="106431"/>
            <a:ext cx="11375922" cy="721199"/>
          </a:xfrm>
        </p:spPr>
        <p:txBody>
          <a:bodyPr>
            <a:normAutofit/>
          </a:bodyPr>
          <a:lstStyle/>
          <a:p>
            <a:r>
              <a:rPr lang="en-US" sz="2800" b="1" dirty="0"/>
              <a:t>Agents (per route) by On-Time Delivery Percentage</a:t>
            </a:r>
            <a:endParaRPr lang="en-IN" sz="2400" b="1" dirty="0"/>
          </a:p>
        </p:txBody>
      </p:sp>
      <p:sp>
        <p:nvSpPr>
          <p:cNvPr id="3" name="Content Placeholder 2">
            <a:extLst>
              <a:ext uri="{FF2B5EF4-FFF2-40B4-BE49-F238E27FC236}">
                <a16:creationId xmlns:a16="http://schemas.microsoft.com/office/drawing/2014/main" id="{764DC481-1710-EAA7-3276-7740E4BDB6BB}"/>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latin typeface="Courier New" panose="02070309020205020404" pitchFamily="49" charset="0"/>
                <a:cs typeface="Courier New" panose="02070309020205020404" pitchFamily="49" charset="0"/>
              </a:rPr>
              <a:t>SELECT </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Route_ID</a:t>
            </a:r>
            <a:r>
              <a:rPr lang="en-IN"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Agent_ID</a:t>
            </a:r>
            <a:r>
              <a:rPr lang="en-IN"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On_Time_Percentage</a:t>
            </a:r>
            <a:r>
              <a:rPr lang="en-IN" sz="1400" dirty="0">
                <a:latin typeface="Courier New" panose="02070309020205020404" pitchFamily="49" charset="0"/>
                <a:cs typeface="Courier New" panose="02070309020205020404" pitchFamily="49" charset="0"/>
              </a:rPr>
              <a:t>,</a:t>
            </a:r>
          </a:p>
          <a:p>
            <a:pPr marL="36900" indent="0">
              <a:buNone/>
            </a:pPr>
            <a:r>
              <a:rPr lang="en-US" sz="1400" dirty="0">
                <a:latin typeface="Courier New" panose="02070309020205020404" pitchFamily="49" charset="0"/>
                <a:cs typeface="Courier New" panose="02070309020205020404" pitchFamily="49" charset="0"/>
              </a:rPr>
              <a:t>	DENSE_RANK() OVER(PARTITION BY </a:t>
            </a:r>
            <a:r>
              <a:rPr lang="en-US" sz="1400" dirty="0" err="1">
                <a:latin typeface="Courier New" panose="02070309020205020404" pitchFamily="49" charset="0"/>
                <a:cs typeface="Courier New" panose="02070309020205020404" pitchFamily="49" charset="0"/>
              </a:rPr>
              <a:t>Route_ID</a:t>
            </a:r>
            <a:r>
              <a:rPr lang="en-US" sz="1400" dirty="0">
                <a:latin typeface="Courier New" panose="02070309020205020404" pitchFamily="49" charset="0"/>
                <a:cs typeface="Courier New" panose="02070309020205020404" pitchFamily="49" charset="0"/>
              </a:rPr>
              <a:t> ORDER BY </a:t>
            </a:r>
            <a:r>
              <a:rPr lang="en-US" sz="1400" dirty="0" err="1">
                <a:latin typeface="Courier New" panose="02070309020205020404" pitchFamily="49" charset="0"/>
                <a:cs typeface="Courier New" panose="02070309020205020404" pitchFamily="49" charset="0"/>
              </a:rPr>
              <a:t>On_Time_Percentage</a:t>
            </a:r>
            <a:r>
              <a:rPr lang="en-US" sz="1400" dirty="0">
                <a:latin typeface="Courier New" panose="02070309020205020404" pitchFamily="49" charset="0"/>
                <a:cs typeface="Courier New" panose="02070309020205020404" pitchFamily="49" charset="0"/>
              </a:rPr>
              <a:t> DESC) </a:t>
            </a:r>
            <a:r>
              <a:rPr lang="en-US" sz="1400" dirty="0" err="1">
                <a:latin typeface="Courier New" panose="02070309020205020404" pitchFamily="49" charset="0"/>
                <a:cs typeface="Courier New" panose="02070309020205020404" pitchFamily="49" charset="0"/>
              </a:rPr>
              <a:t>Agent_Rank</a:t>
            </a:r>
            <a:endParaRPr lang="en-US"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FROM </a:t>
            </a:r>
            <a:r>
              <a:rPr lang="en-IN" sz="1400" dirty="0" err="1">
                <a:latin typeface="Courier New" panose="02070309020205020404" pitchFamily="49" charset="0"/>
                <a:cs typeface="Courier New" panose="02070309020205020404" pitchFamily="49" charset="0"/>
              </a:rPr>
              <a:t>UPS.Delivery_Agents</a:t>
            </a:r>
            <a:r>
              <a:rPr lang="en-IN" sz="1400" dirty="0">
                <a:latin typeface="Courier New" panose="02070309020205020404" pitchFamily="49" charset="0"/>
                <a:cs typeface="Courier New" panose="02070309020205020404" pitchFamily="49" charset="0"/>
              </a:rPr>
              <a:t>;</a:t>
            </a:r>
            <a:endParaRPr lang="en-IN" sz="1400" b="1" dirty="0">
              <a:solidFill>
                <a:schemeClr val="tx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358576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2B132-5C77-1006-A299-7C18333AA8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017C4-8593-8DE1-EDA2-058D7EBE38B8}"/>
              </a:ext>
            </a:extLst>
          </p:cNvPr>
          <p:cNvSpPr>
            <a:spLocks noGrp="1"/>
          </p:cNvSpPr>
          <p:nvPr>
            <p:ph type="title"/>
          </p:nvPr>
        </p:nvSpPr>
        <p:spPr>
          <a:xfrm>
            <a:off x="913795" y="106431"/>
            <a:ext cx="10353762" cy="721199"/>
          </a:xfrm>
        </p:spPr>
        <p:txBody>
          <a:bodyPr>
            <a:normAutofit/>
          </a:bodyPr>
          <a:lstStyle/>
          <a:p>
            <a:r>
              <a:rPr lang="en-US" sz="2800" b="1" dirty="0"/>
              <a:t>Agents (per route) by On-Time Delivery Percentage</a:t>
            </a:r>
            <a:endParaRPr lang="en-IN" sz="2400" b="1" dirty="0"/>
          </a:p>
        </p:txBody>
      </p:sp>
      <p:pic>
        <p:nvPicPr>
          <p:cNvPr id="6" name="Content Placeholder 5">
            <a:extLst>
              <a:ext uri="{FF2B5EF4-FFF2-40B4-BE49-F238E27FC236}">
                <a16:creationId xmlns:a16="http://schemas.microsoft.com/office/drawing/2014/main" id="{F42D3624-5BD5-406E-19FE-526CD2A29125}"/>
              </a:ext>
            </a:extLst>
          </p:cNvPr>
          <p:cNvPicPr>
            <a:picLocks noGrp="1" noChangeAspect="1"/>
          </p:cNvPicPr>
          <p:nvPr>
            <p:ph idx="1"/>
          </p:nvPr>
        </p:nvPicPr>
        <p:blipFill>
          <a:blip r:embed="rId2"/>
          <a:stretch>
            <a:fillRect/>
          </a:stretch>
        </p:blipFill>
        <p:spPr>
          <a:xfrm>
            <a:off x="3873562" y="907033"/>
            <a:ext cx="4434227" cy="5043933"/>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30484495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24D6-C2FA-AACD-48C4-4CCD1D11F7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B54484-BACA-0264-99C1-5C37FD2C5617}"/>
              </a:ext>
            </a:extLst>
          </p:cNvPr>
          <p:cNvSpPr>
            <a:spLocks noGrp="1"/>
          </p:cNvSpPr>
          <p:nvPr>
            <p:ph type="title"/>
          </p:nvPr>
        </p:nvSpPr>
        <p:spPr>
          <a:xfrm>
            <a:off x="402715" y="106431"/>
            <a:ext cx="11375922" cy="721199"/>
          </a:xfrm>
        </p:spPr>
        <p:txBody>
          <a:bodyPr>
            <a:normAutofit/>
          </a:bodyPr>
          <a:lstStyle/>
          <a:p>
            <a:r>
              <a:rPr lang="en-IN" sz="2800" b="1" dirty="0"/>
              <a:t>Agents with on-time Percentage less than 80%</a:t>
            </a:r>
            <a:endParaRPr lang="en-IN" sz="2400" b="1" dirty="0"/>
          </a:p>
        </p:txBody>
      </p:sp>
      <p:sp>
        <p:nvSpPr>
          <p:cNvPr id="3" name="Content Placeholder 2">
            <a:extLst>
              <a:ext uri="{FF2B5EF4-FFF2-40B4-BE49-F238E27FC236}">
                <a16:creationId xmlns:a16="http://schemas.microsoft.com/office/drawing/2014/main" id="{FE2ED0EB-CD8D-61AC-DD2A-B5A13CFF98D5}"/>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latin typeface="Courier New" panose="02070309020205020404" pitchFamily="49" charset="0"/>
                <a:cs typeface="Courier New" panose="02070309020205020404" pitchFamily="49" charset="0"/>
              </a:rPr>
              <a:t>SELECT </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Agent_ID</a:t>
            </a:r>
            <a:r>
              <a:rPr lang="en-IN"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On_Time_Percentage</a:t>
            </a:r>
            <a:endParaRPr lang="en-IN"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FROM </a:t>
            </a:r>
            <a:r>
              <a:rPr lang="en-IN" sz="1400" dirty="0" err="1">
                <a:latin typeface="Courier New" panose="02070309020205020404" pitchFamily="49" charset="0"/>
                <a:cs typeface="Courier New" panose="02070309020205020404" pitchFamily="49" charset="0"/>
              </a:rPr>
              <a:t>UPS.Delivery_Agents</a:t>
            </a:r>
            <a:endParaRPr lang="en-IN" sz="1400" dirty="0">
              <a:latin typeface="Courier New" panose="02070309020205020404" pitchFamily="49" charset="0"/>
              <a:cs typeface="Courier New" panose="02070309020205020404" pitchFamily="49" charset="0"/>
            </a:endParaRPr>
          </a:p>
          <a:p>
            <a:pPr marL="36900" indent="0">
              <a:buNone/>
            </a:pPr>
            <a:r>
              <a:rPr lang="en-US" sz="1400" dirty="0">
                <a:latin typeface="Courier New" panose="02070309020205020404" pitchFamily="49" charset="0"/>
                <a:cs typeface="Courier New" panose="02070309020205020404" pitchFamily="49" charset="0"/>
              </a:rPr>
              <a:t>WHERE </a:t>
            </a:r>
            <a:r>
              <a:rPr lang="en-US" sz="1400" dirty="0" err="1">
                <a:latin typeface="Courier New" panose="02070309020205020404" pitchFamily="49" charset="0"/>
                <a:cs typeface="Courier New" panose="02070309020205020404" pitchFamily="49" charset="0"/>
              </a:rPr>
              <a:t>On_Time_Percentage</a:t>
            </a:r>
            <a:r>
              <a:rPr lang="en-US" sz="1400" dirty="0">
                <a:latin typeface="Courier New" panose="02070309020205020404" pitchFamily="49" charset="0"/>
                <a:cs typeface="Courier New" panose="02070309020205020404" pitchFamily="49" charset="0"/>
              </a:rPr>
              <a:t> &lt; 80</a:t>
            </a:r>
          </a:p>
          <a:p>
            <a:pPr marL="36900" indent="0">
              <a:buNone/>
            </a:pPr>
            <a:r>
              <a:rPr lang="en-US" sz="1400" dirty="0">
                <a:latin typeface="Courier New" panose="02070309020205020404" pitchFamily="49" charset="0"/>
                <a:cs typeface="Courier New" panose="02070309020205020404" pitchFamily="49" charset="0"/>
              </a:rPr>
              <a:t>ORDER BY </a:t>
            </a:r>
            <a:r>
              <a:rPr lang="en-US" sz="1400" dirty="0" err="1">
                <a:latin typeface="Courier New" panose="02070309020205020404" pitchFamily="49" charset="0"/>
                <a:cs typeface="Courier New" panose="02070309020205020404" pitchFamily="49" charset="0"/>
              </a:rPr>
              <a:t>On_Time_Percentage</a:t>
            </a:r>
            <a:r>
              <a:rPr lang="en-US" sz="1400" dirty="0">
                <a:latin typeface="Courier New" panose="02070309020205020404" pitchFamily="49" charset="0"/>
                <a:cs typeface="Courier New" panose="02070309020205020404" pitchFamily="49" charset="0"/>
              </a:rPr>
              <a:t> DESC;</a:t>
            </a:r>
            <a:endParaRPr lang="en-IN" sz="1400" b="1" dirty="0">
              <a:solidFill>
                <a:schemeClr val="tx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0586959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1215A-5395-25D4-5886-268CB38E96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24FB72-CE39-8D12-C910-83A46C7471FF}"/>
              </a:ext>
            </a:extLst>
          </p:cNvPr>
          <p:cNvSpPr>
            <a:spLocks noGrp="1"/>
          </p:cNvSpPr>
          <p:nvPr>
            <p:ph type="title"/>
          </p:nvPr>
        </p:nvSpPr>
        <p:spPr>
          <a:xfrm>
            <a:off x="913795" y="106431"/>
            <a:ext cx="10353762" cy="721199"/>
          </a:xfrm>
        </p:spPr>
        <p:txBody>
          <a:bodyPr>
            <a:normAutofit/>
          </a:bodyPr>
          <a:lstStyle/>
          <a:p>
            <a:r>
              <a:rPr lang="en-IN" sz="2800" b="1" dirty="0"/>
              <a:t>Agents with on-time Percentage less than 80%</a:t>
            </a:r>
            <a:endParaRPr lang="en-IN" sz="2400" b="1" dirty="0"/>
          </a:p>
        </p:txBody>
      </p:sp>
      <p:pic>
        <p:nvPicPr>
          <p:cNvPr id="7" name="Content Placeholder 6">
            <a:extLst>
              <a:ext uri="{FF2B5EF4-FFF2-40B4-BE49-F238E27FC236}">
                <a16:creationId xmlns:a16="http://schemas.microsoft.com/office/drawing/2014/main" id="{9B2E2566-F205-B5BB-B563-8ADC29B9F4B5}"/>
              </a:ext>
            </a:extLst>
          </p:cNvPr>
          <p:cNvPicPr>
            <a:picLocks noGrp="1" noChangeAspect="1"/>
          </p:cNvPicPr>
          <p:nvPr>
            <p:ph idx="1"/>
          </p:nvPr>
        </p:nvPicPr>
        <p:blipFill>
          <a:blip r:embed="rId2"/>
          <a:stretch>
            <a:fillRect/>
          </a:stretch>
        </p:blipFill>
        <p:spPr>
          <a:xfrm>
            <a:off x="452283" y="1208993"/>
            <a:ext cx="3077497" cy="5217321"/>
          </a:xfrm>
          <a:prstGeom prst="rect">
            <a:avLst/>
          </a:prstGeom>
          <a:effectLst>
            <a:outerShdw blurRad="25400" dir="17880000">
              <a:srgbClr val="000000">
                <a:alpha val="46000"/>
              </a:srgbClr>
            </a:outerShdw>
          </a:effectLst>
        </p:spPr>
      </p:pic>
      <p:pic>
        <p:nvPicPr>
          <p:cNvPr id="11" name="Picture 10">
            <a:extLst>
              <a:ext uri="{FF2B5EF4-FFF2-40B4-BE49-F238E27FC236}">
                <a16:creationId xmlns:a16="http://schemas.microsoft.com/office/drawing/2014/main" id="{63A244C7-7512-D65B-7CA8-3917CB92EC0E}"/>
              </a:ext>
            </a:extLst>
          </p:cNvPr>
          <p:cNvPicPr>
            <a:picLocks noChangeAspect="1"/>
          </p:cNvPicPr>
          <p:nvPr/>
        </p:nvPicPr>
        <p:blipFill>
          <a:blip r:embed="rId3"/>
          <a:stretch>
            <a:fillRect/>
          </a:stretch>
        </p:blipFill>
        <p:spPr>
          <a:xfrm>
            <a:off x="3870786" y="1208993"/>
            <a:ext cx="8019003" cy="4533046"/>
          </a:xfrm>
          <a:prstGeom prst="rect">
            <a:avLst/>
          </a:prstGeom>
        </p:spPr>
      </p:pic>
    </p:spTree>
    <p:extLst>
      <p:ext uri="{BB962C8B-B14F-4D97-AF65-F5344CB8AC3E}">
        <p14:creationId xmlns:p14="http://schemas.microsoft.com/office/powerpoint/2010/main" val="33507786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47DB9-84E5-2C32-8128-D7B060008B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AC7898-3D0E-DD57-941C-775F05010358}"/>
              </a:ext>
            </a:extLst>
          </p:cNvPr>
          <p:cNvSpPr>
            <a:spLocks noGrp="1"/>
          </p:cNvSpPr>
          <p:nvPr>
            <p:ph type="title"/>
          </p:nvPr>
        </p:nvSpPr>
        <p:spPr>
          <a:xfrm>
            <a:off x="402715" y="106431"/>
            <a:ext cx="11375922" cy="721199"/>
          </a:xfrm>
        </p:spPr>
        <p:txBody>
          <a:bodyPr>
            <a:normAutofit/>
          </a:bodyPr>
          <a:lstStyle/>
          <a:p>
            <a:r>
              <a:rPr lang="en-US" sz="2800" b="1" dirty="0"/>
              <a:t>Average Speed of Top 5 vs Bottom 5 Agents</a:t>
            </a:r>
            <a:endParaRPr lang="en-IN" sz="2400" b="1" dirty="0"/>
          </a:p>
        </p:txBody>
      </p:sp>
      <p:sp>
        <p:nvSpPr>
          <p:cNvPr id="3" name="Content Placeholder 2">
            <a:extLst>
              <a:ext uri="{FF2B5EF4-FFF2-40B4-BE49-F238E27FC236}">
                <a16:creationId xmlns:a16="http://schemas.microsoft.com/office/drawing/2014/main" id="{9FE6E683-C4D3-D5FD-8246-1D1D0600C18E}"/>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latin typeface="Courier New" panose="02070309020205020404" pitchFamily="49" charset="0"/>
                <a:cs typeface="Courier New" panose="02070309020205020404" pitchFamily="49" charset="0"/>
              </a:rPr>
              <a:t>SELECT </a:t>
            </a:r>
          </a:p>
          <a:p>
            <a:pPr marL="36900" indent="0">
              <a:buNone/>
            </a:pPr>
            <a:r>
              <a:rPr lang="en-IN" sz="1400" dirty="0">
                <a:latin typeface="Courier New" panose="02070309020205020404" pitchFamily="49" charset="0"/>
                <a:cs typeface="Courier New" panose="02070309020205020404" pitchFamily="49" charset="0"/>
              </a:rPr>
              <a:t>    (SELECT AVG(</a:t>
            </a:r>
            <a:r>
              <a:rPr lang="en-IN" sz="1400" dirty="0" err="1">
                <a:latin typeface="Courier New" panose="02070309020205020404" pitchFamily="49" charset="0"/>
                <a:cs typeface="Courier New" panose="02070309020205020404" pitchFamily="49" charset="0"/>
              </a:rPr>
              <a:t>Avg_Speed_KM_HR</a:t>
            </a:r>
            <a:r>
              <a:rPr lang="en-IN" sz="1400" dirty="0">
                <a:latin typeface="Courier New" panose="02070309020205020404" pitchFamily="49" charset="0"/>
                <a:cs typeface="Courier New" panose="02070309020205020404" pitchFamily="49" charset="0"/>
              </a:rPr>
              <a:t>) FROM (</a:t>
            </a:r>
          </a:p>
          <a:p>
            <a:pPr marL="36900" indent="0">
              <a:buNone/>
            </a:pPr>
            <a:r>
              <a:rPr lang="en-US" sz="1400" dirty="0">
                <a:latin typeface="Courier New" panose="02070309020205020404" pitchFamily="49" charset="0"/>
                <a:cs typeface="Courier New" panose="02070309020205020404" pitchFamily="49" charset="0"/>
              </a:rPr>
              <a:t>         SELECT TOP 5 </a:t>
            </a:r>
            <a:r>
              <a:rPr lang="en-US" sz="1400" dirty="0" err="1">
                <a:latin typeface="Courier New" panose="02070309020205020404" pitchFamily="49" charset="0"/>
                <a:cs typeface="Courier New" panose="02070309020205020404" pitchFamily="49" charset="0"/>
              </a:rPr>
              <a:t>Avg_Speed_KM_HR</a:t>
            </a:r>
            <a:endParaRPr lang="en-US"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         FROM </a:t>
            </a:r>
            <a:r>
              <a:rPr lang="en-IN" sz="1400" dirty="0" err="1">
                <a:latin typeface="Courier New" panose="02070309020205020404" pitchFamily="49" charset="0"/>
                <a:cs typeface="Courier New" panose="02070309020205020404" pitchFamily="49" charset="0"/>
              </a:rPr>
              <a:t>UPS.Delivery_Agents</a:t>
            </a:r>
            <a:endParaRPr lang="en-IN" sz="1400" dirty="0">
              <a:latin typeface="Courier New" panose="02070309020205020404" pitchFamily="49" charset="0"/>
              <a:cs typeface="Courier New" panose="02070309020205020404" pitchFamily="49" charset="0"/>
            </a:endParaRPr>
          </a:p>
          <a:p>
            <a:pPr marL="36900" indent="0">
              <a:buNone/>
            </a:pPr>
            <a:r>
              <a:rPr lang="en-US" sz="1400" dirty="0">
                <a:latin typeface="Courier New" panose="02070309020205020404" pitchFamily="49" charset="0"/>
                <a:cs typeface="Courier New" panose="02070309020205020404" pitchFamily="49" charset="0"/>
              </a:rPr>
              <a:t>         ORDER BY </a:t>
            </a:r>
            <a:r>
              <a:rPr lang="en-US" sz="1400" dirty="0" err="1">
                <a:latin typeface="Courier New" panose="02070309020205020404" pitchFamily="49" charset="0"/>
                <a:cs typeface="Courier New" panose="02070309020205020404" pitchFamily="49" charset="0"/>
              </a:rPr>
              <a:t>On_Time_Percentage</a:t>
            </a:r>
            <a:r>
              <a:rPr lang="en-US" sz="1400" dirty="0">
                <a:latin typeface="Courier New" panose="02070309020205020404" pitchFamily="49" charset="0"/>
                <a:cs typeface="Courier New" panose="02070309020205020404" pitchFamily="49" charset="0"/>
              </a:rPr>
              <a:t> DESC</a:t>
            </a:r>
          </a:p>
          <a:p>
            <a:pPr marL="36900" indent="0">
              <a:buNone/>
            </a:pPr>
            <a:r>
              <a:rPr lang="en-IN" sz="1400" dirty="0">
                <a:latin typeface="Courier New" panose="02070309020205020404" pitchFamily="49" charset="0"/>
                <a:cs typeface="Courier New" panose="02070309020205020404" pitchFamily="49" charset="0"/>
              </a:rPr>
              <a:t>     ) AS </a:t>
            </a:r>
            <a:r>
              <a:rPr lang="en-IN" sz="1400" dirty="0" err="1">
                <a:latin typeface="Courier New" panose="02070309020205020404" pitchFamily="49" charset="0"/>
                <a:cs typeface="Courier New" panose="02070309020205020404" pitchFamily="49" charset="0"/>
              </a:rPr>
              <a:t>Top_Delivery_Agents</a:t>
            </a:r>
            <a:endParaRPr lang="en-IN" sz="1400" dirty="0">
              <a:latin typeface="Courier New" panose="02070309020205020404" pitchFamily="49" charset="0"/>
              <a:cs typeface="Courier New" panose="02070309020205020404" pitchFamily="49" charset="0"/>
            </a:endParaRPr>
          </a:p>
          <a:p>
            <a:pPr marL="36900" indent="0">
              <a:buNone/>
            </a:pPr>
            <a:r>
              <a:rPr lang="en-US" sz="1400" dirty="0">
                <a:latin typeface="Courier New" panose="02070309020205020404" pitchFamily="49" charset="0"/>
                <a:cs typeface="Courier New" panose="02070309020205020404" pitchFamily="49" charset="0"/>
              </a:rPr>
              <a:t>    ) AS Top_5_Avg_Speed,</a:t>
            </a:r>
          </a:p>
          <a:p>
            <a:pPr marL="36900" indent="0">
              <a:buNone/>
            </a:pPr>
            <a:endParaRPr lang="en-IN"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    (SELECT AVG(</a:t>
            </a:r>
            <a:r>
              <a:rPr lang="en-IN" sz="1400" dirty="0" err="1">
                <a:latin typeface="Courier New" panose="02070309020205020404" pitchFamily="49" charset="0"/>
                <a:cs typeface="Courier New" panose="02070309020205020404" pitchFamily="49" charset="0"/>
              </a:rPr>
              <a:t>Avg_Speed_KM_HR</a:t>
            </a:r>
            <a:r>
              <a:rPr lang="en-IN" sz="1400" dirty="0">
                <a:latin typeface="Courier New" panose="02070309020205020404" pitchFamily="49" charset="0"/>
                <a:cs typeface="Courier New" panose="02070309020205020404" pitchFamily="49" charset="0"/>
              </a:rPr>
              <a:t>) FROM (</a:t>
            </a:r>
          </a:p>
          <a:p>
            <a:pPr marL="36900" indent="0">
              <a:buNone/>
            </a:pPr>
            <a:r>
              <a:rPr lang="en-US" sz="1400" dirty="0">
                <a:latin typeface="Courier New" panose="02070309020205020404" pitchFamily="49" charset="0"/>
                <a:cs typeface="Courier New" panose="02070309020205020404" pitchFamily="49" charset="0"/>
              </a:rPr>
              <a:t>         SELECT TOP 5 </a:t>
            </a:r>
            <a:r>
              <a:rPr lang="en-US" sz="1400" dirty="0" err="1">
                <a:latin typeface="Courier New" panose="02070309020205020404" pitchFamily="49" charset="0"/>
                <a:cs typeface="Courier New" panose="02070309020205020404" pitchFamily="49" charset="0"/>
              </a:rPr>
              <a:t>Avg_Speed_KM_HR</a:t>
            </a:r>
            <a:endParaRPr lang="en-US"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         FROM </a:t>
            </a:r>
            <a:r>
              <a:rPr lang="en-IN" sz="1400" dirty="0" err="1">
                <a:latin typeface="Courier New" panose="02070309020205020404" pitchFamily="49" charset="0"/>
                <a:cs typeface="Courier New" panose="02070309020205020404" pitchFamily="49" charset="0"/>
              </a:rPr>
              <a:t>UPS.Delivery_Agents</a:t>
            </a:r>
            <a:endParaRPr lang="en-IN" sz="1400" dirty="0">
              <a:latin typeface="Courier New" panose="02070309020205020404" pitchFamily="49" charset="0"/>
              <a:cs typeface="Courier New" panose="02070309020205020404" pitchFamily="49" charset="0"/>
            </a:endParaRPr>
          </a:p>
          <a:p>
            <a:pPr marL="36900" indent="0">
              <a:buNone/>
            </a:pPr>
            <a:r>
              <a:rPr lang="en-US" sz="1400" dirty="0">
                <a:latin typeface="Courier New" panose="02070309020205020404" pitchFamily="49" charset="0"/>
                <a:cs typeface="Courier New" panose="02070309020205020404" pitchFamily="49" charset="0"/>
              </a:rPr>
              <a:t>         ORDER BY </a:t>
            </a:r>
            <a:r>
              <a:rPr lang="en-US" sz="1400" dirty="0" err="1">
                <a:latin typeface="Courier New" panose="02070309020205020404" pitchFamily="49" charset="0"/>
                <a:cs typeface="Courier New" panose="02070309020205020404" pitchFamily="49" charset="0"/>
              </a:rPr>
              <a:t>On_Time_Percentage</a:t>
            </a:r>
            <a:r>
              <a:rPr lang="en-US" sz="1400" dirty="0">
                <a:latin typeface="Courier New" panose="02070309020205020404" pitchFamily="49" charset="0"/>
                <a:cs typeface="Courier New" panose="02070309020205020404" pitchFamily="49" charset="0"/>
              </a:rPr>
              <a:t> ASC</a:t>
            </a:r>
          </a:p>
          <a:p>
            <a:pPr marL="36900" indent="0">
              <a:buNone/>
            </a:pPr>
            <a:r>
              <a:rPr lang="en-IN" sz="1400" dirty="0">
                <a:latin typeface="Courier New" panose="02070309020205020404" pitchFamily="49" charset="0"/>
                <a:cs typeface="Courier New" panose="02070309020205020404" pitchFamily="49" charset="0"/>
              </a:rPr>
              <a:t>     ) AS </a:t>
            </a:r>
            <a:r>
              <a:rPr lang="en-IN" sz="1400" dirty="0" err="1">
                <a:latin typeface="Courier New" panose="02070309020205020404" pitchFamily="49" charset="0"/>
                <a:cs typeface="Courier New" panose="02070309020205020404" pitchFamily="49" charset="0"/>
              </a:rPr>
              <a:t>Bottom_Delivery_Agents</a:t>
            </a:r>
            <a:endParaRPr lang="en-IN" sz="1400" dirty="0">
              <a:latin typeface="Courier New" panose="02070309020205020404" pitchFamily="49" charset="0"/>
              <a:cs typeface="Courier New" panose="02070309020205020404" pitchFamily="49" charset="0"/>
            </a:endParaRPr>
          </a:p>
          <a:p>
            <a:pPr marL="36900" indent="0">
              <a:buNone/>
            </a:pPr>
            <a:r>
              <a:rPr lang="en-US" sz="1400" dirty="0">
                <a:latin typeface="Courier New" panose="02070309020205020404" pitchFamily="49" charset="0"/>
                <a:cs typeface="Courier New" panose="02070309020205020404" pitchFamily="49" charset="0"/>
              </a:rPr>
              <a:t>    ) AS Bottom_5_Avg_Speed;</a:t>
            </a:r>
            <a:endParaRPr lang="en-IN" sz="1400" b="1" dirty="0">
              <a:solidFill>
                <a:schemeClr val="tx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191767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B860-4F23-662B-718D-54F8A8ECF7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07DCD-4015-64AE-53BB-2CBEF2252028}"/>
              </a:ext>
            </a:extLst>
          </p:cNvPr>
          <p:cNvSpPr>
            <a:spLocks noGrp="1"/>
          </p:cNvSpPr>
          <p:nvPr>
            <p:ph type="title"/>
          </p:nvPr>
        </p:nvSpPr>
        <p:spPr>
          <a:xfrm>
            <a:off x="913795" y="106431"/>
            <a:ext cx="10353762" cy="721199"/>
          </a:xfrm>
        </p:spPr>
        <p:txBody>
          <a:bodyPr>
            <a:normAutofit/>
          </a:bodyPr>
          <a:lstStyle/>
          <a:p>
            <a:r>
              <a:rPr lang="en-US" sz="2800" b="1" dirty="0"/>
              <a:t>Average Speed of Top 5 vs Bottom 5 Agents</a:t>
            </a:r>
            <a:endParaRPr lang="en-IN" sz="2400" b="1" dirty="0"/>
          </a:p>
        </p:txBody>
      </p:sp>
      <p:pic>
        <p:nvPicPr>
          <p:cNvPr id="9" name="Picture 8">
            <a:extLst>
              <a:ext uri="{FF2B5EF4-FFF2-40B4-BE49-F238E27FC236}">
                <a16:creationId xmlns:a16="http://schemas.microsoft.com/office/drawing/2014/main" id="{E87DA3B6-A20D-58CC-1E5F-B0A15B9ABBFF}"/>
              </a:ext>
            </a:extLst>
          </p:cNvPr>
          <p:cNvPicPr>
            <a:picLocks noChangeAspect="1"/>
          </p:cNvPicPr>
          <p:nvPr/>
        </p:nvPicPr>
        <p:blipFill>
          <a:blip r:embed="rId2"/>
          <a:stretch>
            <a:fillRect/>
          </a:stretch>
        </p:blipFill>
        <p:spPr>
          <a:xfrm>
            <a:off x="425088" y="1978095"/>
            <a:ext cx="5450374" cy="4363710"/>
          </a:xfrm>
          <a:prstGeom prst="rect">
            <a:avLst/>
          </a:prstGeom>
        </p:spPr>
      </p:pic>
      <p:pic>
        <p:nvPicPr>
          <p:cNvPr id="14" name="Content Placeholder 13">
            <a:extLst>
              <a:ext uri="{FF2B5EF4-FFF2-40B4-BE49-F238E27FC236}">
                <a16:creationId xmlns:a16="http://schemas.microsoft.com/office/drawing/2014/main" id="{91159AB1-DB94-E81E-0FAA-C7D987C51F27}"/>
              </a:ext>
            </a:extLst>
          </p:cNvPr>
          <p:cNvPicPr>
            <a:picLocks noGrp="1" noChangeAspect="1"/>
          </p:cNvPicPr>
          <p:nvPr>
            <p:ph idx="1"/>
          </p:nvPr>
        </p:nvPicPr>
        <p:blipFill>
          <a:blip r:embed="rId3"/>
          <a:stretch>
            <a:fillRect/>
          </a:stretch>
        </p:blipFill>
        <p:spPr>
          <a:xfrm>
            <a:off x="4656963" y="1120458"/>
            <a:ext cx="2867425" cy="476316"/>
          </a:xfrm>
          <a:prstGeom prst="rect">
            <a:avLst/>
          </a:prstGeom>
          <a:effectLst>
            <a:outerShdw blurRad="25400" dir="17880000">
              <a:srgbClr val="000000">
                <a:alpha val="46000"/>
              </a:srgbClr>
            </a:outerShdw>
          </a:effectLst>
        </p:spPr>
      </p:pic>
      <p:pic>
        <p:nvPicPr>
          <p:cNvPr id="16" name="Picture 15">
            <a:extLst>
              <a:ext uri="{FF2B5EF4-FFF2-40B4-BE49-F238E27FC236}">
                <a16:creationId xmlns:a16="http://schemas.microsoft.com/office/drawing/2014/main" id="{858A2C54-8F1D-127F-94DF-5EBE9CF9D594}"/>
              </a:ext>
            </a:extLst>
          </p:cNvPr>
          <p:cNvPicPr>
            <a:picLocks noChangeAspect="1"/>
          </p:cNvPicPr>
          <p:nvPr/>
        </p:nvPicPr>
        <p:blipFill>
          <a:blip r:embed="rId4"/>
          <a:stretch>
            <a:fillRect/>
          </a:stretch>
        </p:blipFill>
        <p:spPr>
          <a:xfrm>
            <a:off x="6332677" y="1978094"/>
            <a:ext cx="5509822" cy="4363711"/>
          </a:xfrm>
          <a:prstGeom prst="rect">
            <a:avLst/>
          </a:prstGeom>
        </p:spPr>
      </p:pic>
    </p:spTree>
    <p:extLst>
      <p:ext uri="{BB962C8B-B14F-4D97-AF65-F5344CB8AC3E}">
        <p14:creationId xmlns:p14="http://schemas.microsoft.com/office/powerpoint/2010/main" val="42477275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3690C-5A77-E438-F4BD-A176C7FE44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470D7-3127-7977-2C6E-4F2EF1247A8B}"/>
              </a:ext>
            </a:extLst>
          </p:cNvPr>
          <p:cNvSpPr>
            <a:spLocks noGrp="1"/>
          </p:cNvSpPr>
          <p:nvPr>
            <p:ph type="title"/>
          </p:nvPr>
        </p:nvSpPr>
        <p:spPr/>
        <p:txBody>
          <a:bodyPr>
            <a:normAutofit/>
          </a:bodyPr>
          <a:lstStyle/>
          <a:p>
            <a:r>
              <a:rPr lang="en-IN" b="1" dirty="0"/>
              <a:t>Recommendations — Agents Performance</a:t>
            </a:r>
          </a:p>
        </p:txBody>
      </p:sp>
      <p:sp>
        <p:nvSpPr>
          <p:cNvPr id="3" name="Content Placeholder 2">
            <a:extLst>
              <a:ext uri="{FF2B5EF4-FFF2-40B4-BE49-F238E27FC236}">
                <a16:creationId xmlns:a16="http://schemas.microsoft.com/office/drawing/2014/main" id="{2A56434A-65E8-1B62-5C69-88466700CAA6}"/>
              </a:ext>
            </a:extLst>
          </p:cNvPr>
          <p:cNvSpPr>
            <a:spLocks noGrp="1"/>
          </p:cNvSpPr>
          <p:nvPr>
            <p:ph idx="1"/>
          </p:nvPr>
        </p:nvSpPr>
        <p:spPr>
          <a:xfrm>
            <a:off x="913795" y="1671485"/>
            <a:ext cx="10353762" cy="4945625"/>
          </a:xfrm>
        </p:spPr>
        <p:txBody>
          <a:bodyPr>
            <a:noAutofit/>
          </a:bodyPr>
          <a:lstStyle/>
          <a:p>
            <a:r>
              <a:rPr lang="en-US" sz="1600" dirty="0"/>
              <a:t>Agents with on-time delivery below 80% need immediate attention. These 20 agents should receive additional training on route optimization and time management to improve their delivery efficiency.</a:t>
            </a:r>
          </a:p>
          <a:p>
            <a:r>
              <a:rPr lang="en-US" sz="1600" dirty="0"/>
              <a:t>Route R002 has multiple underperforming agents (5 agents below 80%), which suggests either the route itself is problematic or there's a need for better coordination. This route should be reviewed for possible redesign or redistribution of delivery zones.</a:t>
            </a:r>
          </a:p>
          <a:p>
            <a:r>
              <a:rPr lang="en-US" sz="1600" dirty="0"/>
              <a:t>The significant speed difference between top performers (78 average speed) and bottom performers (33 average speed) shows that faster agents are more likely to deliver on time. Speed improvement programs or vehicle upgrades for slower agents could help close this gap.</a:t>
            </a:r>
          </a:p>
          <a:p>
            <a:r>
              <a:rPr lang="en-US" sz="1600" dirty="0"/>
              <a:t>Top-performing agents like A014 (99.90%), A049 (99.82%), and A032 (99.32%) should be recognized and their delivery methods should be documented as best practices for training other agents.</a:t>
            </a:r>
          </a:p>
          <a:p>
            <a:r>
              <a:rPr lang="en-US" sz="1600" dirty="0"/>
              <a:t>Agents ranked lower on their routes should be paired with top performers for mentoring. Learning from high-ranking colleagues can help them understand better routing decisions and time-saving techniques.</a:t>
            </a:r>
          </a:p>
          <a:p>
            <a:r>
              <a:rPr lang="en-US" sz="1600" dirty="0"/>
              <a:t>Some routes like R007 and R008 have wide performance variations between agents, indicating that success on these routes depends heavily on individual strategy rather than route difficulty. Sharing successful approaches across agents on the same route could level up performance.</a:t>
            </a:r>
          </a:p>
          <a:p>
            <a:r>
              <a:rPr lang="en-US" sz="1600" dirty="0"/>
              <a:t>Regular performance reviews focusing on on-time percentage and delivery speed will help identify declining performance early and allow for corrective action before it affects customer satisfaction.</a:t>
            </a:r>
          </a:p>
        </p:txBody>
      </p:sp>
    </p:spTree>
    <p:extLst>
      <p:ext uri="{BB962C8B-B14F-4D97-AF65-F5344CB8AC3E}">
        <p14:creationId xmlns:p14="http://schemas.microsoft.com/office/powerpoint/2010/main" val="11079666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2AA0B-E5F6-FB04-0C27-8E4B74C2CA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4C607-6D28-84B6-BBE2-671FC8E0EDCD}"/>
              </a:ext>
            </a:extLst>
          </p:cNvPr>
          <p:cNvSpPr>
            <a:spLocks noGrp="1"/>
          </p:cNvSpPr>
          <p:nvPr>
            <p:ph type="title"/>
          </p:nvPr>
        </p:nvSpPr>
        <p:spPr/>
        <p:txBody>
          <a:bodyPr>
            <a:normAutofit/>
          </a:bodyPr>
          <a:lstStyle/>
          <a:p>
            <a:r>
              <a:rPr lang="en-US" dirty="0"/>
              <a:t>Task 6: </a:t>
            </a:r>
            <a:r>
              <a:rPr lang="en-IN" b="1" dirty="0"/>
              <a:t>Shipment Tracking Analytics</a:t>
            </a:r>
            <a:endParaRPr lang="en-IN" sz="4000" b="1" dirty="0"/>
          </a:p>
        </p:txBody>
      </p:sp>
      <p:sp>
        <p:nvSpPr>
          <p:cNvPr id="3" name="Content Placeholder 2">
            <a:extLst>
              <a:ext uri="{FF2B5EF4-FFF2-40B4-BE49-F238E27FC236}">
                <a16:creationId xmlns:a16="http://schemas.microsoft.com/office/drawing/2014/main" id="{A6FB6865-B14B-F247-A138-146B36233845}"/>
              </a:ext>
            </a:extLst>
          </p:cNvPr>
          <p:cNvSpPr>
            <a:spLocks noGrp="1"/>
          </p:cNvSpPr>
          <p:nvPr>
            <p:ph idx="1"/>
          </p:nvPr>
        </p:nvSpPr>
        <p:spPr>
          <a:xfrm>
            <a:off x="979100" y="1540489"/>
            <a:ext cx="10233800" cy="5096286"/>
          </a:xfrm>
        </p:spPr>
        <p:txBody>
          <a:bodyPr>
            <a:normAutofit lnSpcReduction="10000"/>
          </a:bodyPr>
          <a:lstStyle/>
          <a:p>
            <a:pPr>
              <a:lnSpc>
                <a:spcPct val="150000"/>
              </a:lnSpc>
            </a:pPr>
            <a:r>
              <a:rPr lang="en-IN" sz="2200" b="1" dirty="0"/>
              <a:t>Objective:</a:t>
            </a:r>
            <a:br>
              <a:rPr lang="en-IN" dirty="0"/>
            </a:br>
            <a:r>
              <a:rPr lang="en-US" sz="1800" dirty="0"/>
              <a:t>Study shipment tracking data to follow delivery movement, spot delay trends, and find shipments facing issues. This helps increase logistics visibility, lower bottlenecks, and improve operational control throughout the delivery process. </a:t>
            </a:r>
          </a:p>
          <a:p>
            <a:pPr>
              <a:lnSpc>
                <a:spcPct val="150000"/>
              </a:lnSpc>
            </a:pPr>
            <a:r>
              <a:rPr lang="en-US" b="1" dirty="0"/>
              <a:t>Subtasks Covered:</a:t>
            </a:r>
          </a:p>
          <a:p>
            <a:pPr>
              <a:buFont typeface="Arial" panose="020B0604020202020204" pitchFamily="34" charset="0"/>
              <a:buChar char="•"/>
            </a:pPr>
            <a:r>
              <a:rPr lang="en-US" sz="1800" dirty="0"/>
              <a:t>Retrieve the </a:t>
            </a:r>
            <a:r>
              <a:rPr lang="en-US" sz="1800" b="1" dirty="0"/>
              <a:t>last checkpoint and corresponding timestamp</a:t>
            </a:r>
            <a:r>
              <a:rPr lang="en-US" sz="1800" dirty="0"/>
              <a:t> for each order to determine the latest shipment status.</a:t>
            </a:r>
          </a:p>
          <a:p>
            <a:pPr>
              <a:buFont typeface="Arial" panose="020B0604020202020204" pitchFamily="34" charset="0"/>
              <a:buChar char="•"/>
            </a:pPr>
            <a:r>
              <a:rPr lang="en-US" sz="1800" dirty="0"/>
              <a:t>Analyze tracking records to find the </a:t>
            </a:r>
            <a:r>
              <a:rPr lang="en-US" sz="1800" b="1" dirty="0"/>
              <a:t>most common delay reasons</a:t>
            </a:r>
            <a:r>
              <a:rPr lang="en-US" sz="1800" dirty="0"/>
              <a:t> (excluding “None”) to understand major operational disruptions.</a:t>
            </a:r>
          </a:p>
          <a:p>
            <a:pPr>
              <a:buFont typeface="Arial" panose="020B0604020202020204" pitchFamily="34" charset="0"/>
              <a:buChar char="•"/>
            </a:pPr>
            <a:r>
              <a:rPr lang="en-US" sz="1800" dirty="0"/>
              <a:t>Identify orders with </a:t>
            </a:r>
            <a:r>
              <a:rPr lang="en-US" sz="1800" b="1" dirty="0"/>
              <a:t>more than two delayed checkpoints</a:t>
            </a:r>
            <a:r>
              <a:rPr lang="en-US" sz="1800" dirty="0"/>
              <a:t> to detect shipments at high risk of significant delay.</a:t>
            </a:r>
          </a:p>
          <a:p>
            <a:pPr>
              <a:buFont typeface="Arial" panose="020B0604020202020204" pitchFamily="34" charset="0"/>
              <a:buChar char="•"/>
            </a:pPr>
            <a:r>
              <a:rPr lang="en-US" sz="1800" dirty="0"/>
              <a:t>Use tracking data to uncover patterns in shipment movement and delay accumulation across routes.</a:t>
            </a:r>
          </a:p>
          <a:p>
            <a:pPr>
              <a:buFont typeface="Arial" panose="020B0604020202020204" pitchFamily="34" charset="0"/>
              <a:buChar char="•"/>
            </a:pPr>
            <a:r>
              <a:rPr lang="en-US" sz="1800" dirty="0"/>
              <a:t>Support proactive intervention by highlighting orders requiring attention from operations teams.</a:t>
            </a:r>
            <a:endParaRPr lang="en-US" sz="1800" b="1" dirty="0"/>
          </a:p>
          <a:p>
            <a:pPr>
              <a:lnSpc>
                <a:spcPct val="150000"/>
              </a:lnSpc>
            </a:pPr>
            <a:endParaRPr lang="en-US" sz="2200" b="1" dirty="0"/>
          </a:p>
        </p:txBody>
      </p:sp>
    </p:spTree>
    <p:extLst>
      <p:ext uri="{BB962C8B-B14F-4D97-AF65-F5344CB8AC3E}">
        <p14:creationId xmlns:p14="http://schemas.microsoft.com/office/powerpoint/2010/main" val="34026386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3E423-05FD-86AE-8826-F66B39C986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C7408-9BAD-FF36-3562-DB007B0215D9}"/>
              </a:ext>
            </a:extLst>
          </p:cNvPr>
          <p:cNvSpPr>
            <a:spLocks noGrp="1"/>
          </p:cNvSpPr>
          <p:nvPr>
            <p:ph type="title"/>
          </p:nvPr>
        </p:nvSpPr>
        <p:spPr>
          <a:xfrm>
            <a:off x="402715" y="106431"/>
            <a:ext cx="11375922" cy="721199"/>
          </a:xfrm>
        </p:spPr>
        <p:txBody>
          <a:bodyPr>
            <a:normAutofit/>
          </a:bodyPr>
          <a:lstStyle/>
          <a:p>
            <a:r>
              <a:rPr lang="en-IN" sz="2800" b="1" dirty="0"/>
              <a:t>Last Checkpoint and Time for each Order</a:t>
            </a:r>
            <a:endParaRPr lang="en-IN" sz="2400" b="1" dirty="0"/>
          </a:p>
        </p:txBody>
      </p:sp>
      <p:sp>
        <p:nvSpPr>
          <p:cNvPr id="3" name="Content Placeholder 2">
            <a:extLst>
              <a:ext uri="{FF2B5EF4-FFF2-40B4-BE49-F238E27FC236}">
                <a16:creationId xmlns:a16="http://schemas.microsoft.com/office/drawing/2014/main" id="{8F4CDAFD-E3CD-54DD-49C7-11345C2C33E0}"/>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latin typeface="Courier New" panose="02070309020205020404" pitchFamily="49" charset="0"/>
                <a:cs typeface="Courier New" panose="02070309020205020404" pitchFamily="49" charset="0"/>
              </a:rPr>
              <a:t>SELECT </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Order_ID</a:t>
            </a:r>
            <a:r>
              <a:rPr lang="en-IN"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[Checkpoint ],</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Checkpoint_Time</a:t>
            </a:r>
            <a:endParaRPr lang="en-IN"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FROM</a:t>
            </a:r>
          </a:p>
          <a:p>
            <a:pPr marL="36900" indent="0">
              <a:buNone/>
            </a:pPr>
            <a:r>
              <a:rPr lang="en-IN" sz="1400" dirty="0">
                <a:latin typeface="Courier New" panose="02070309020205020404" pitchFamily="49" charset="0"/>
                <a:cs typeface="Courier New" panose="02070309020205020404" pitchFamily="49" charset="0"/>
              </a:rPr>
              <a:t>	(SELECT</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Order_ID</a:t>
            </a:r>
            <a:r>
              <a:rPr lang="en-IN"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[Checkpoint ],</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Checkpoint_Time</a:t>
            </a:r>
            <a:r>
              <a:rPr lang="en-IN" sz="1400" dirty="0">
                <a:latin typeface="Courier New" panose="02070309020205020404" pitchFamily="49" charset="0"/>
                <a:cs typeface="Courier New" panose="02070309020205020404" pitchFamily="49" charset="0"/>
              </a:rPr>
              <a:t>,</a:t>
            </a:r>
          </a:p>
          <a:p>
            <a:pPr marL="36900" inden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Row_Number</a:t>
            </a:r>
            <a:r>
              <a:rPr lang="en-US" sz="1400" dirty="0">
                <a:latin typeface="Courier New" panose="02070309020205020404" pitchFamily="49" charset="0"/>
                <a:cs typeface="Courier New" panose="02070309020205020404" pitchFamily="49" charset="0"/>
              </a:rPr>
              <a:t>() </a:t>
            </a:r>
          </a:p>
          <a:p>
            <a:pPr marL="36900" indent="0">
              <a:buNone/>
            </a:pPr>
            <a:r>
              <a:rPr lang="en-US" sz="1400" dirty="0">
                <a:latin typeface="Courier New" panose="02070309020205020404" pitchFamily="49" charset="0"/>
                <a:cs typeface="Courier New" panose="02070309020205020404" pitchFamily="49" charset="0"/>
              </a:rPr>
              <a:t>		OVER(PARTITION BY </a:t>
            </a:r>
            <a:r>
              <a:rPr lang="en-US" sz="1400" dirty="0" err="1">
                <a:latin typeface="Courier New" panose="02070309020205020404" pitchFamily="49" charset="0"/>
                <a:cs typeface="Courier New" panose="02070309020205020404" pitchFamily="49" charset="0"/>
              </a:rPr>
              <a:t>Order_ID</a:t>
            </a:r>
            <a:r>
              <a:rPr lang="en-US" sz="1400" dirty="0">
                <a:latin typeface="Courier New" panose="02070309020205020404" pitchFamily="49" charset="0"/>
                <a:cs typeface="Courier New" panose="02070309020205020404" pitchFamily="49" charset="0"/>
              </a:rPr>
              <a:t> ORDER BY </a:t>
            </a:r>
            <a:r>
              <a:rPr lang="en-US" sz="1400" dirty="0" err="1">
                <a:latin typeface="Courier New" panose="02070309020205020404" pitchFamily="49" charset="0"/>
                <a:cs typeface="Courier New" panose="02070309020205020404" pitchFamily="49" charset="0"/>
              </a:rPr>
              <a:t>Checkpoint_Time</a:t>
            </a:r>
            <a:r>
              <a:rPr lang="en-US" sz="1400" dirty="0">
                <a:latin typeface="Courier New" panose="02070309020205020404" pitchFamily="49" charset="0"/>
                <a:cs typeface="Courier New" panose="02070309020205020404" pitchFamily="49" charset="0"/>
              </a:rPr>
              <a:t> DESC, [Checkpoint ] DESC) </a:t>
            </a:r>
            <a:r>
              <a:rPr lang="en-US" sz="1400" dirty="0" err="1">
                <a:latin typeface="Courier New" panose="02070309020205020404" pitchFamily="49" charset="0"/>
                <a:cs typeface="Courier New" panose="02070309020205020404" pitchFamily="49" charset="0"/>
              </a:rPr>
              <a:t>rn</a:t>
            </a:r>
            <a:endParaRPr lang="en-US" sz="1400" dirty="0">
              <a:latin typeface="Courier New" panose="02070309020205020404" pitchFamily="49" charset="0"/>
              <a:cs typeface="Courier New" panose="02070309020205020404" pitchFamily="49" charset="0"/>
            </a:endParaRPr>
          </a:p>
          <a:p>
            <a:pPr marL="36900" indent="0">
              <a:buNone/>
            </a:pPr>
            <a:r>
              <a:rPr lang="en-US" sz="1400" dirty="0">
                <a:latin typeface="Courier New" panose="02070309020205020404" pitchFamily="49" charset="0"/>
                <a:cs typeface="Courier New" panose="02070309020205020404" pitchFamily="49" charset="0"/>
              </a:rPr>
              <a:t>FROM </a:t>
            </a:r>
            <a:r>
              <a:rPr lang="en-US" sz="1400" dirty="0" err="1">
                <a:latin typeface="Courier New" panose="02070309020205020404" pitchFamily="49" charset="0"/>
                <a:cs typeface="Courier New" panose="02070309020205020404" pitchFamily="49" charset="0"/>
              </a:rPr>
              <a:t>UPS.Shipment_Tracking</a:t>
            </a:r>
            <a:r>
              <a:rPr lang="en-US" sz="1400" dirty="0">
                <a:latin typeface="Courier New" panose="02070309020205020404" pitchFamily="49" charset="0"/>
                <a:cs typeface="Courier New" panose="02070309020205020404" pitchFamily="49" charset="0"/>
              </a:rPr>
              <a:t>) t</a:t>
            </a:r>
          </a:p>
          <a:p>
            <a:pPr marL="36900" indent="0">
              <a:buNone/>
            </a:pPr>
            <a:r>
              <a:rPr lang="en-IN" sz="1400" dirty="0">
                <a:latin typeface="Courier New" panose="02070309020205020404" pitchFamily="49" charset="0"/>
                <a:cs typeface="Courier New" panose="02070309020205020404" pitchFamily="49" charset="0"/>
              </a:rPr>
              <a:t>WHERE </a:t>
            </a:r>
            <a:r>
              <a:rPr lang="en-IN" sz="1400" dirty="0" err="1">
                <a:latin typeface="Courier New" panose="02070309020205020404" pitchFamily="49" charset="0"/>
                <a:cs typeface="Courier New" panose="02070309020205020404" pitchFamily="49" charset="0"/>
              </a:rPr>
              <a:t>rn</a:t>
            </a:r>
            <a:r>
              <a:rPr lang="en-IN" sz="1400" dirty="0">
                <a:latin typeface="Courier New" panose="02070309020205020404" pitchFamily="49" charset="0"/>
                <a:cs typeface="Courier New" panose="02070309020205020404" pitchFamily="49" charset="0"/>
              </a:rPr>
              <a:t> = 1;</a:t>
            </a:r>
            <a:endParaRPr lang="en-IN" sz="1400" b="1" dirty="0">
              <a:solidFill>
                <a:schemeClr val="tx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269412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63420-930F-BB34-404C-4408074741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96CCAC-A9EF-D099-B574-C61A7EF15E24}"/>
              </a:ext>
            </a:extLst>
          </p:cNvPr>
          <p:cNvSpPr>
            <a:spLocks noGrp="1"/>
          </p:cNvSpPr>
          <p:nvPr>
            <p:ph type="title"/>
          </p:nvPr>
        </p:nvSpPr>
        <p:spPr>
          <a:xfrm>
            <a:off x="913795" y="106431"/>
            <a:ext cx="10353762" cy="721199"/>
          </a:xfrm>
        </p:spPr>
        <p:txBody>
          <a:bodyPr>
            <a:normAutofit/>
          </a:bodyPr>
          <a:lstStyle/>
          <a:p>
            <a:r>
              <a:rPr lang="en-IN" sz="2800" b="1" dirty="0"/>
              <a:t>Last Checkpoint and Time for each Order</a:t>
            </a:r>
            <a:endParaRPr lang="en-IN" sz="2400" b="1" dirty="0"/>
          </a:p>
        </p:txBody>
      </p:sp>
      <p:pic>
        <p:nvPicPr>
          <p:cNvPr id="6" name="Content Placeholder 5">
            <a:extLst>
              <a:ext uri="{FF2B5EF4-FFF2-40B4-BE49-F238E27FC236}">
                <a16:creationId xmlns:a16="http://schemas.microsoft.com/office/drawing/2014/main" id="{36F04A23-A663-5151-7AE7-D86D7CA98CB4}"/>
              </a:ext>
            </a:extLst>
          </p:cNvPr>
          <p:cNvPicPr>
            <a:picLocks noGrp="1" noChangeAspect="1"/>
          </p:cNvPicPr>
          <p:nvPr>
            <p:ph idx="1"/>
          </p:nvPr>
        </p:nvPicPr>
        <p:blipFill>
          <a:blip r:embed="rId2"/>
          <a:stretch>
            <a:fillRect/>
          </a:stretch>
        </p:blipFill>
        <p:spPr>
          <a:xfrm>
            <a:off x="4499853" y="953263"/>
            <a:ext cx="3192294" cy="5624518"/>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1456702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F22D1-6656-67B3-EE71-27BD37D65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FDB8C8-00A6-8616-3EFC-A765AAE4A23D}"/>
              </a:ext>
            </a:extLst>
          </p:cNvPr>
          <p:cNvSpPr>
            <a:spLocks noGrp="1"/>
          </p:cNvSpPr>
          <p:nvPr>
            <p:ph type="title"/>
          </p:nvPr>
        </p:nvSpPr>
        <p:spPr>
          <a:xfrm>
            <a:off x="402715" y="106431"/>
            <a:ext cx="11375922" cy="721199"/>
          </a:xfrm>
        </p:spPr>
        <p:txBody>
          <a:bodyPr>
            <a:normAutofit/>
          </a:bodyPr>
          <a:lstStyle/>
          <a:p>
            <a:r>
              <a:rPr lang="en-IN" sz="2800" b="1" dirty="0"/>
              <a:t>Most Common Delay Reasons for Orders</a:t>
            </a:r>
            <a:endParaRPr lang="en-IN" sz="2400" b="1" dirty="0"/>
          </a:p>
        </p:txBody>
      </p:sp>
      <p:sp>
        <p:nvSpPr>
          <p:cNvPr id="3" name="Content Placeholder 2">
            <a:extLst>
              <a:ext uri="{FF2B5EF4-FFF2-40B4-BE49-F238E27FC236}">
                <a16:creationId xmlns:a16="http://schemas.microsoft.com/office/drawing/2014/main" id="{44DBE96D-3EC9-20B3-6B81-E61C97D8EF7C}"/>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latin typeface="Courier New" panose="02070309020205020404" pitchFamily="49" charset="0"/>
                <a:cs typeface="Courier New" panose="02070309020205020404" pitchFamily="49" charset="0"/>
              </a:rPr>
              <a:t>SELECT</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Delay_Reason</a:t>
            </a:r>
            <a:r>
              <a:rPr lang="en-IN" sz="1400" dirty="0">
                <a:latin typeface="Courier New" panose="02070309020205020404" pitchFamily="49" charset="0"/>
                <a:cs typeface="Courier New" panose="02070309020205020404" pitchFamily="49" charset="0"/>
              </a:rPr>
              <a:t>,</a:t>
            </a:r>
          </a:p>
          <a:p>
            <a:pPr marL="36900" indent="0">
              <a:buNone/>
            </a:pPr>
            <a:r>
              <a:rPr lang="en-US" sz="1400" dirty="0">
                <a:latin typeface="Courier New" panose="02070309020205020404" pitchFamily="49" charset="0"/>
                <a:cs typeface="Courier New" panose="02070309020205020404" pitchFamily="49" charset="0"/>
              </a:rPr>
              <a:t>	COUNT(*) </a:t>
            </a:r>
            <a:r>
              <a:rPr lang="en-US" sz="1400" dirty="0" err="1">
                <a:latin typeface="Courier New" panose="02070309020205020404" pitchFamily="49" charset="0"/>
                <a:cs typeface="Courier New" panose="02070309020205020404" pitchFamily="49" charset="0"/>
              </a:rPr>
              <a:t>Frequency_Of_Delay_Reasons</a:t>
            </a:r>
            <a:endParaRPr lang="en-US"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FROM </a:t>
            </a:r>
            <a:r>
              <a:rPr lang="en-IN" sz="1400" dirty="0" err="1">
                <a:latin typeface="Courier New" panose="02070309020205020404" pitchFamily="49" charset="0"/>
                <a:cs typeface="Courier New" panose="02070309020205020404" pitchFamily="49" charset="0"/>
              </a:rPr>
              <a:t>UPS.Shipment_Tracking</a:t>
            </a:r>
            <a:endParaRPr lang="en-IN"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WHERE </a:t>
            </a:r>
            <a:r>
              <a:rPr lang="en-IN" sz="1400" dirty="0" err="1">
                <a:latin typeface="Courier New" panose="02070309020205020404" pitchFamily="49" charset="0"/>
                <a:cs typeface="Courier New" panose="02070309020205020404" pitchFamily="49" charset="0"/>
              </a:rPr>
              <a:t>Delay_Reason</a:t>
            </a:r>
            <a:r>
              <a:rPr lang="en-IN" sz="1400" dirty="0">
                <a:latin typeface="Courier New" panose="02070309020205020404" pitchFamily="49" charset="0"/>
                <a:cs typeface="Courier New" panose="02070309020205020404" pitchFamily="49" charset="0"/>
              </a:rPr>
              <a:t> &lt;&gt; 'None'</a:t>
            </a:r>
          </a:p>
          <a:p>
            <a:pPr marL="36900" indent="0">
              <a:buNone/>
            </a:pPr>
            <a:r>
              <a:rPr lang="en-IN" sz="1400" dirty="0">
                <a:latin typeface="Courier New" panose="02070309020205020404" pitchFamily="49" charset="0"/>
                <a:cs typeface="Courier New" panose="02070309020205020404" pitchFamily="49" charset="0"/>
              </a:rPr>
              <a:t>GROUP BY </a:t>
            </a:r>
            <a:r>
              <a:rPr lang="en-IN" sz="1400" dirty="0" err="1">
                <a:latin typeface="Courier New" panose="02070309020205020404" pitchFamily="49" charset="0"/>
                <a:cs typeface="Courier New" panose="02070309020205020404" pitchFamily="49" charset="0"/>
              </a:rPr>
              <a:t>Delay_Reason</a:t>
            </a:r>
            <a:endParaRPr lang="en-IN"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ORDER BY COUNT(*) DESC;</a:t>
            </a:r>
            <a:endParaRPr lang="en-IN" sz="1400" b="1" dirty="0">
              <a:solidFill>
                <a:schemeClr val="tx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2624932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830BB-454C-4355-BD69-117BB4AA4E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DBA66-ED2F-193C-A32A-D9197C7E933A}"/>
              </a:ext>
            </a:extLst>
          </p:cNvPr>
          <p:cNvSpPr>
            <a:spLocks noGrp="1"/>
          </p:cNvSpPr>
          <p:nvPr>
            <p:ph type="title"/>
          </p:nvPr>
        </p:nvSpPr>
        <p:spPr>
          <a:xfrm>
            <a:off x="913795" y="106431"/>
            <a:ext cx="10353762" cy="721199"/>
          </a:xfrm>
        </p:spPr>
        <p:txBody>
          <a:bodyPr>
            <a:normAutofit/>
          </a:bodyPr>
          <a:lstStyle/>
          <a:p>
            <a:r>
              <a:rPr lang="en-IN" sz="2800" b="1" dirty="0"/>
              <a:t>Most Common Delay Reasons for Orders</a:t>
            </a:r>
            <a:endParaRPr lang="en-IN" sz="2400" b="1" dirty="0"/>
          </a:p>
        </p:txBody>
      </p:sp>
      <p:pic>
        <p:nvPicPr>
          <p:cNvPr id="7" name="Content Placeholder 6">
            <a:extLst>
              <a:ext uri="{FF2B5EF4-FFF2-40B4-BE49-F238E27FC236}">
                <a16:creationId xmlns:a16="http://schemas.microsoft.com/office/drawing/2014/main" id="{202F4AD2-6D4A-8892-3416-CF75B6C22359}"/>
              </a:ext>
            </a:extLst>
          </p:cNvPr>
          <p:cNvPicPr>
            <a:picLocks noGrp="1" noChangeAspect="1"/>
          </p:cNvPicPr>
          <p:nvPr>
            <p:ph idx="1"/>
          </p:nvPr>
        </p:nvPicPr>
        <p:blipFill>
          <a:blip r:embed="rId2"/>
          <a:stretch>
            <a:fillRect/>
          </a:stretch>
        </p:blipFill>
        <p:spPr>
          <a:xfrm>
            <a:off x="2393506" y="2998838"/>
            <a:ext cx="7404987" cy="3163810"/>
          </a:xfrm>
          <a:prstGeom prst="rect">
            <a:avLst/>
          </a:prstGeom>
          <a:effectLst>
            <a:outerShdw blurRad="25400" dir="17880000">
              <a:srgbClr val="000000">
                <a:alpha val="46000"/>
              </a:srgbClr>
            </a:outerShdw>
          </a:effectLst>
        </p:spPr>
      </p:pic>
      <p:pic>
        <p:nvPicPr>
          <p:cNvPr id="9" name="Picture 8">
            <a:extLst>
              <a:ext uri="{FF2B5EF4-FFF2-40B4-BE49-F238E27FC236}">
                <a16:creationId xmlns:a16="http://schemas.microsoft.com/office/drawing/2014/main" id="{6B687B6F-6826-9F02-D4D8-B81699B6CF5E}"/>
              </a:ext>
            </a:extLst>
          </p:cNvPr>
          <p:cNvPicPr>
            <a:picLocks noChangeAspect="1"/>
          </p:cNvPicPr>
          <p:nvPr/>
        </p:nvPicPr>
        <p:blipFill>
          <a:blip r:embed="rId3"/>
          <a:stretch>
            <a:fillRect/>
          </a:stretch>
        </p:blipFill>
        <p:spPr>
          <a:xfrm>
            <a:off x="4010485" y="1277005"/>
            <a:ext cx="4171030" cy="1161395"/>
          </a:xfrm>
          <a:prstGeom prst="rect">
            <a:avLst/>
          </a:prstGeom>
        </p:spPr>
      </p:pic>
    </p:spTree>
    <p:extLst>
      <p:ext uri="{BB962C8B-B14F-4D97-AF65-F5344CB8AC3E}">
        <p14:creationId xmlns:p14="http://schemas.microsoft.com/office/powerpoint/2010/main" val="13753293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B4E8B-04E3-E71E-7F2B-116C5C8133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799BC3-8BE3-50C6-A0B1-3BEEE6F2C436}"/>
              </a:ext>
            </a:extLst>
          </p:cNvPr>
          <p:cNvSpPr>
            <a:spLocks noGrp="1"/>
          </p:cNvSpPr>
          <p:nvPr>
            <p:ph type="title"/>
          </p:nvPr>
        </p:nvSpPr>
        <p:spPr>
          <a:xfrm>
            <a:off x="402715" y="106431"/>
            <a:ext cx="11375922" cy="721199"/>
          </a:xfrm>
        </p:spPr>
        <p:txBody>
          <a:bodyPr>
            <a:normAutofit/>
          </a:bodyPr>
          <a:lstStyle/>
          <a:p>
            <a:r>
              <a:rPr lang="en-IN" sz="2800" b="1" dirty="0"/>
              <a:t>Orders with more than 2 Delayed Checkpoints</a:t>
            </a:r>
            <a:endParaRPr lang="en-IN" sz="2400" b="1" dirty="0"/>
          </a:p>
        </p:txBody>
      </p:sp>
      <p:sp>
        <p:nvSpPr>
          <p:cNvPr id="3" name="Content Placeholder 2">
            <a:extLst>
              <a:ext uri="{FF2B5EF4-FFF2-40B4-BE49-F238E27FC236}">
                <a16:creationId xmlns:a16="http://schemas.microsoft.com/office/drawing/2014/main" id="{6F6020D5-848F-BDDE-E74B-2B3368BB9A5F}"/>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latin typeface="Courier New" panose="02070309020205020404" pitchFamily="49" charset="0"/>
                <a:cs typeface="Courier New" panose="02070309020205020404" pitchFamily="49" charset="0"/>
              </a:rPr>
              <a:t>SELECT </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Order_ID</a:t>
            </a:r>
            <a:r>
              <a:rPr lang="en-IN"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COUNT(*) </a:t>
            </a:r>
            <a:r>
              <a:rPr lang="en-IN" sz="1400" dirty="0" err="1">
                <a:latin typeface="Courier New" panose="02070309020205020404" pitchFamily="49" charset="0"/>
                <a:cs typeface="Courier New" panose="02070309020205020404" pitchFamily="49" charset="0"/>
              </a:rPr>
              <a:t>No_Of_Checkpoints</a:t>
            </a:r>
            <a:endParaRPr lang="en-IN"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	FROM </a:t>
            </a:r>
            <a:r>
              <a:rPr lang="en-IN" sz="1400" dirty="0" err="1">
                <a:latin typeface="Courier New" panose="02070309020205020404" pitchFamily="49" charset="0"/>
                <a:cs typeface="Courier New" panose="02070309020205020404" pitchFamily="49" charset="0"/>
              </a:rPr>
              <a:t>UPS.Shipment_Tracking</a:t>
            </a:r>
            <a:endParaRPr lang="en-IN"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WHERE </a:t>
            </a:r>
            <a:r>
              <a:rPr lang="en-IN" sz="1400" dirty="0" err="1">
                <a:latin typeface="Courier New" panose="02070309020205020404" pitchFamily="49" charset="0"/>
                <a:cs typeface="Courier New" panose="02070309020205020404" pitchFamily="49" charset="0"/>
              </a:rPr>
              <a:t>Delay_Reason</a:t>
            </a:r>
            <a:r>
              <a:rPr lang="en-IN" sz="1400" dirty="0">
                <a:latin typeface="Courier New" panose="02070309020205020404" pitchFamily="49" charset="0"/>
                <a:cs typeface="Courier New" panose="02070309020205020404" pitchFamily="49" charset="0"/>
              </a:rPr>
              <a:t> &lt;&gt; 'None’</a:t>
            </a:r>
          </a:p>
          <a:p>
            <a:pPr marL="36900" indent="0">
              <a:buNone/>
            </a:pPr>
            <a:r>
              <a:rPr lang="en-US" sz="1400" dirty="0">
                <a:latin typeface="Courier New" panose="02070309020205020404" pitchFamily="49" charset="0"/>
                <a:cs typeface="Courier New" panose="02070309020205020404" pitchFamily="49" charset="0"/>
              </a:rPr>
              <a:t>	AND </a:t>
            </a:r>
            <a:r>
              <a:rPr lang="en-US" sz="1400" dirty="0" err="1">
                <a:latin typeface="Courier New" panose="02070309020205020404" pitchFamily="49" charset="0"/>
                <a:cs typeface="Courier New" panose="02070309020205020404" pitchFamily="49" charset="0"/>
              </a:rPr>
              <a:t>Delay_Reason</a:t>
            </a:r>
            <a:r>
              <a:rPr lang="en-US" sz="1400" dirty="0">
                <a:latin typeface="Courier New" panose="02070309020205020404" pitchFamily="49" charset="0"/>
                <a:cs typeface="Courier New" panose="02070309020205020404" pitchFamily="49" charset="0"/>
              </a:rPr>
              <a:t> IS NOT NULL</a:t>
            </a:r>
          </a:p>
          <a:p>
            <a:pPr marL="36900" indent="0">
              <a:buNone/>
            </a:pPr>
            <a:r>
              <a:rPr lang="en-IN" sz="1400" dirty="0">
                <a:latin typeface="Courier New" panose="02070309020205020404" pitchFamily="49" charset="0"/>
                <a:cs typeface="Courier New" panose="02070309020205020404" pitchFamily="49" charset="0"/>
              </a:rPr>
              <a:t>GROUP BY </a:t>
            </a:r>
            <a:r>
              <a:rPr lang="en-IN" sz="1400" dirty="0" err="1">
                <a:latin typeface="Courier New" panose="02070309020205020404" pitchFamily="49" charset="0"/>
                <a:cs typeface="Courier New" panose="02070309020205020404" pitchFamily="49" charset="0"/>
              </a:rPr>
              <a:t>Order_ID</a:t>
            </a:r>
            <a:endParaRPr lang="en-IN"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HAVING COUNT(*) &gt; 2</a:t>
            </a:r>
          </a:p>
          <a:p>
            <a:pPr marL="36900" indent="0">
              <a:buNone/>
            </a:pPr>
            <a:r>
              <a:rPr lang="en-US" sz="1400" dirty="0">
                <a:latin typeface="Courier New" panose="02070309020205020404" pitchFamily="49" charset="0"/>
                <a:cs typeface="Courier New" panose="02070309020205020404" pitchFamily="49" charset="0"/>
              </a:rPr>
              <a:t>ORDER BY </a:t>
            </a:r>
            <a:r>
              <a:rPr lang="en-US" sz="1400" dirty="0" err="1">
                <a:latin typeface="Courier New" panose="02070309020205020404" pitchFamily="49" charset="0"/>
                <a:cs typeface="Courier New" panose="02070309020205020404" pitchFamily="49" charset="0"/>
              </a:rPr>
              <a:t>No_Of_Checkpoints</a:t>
            </a:r>
            <a:r>
              <a:rPr lang="en-US" sz="1400" dirty="0">
                <a:latin typeface="Courier New" panose="02070309020205020404" pitchFamily="49" charset="0"/>
                <a:cs typeface="Courier New" panose="02070309020205020404" pitchFamily="49" charset="0"/>
              </a:rPr>
              <a:t> DESC, </a:t>
            </a:r>
            <a:r>
              <a:rPr lang="en-US" sz="1400" dirty="0" err="1">
                <a:latin typeface="Courier New" panose="02070309020205020404" pitchFamily="49" charset="0"/>
                <a:cs typeface="Courier New" panose="02070309020205020404" pitchFamily="49" charset="0"/>
              </a:rPr>
              <a:t>Order_ID</a:t>
            </a:r>
            <a:r>
              <a:rPr lang="en-US" sz="1400" dirty="0">
                <a:latin typeface="Courier New" panose="02070309020205020404" pitchFamily="49" charset="0"/>
                <a:cs typeface="Courier New" panose="02070309020205020404" pitchFamily="49" charset="0"/>
              </a:rPr>
              <a:t>;</a:t>
            </a:r>
            <a:endParaRPr lang="en-IN" sz="1400" b="1" dirty="0">
              <a:solidFill>
                <a:schemeClr val="tx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0545066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2CA9B-FD27-73BB-8D78-598B5BA72D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570D7-F2A7-0E59-4F35-68F570351E27}"/>
              </a:ext>
            </a:extLst>
          </p:cNvPr>
          <p:cNvSpPr>
            <a:spLocks noGrp="1"/>
          </p:cNvSpPr>
          <p:nvPr>
            <p:ph type="title"/>
          </p:nvPr>
        </p:nvSpPr>
        <p:spPr>
          <a:xfrm>
            <a:off x="913795" y="106431"/>
            <a:ext cx="10353762" cy="721199"/>
          </a:xfrm>
        </p:spPr>
        <p:txBody>
          <a:bodyPr>
            <a:normAutofit/>
          </a:bodyPr>
          <a:lstStyle/>
          <a:p>
            <a:r>
              <a:rPr lang="en-IN" sz="2800" b="1" dirty="0"/>
              <a:t>Orders with more than 2 Delayed Checkpoints</a:t>
            </a:r>
            <a:endParaRPr lang="en-IN" sz="2400" b="1" dirty="0"/>
          </a:p>
        </p:txBody>
      </p:sp>
      <p:pic>
        <p:nvPicPr>
          <p:cNvPr id="12" name="Content Placeholder 11">
            <a:extLst>
              <a:ext uri="{FF2B5EF4-FFF2-40B4-BE49-F238E27FC236}">
                <a16:creationId xmlns:a16="http://schemas.microsoft.com/office/drawing/2014/main" id="{03511213-8C4F-FBE2-0121-8EB97A02DB59}"/>
              </a:ext>
            </a:extLst>
          </p:cNvPr>
          <p:cNvPicPr>
            <a:picLocks noGrp="1" noChangeAspect="1"/>
          </p:cNvPicPr>
          <p:nvPr>
            <p:ph idx="1"/>
          </p:nvPr>
        </p:nvPicPr>
        <p:blipFill>
          <a:blip r:embed="rId2"/>
          <a:stretch>
            <a:fillRect/>
          </a:stretch>
        </p:blipFill>
        <p:spPr>
          <a:xfrm>
            <a:off x="4542158" y="950583"/>
            <a:ext cx="3097036" cy="5688976"/>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6280772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18989-96E2-3992-5357-BC951B0410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C4DF80-1259-9C20-2645-DAE982456060}"/>
              </a:ext>
            </a:extLst>
          </p:cNvPr>
          <p:cNvSpPr>
            <a:spLocks noGrp="1"/>
          </p:cNvSpPr>
          <p:nvPr>
            <p:ph type="title"/>
          </p:nvPr>
        </p:nvSpPr>
        <p:spPr/>
        <p:txBody>
          <a:bodyPr>
            <a:normAutofit/>
          </a:bodyPr>
          <a:lstStyle/>
          <a:p>
            <a:r>
              <a:rPr lang="en-US" dirty="0"/>
              <a:t>Task 7: </a:t>
            </a:r>
            <a:r>
              <a:rPr lang="en-IN" b="1" dirty="0"/>
              <a:t>Advanced KPI Reporting</a:t>
            </a:r>
            <a:endParaRPr lang="en-IN" sz="4000" b="1" dirty="0"/>
          </a:p>
        </p:txBody>
      </p:sp>
      <p:sp>
        <p:nvSpPr>
          <p:cNvPr id="3" name="Content Placeholder 2">
            <a:extLst>
              <a:ext uri="{FF2B5EF4-FFF2-40B4-BE49-F238E27FC236}">
                <a16:creationId xmlns:a16="http://schemas.microsoft.com/office/drawing/2014/main" id="{6A93D818-5022-8C05-C20C-69ED86026BD1}"/>
              </a:ext>
            </a:extLst>
          </p:cNvPr>
          <p:cNvSpPr>
            <a:spLocks noGrp="1"/>
          </p:cNvSpPr>
          <p:nvPr>
            <p:ph idx="1"/>
          </p:nvPr>
        </p:nvSpPr>
        <p:spPr>
          <a:xfrm>
            <a:off x="979100" y="1540489"/>
            <a:ext cx="10233800" cy="5096286"/>
          </a:xfrm>
        </p:spPr>
        <p:txBody>
          <a:bodyPr>
            <a:normAutofit fontScale="85000" lnSpcReduction="10000"/>
          </a:bodyPr>
          <a:lstStyle/>
          <a:p>
            <a:pPr>
              <a:lnSpc>
                <a:spcPct val="150000"/>
              </a:lnSpc>
            </a:pPr>
            <a:r>
              <a:rPr lang="en-IN" sz="2400" b="1" dirty="0"/>
              <a:t>Objective:</a:t>
            </a:r>
            <a:br>
              <a:rPr lang="en-IN" dirty="0"/>
            </a:br>
            <a:r>
              <a:rPr lang="en-US" sz="2100" dirty="0"/>
              <a:t>Create detailed KPI reports to track delivery performance across different regions and routes. This analysis helps understand delay trends, service reliability, and traffic effects, supporting smarter planning and better logistics operations.</a:t>
            </a:r>
          </a:p>
          <a:p>
            <a:r>
              <a:rPr lang="en-US" sz="2400" b="1" dirty="0"/>
              <a:t>Subtasks Covered:</a:t>
            </a:r>
          </a:p>
          <a:p>
            <a:pPr>
              <a:buFont typeface="Arial" panose="020B0604020202020204" pitchFamily="34" charset="0"/>
              <a:buChar char="•"/>
            </a:pPr>
            <a:r>
              <a:rPr lang="en-US" sz="2100" dirty="0"/>
              <a:t>Calculate </a:t>
            </a:r>
            <a:r>
              <a:rPr lang="en-US" sz="2100" b="1" dirty="0"/>
              <a:t>Average Delivery Delay per Region (Start Location)</a:t>
            </a:r>
            <a:r>
              <a:rPr lang="en-US" sz="2100" dirty="0"/>
              <a:t> to identify geographical areas contributing most to delays.</a:t>
            </a:r>
          </a:p>
          <a:p>
            <a:pPr>
              <a:buFont typeface="Arial" panose="020B0604020202020204" pitchFamily="34" charset="0"/>
              <a:buChar char="•"/>
            </a:pPr>
            <a:r>
              <a:rPr lang="en-US" sz="2100" dirty="0"/>
              <a:t>Compute </a:t>
            </a:r>
            <a:r>
              <a:rPr lang="en-US" sz="2100" b="1" dirty="0"/>
              <a:t>On-Time Delivery Percentage</a:t>
            </a:r>
            <a:r>
              <a:rPr lang="en-US" sz="2100" dirty="0"/>
              <a:t> to evaluate overall service reliability using the formula:</a:t>
            </a:r>
            <a:br>
              <a:rPr lang="en-US" sz="2100" dirty="0"/>
            </a:br>
            <a:r>
              <a:rPr lang="en-US" sz="2100" i="1" dirty="0"/>
              <a:t>(On-Time Deliveries / Total Deliveries) × 100.</a:t>
            </a:r>
            <a:endParaRPr lang="en-US" sz="2100" dirty="0"/>
          </a:p>
          <a:p>
            <a:pPr>
              <a:buFont typeface="Arial" panose="020B0604020202020204" pitchFamily="34" charset="0"/>
              <a:buChar char="•"/>
            </a:pPr>
            <a:r>
              <a:rPr lang="en-US" sz="2100" dirty="0"/>
              <a:t>Measure </a:t>
            </a:r>
            <a:r>
              <a:rPr lang="en-US" sz="2100" b="1" dirty="0"/>
              <a:t>Average Traffic Delay per Route</a:t>
            </a:r>
            <a:r>
              <a:rPr lang="en-US" sz="2100" dirty="0"/>
              <a:t> to understand the impact of road and congestion conditions on delivery efficiency.</a:t>
            </a:r>
          </a:p>
          <a:p>
            <a:pPr>
              <a:buFont typeface="Arial" panose="020B0604020202020204" pitchFamily="34" charset="0"/>
              <a:buChar char="•"/>
            </a:pPr>
            <a:r>
              <a:rPr lang="en-US" sz="2100" dirty="0"/>
              <a:t>Use SQL-based KPI aggregation to transform raw operational data into performance indicators.</a:t>
            </a:r>
          </a:p>
          <a:p>
            <a:pPr>
              <a:buFont typeface="Arial" panose="020B0604020202020204" pitchFamily="34" charset="0"/>
              <a:buChar char="•"/>
            </a:pPr>
            <a:r>
              <a:rPr lang="en-US" sz="2100" dirty="0"/>
              <a:t>Support management decision-making by highlighting delay-prone regions and traffic-affected routes.</a:t>
            </a:r>
          </a:p>
          <a:p>
            <a:pPr>
              <a:lnSpc>
                <a:spcPct val="150000"/>
              </a:lnSpc>
            </a:pPr>
            <a:endParaRPr lang="en-US" sz="2200" b="1" dirty="0"/>
          </a:p>
        </p:txBody>
      </p:sp>
    </p:spTree>
    <p:extLst>
      <p:ext uri="{BB962C8B-B14F-4D97-AF65-F5344CB8AC3E}">
        <p14:creationId xmlns:p14="http://schemas.microsoft.com/office/powerpoint/2010/main" val="30205349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F9665-D1FC-0FC9-2BEB-569BBAE08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CFB60-C9CC-8401-B0AA-2810B0CDCFA8}"/>
              </a:ext>
            </a:extLst>
          </p:cNvPr>
          <p:cNvSpPr>
            <a:spLocks noGrp="1"/>
          </p:cNvSpPr>
          <p:nvPr>
            <p:ph type="title"/>
          </p:nvPr>
        </p:nvSpPr>
        <p:spPr>
          <a:xfrm>
            <a:off x="402715" y="106431"/>
            <a:ext cx="11375922" cy="721199"/>
          </a:xfrm>
        </p:spPr>
        <p:txBody>
          <a:bodyPr>
            <a:normAutofit/>
          </a:bodyPr>
          <a:lstStyle/>
          <a:p>
            <a:r>
              <a:rPr lang="en-US" sz="2800" b="1" dirty="0"/>
              <a:t>Average Delivery Delay per Region (</a:t>
            </a:r>
            <a:r>
              <a:rPr lang="en-US" sz="2800" b="1" dirty="0" err="1"/>
              <a:t>Start_Location</a:t>
            </a:r>
            <a:r>
              <a:rPr lang="en-US" sz="2800" b="1" dirty="0"/>
              <a:t>)</a:t>
            </a:r>
            <a:endParaRPr lang="en-IN" sz="2400" b="1" dirty="0"/>
          </a:p>
        </p:txBody>
      </p:sp>
      <p:sp>
        <p:nvSpPr>
          <p:cNvPr id="3" name="Content Placeholder 2">
            <a:extLst>
              <a:ext uri="{FF2B5EF4-FFF2-40B4-BE49-F238E27FC236}">
                <a16:creationId xmlns:a16="http://schemas.microsoft.com/office/drawing/2014/main" id="{28482151-9DDA-045E-387E-A6BCE41B0D7F}"/>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latin typeface="Courier New" panose="02070309020205020404" pitchFamily="49" charset="0"/>
                <a:cs typeface="Courier New" panose="02070309020205020404" pitchFamily="49" charset="0"/>
              </a:rPr>
              <a:t>SELECT  </a:t>
            </a:r>
          </a:p>
          <a:p>
            <a:pPr marL="36900" indent="0">
              <a:buNone/>
            </a:pP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Start_Location</a:t>
            </a:r>
            <a:r>
              <a:rPr lang="en-IN" sz="1400" dirty="0">
                <a:latin typeface="Courier New" panose="02070309020205020404" pitchFamily="49" charset="0"/>
                <a:cs typeface="Courier New" panose="02070309020205020404" pitchFamily="49" charset="0"/>
              </a:rPr>
              <a:t>,</a:t>
            </a:r>
          </a:p>
          <a:p>
            <a:pPr marL="36900" indent="0">
              <a:buNone/>
            </a:pPr>
            <a:r>
              <a:rPr lang="en-IN" sz="1400" dirty="0">
                <a:latin typeface="Courier New" panose="02070309020205020404" pitchFamily="49" charset="0"/>
                <a:cs typeface="Courier New" panose="02070309020205020404" pitchFamily="49" charset="0"/>
              </a:rPr>
              <a:t>	AVG(</a:t>
            </a:r>
            <a:r>
              <a:rPr lang="en-IN" sz="1400" dirty="0" err="1">
                <a:latin typeface="Courier New" panose="02070309020205020404" pitchFamily="49" charset="0"/>
                <a:cs typeface="Courier New" panose="02070309020205020404" pitchFamily="49" charset="0"/>
              </a:rPr>
              <a:t>Traffic_Delay_Min</a:t>
            </a: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Avg_Delay_Per_Region</a:t>
            </a:r>
            <a:endParaRPr lang="en-IN"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FROM UPS.[Routes ]</a:t>
            </a:r>
          </a:p>
          <a:p>
            <a:pPr marL="36900" indent="0">
              <a:buNone/>
            </a:pPr>
            <a:r>
              <a:rPr lang="en-IN" sz="1400" dirty="0">
                <a:latin typeface="Courier New" panose="02070309020205020404" pitchFamily="49" charset="0"/>
                <a:cs typeface="Courier New" panose="02070309020205020404" pitchFamily="49" charset="0"/>
              </a:rPr>
              <a:t>GROUP BY </a:t>
            </a:r>
            <a:r>
              <a:rPr lang="en-IN" sz="1400" dirty="0" err="1">
                <a:latin typeface="Courier New" panose="02070309020205020404" pitchFamily="49" charset="0"/>
                <a:cs typeface="Courier New" panose="02070309020205020404" pitchFamily="49" charset="0"/>
              </a:rPr>
              <a:t>Start_Location</a:t>
            </a:r>
            <a:r>
              <a:rPr lang="en-IN" sz="1400" dirty="0">
                <a:latin typeface="Courier New" panose="02070309020205020404" pitchFamily="49" charset="0"/>
                <a:cs typeface="Courier New" panose="02070309020205020404" pitchFamily="49" charset="0"/>
              </a:rPr>
              <a:t>;</a:t>
            </a:r>
            <a:endParaRPr lang="en-IN" sz="1400" b="1" dirty="0">
              <a:solidFill>
                <a:schemeClr val="tx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43234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5817B-6FCA-7559-9909-D522DF141D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282928-A975-BFA5-AD71-BBF4EC34A8A5}"/>
              </a:ext>
            </a:extLst>
          </p:cNvPr>
          <p:cNvSpPr>
            <a:spLocks noGrp="1"/>
          </p:cNvSpPr>
          <p:nvPr>
            <p:ph type="title"/>
          </p:nvPr>
        </p:nvSpPr>
        <p:spPr>
          <a:xfrm>
            <a:off x="913795" y="106431"/>
            <a:ext cx="10353762" cy="721199"/>
          </a:xfrm>
        </p:spPr>
        <p:txBody>
          <a:bodyPr>
            <a:normAutofit/>
          </a:bodyPr>
          <a:lstStyle/>
          <a:p>
            <a:r>
              <a:rPr lang="en-US" sz="2800" b="1" dirty="0"/>
              <a:t>Average Delivery Delay per Region (</a:t>
            </a:r>
            <a:r>
              <a:rPr lang="en-US" sz="2800" b="1" dirty="0" err="1"/>
              <a:t>Start_Location</a:t>
            </a:r>
            <a:r>
              <a:rPr lang="en-US" sz="2800" b="1" dirty="0"/>
              <a:t>)</a:t>
            </a:r>
            <a:endParaRPr lang="en-IN" sz="2400" b="1" dirty="0"/>
          </a:p>
        </p:txBody>
      </p:sp>
      <p:pic>
        <p:nvPicPr>
          <p:cNvPr id="10" name="Content Placeholder 9">
            <a:extLst>
              <a:ext uri="{FF2B5EF4-FFF2-40B4-BE49-F238E27FC236}">
                <a16:creationId xmlns:a16="http://schemas.microsoft.com/office/drawing/2014/main" id="{03A89E0A-77BF-975E-9717-4455404D54DA}"/>
              </a:ext>
            </a:extLst>
          </p:cNvPr>
          <p:cNvPicPr>
            <a:picLocks noGrp="1" noChangeAspect="1"/>
          </p:cNvPicPr>
          <p:nvPr>
            <p:ph idx="1"/>
          </p:nvPr>
        </p:nvPicPr>
        <p:blipFill>
          <a:blip r:embed="rId2"/>
          <a:stretch>
            <a:fillRect/>
          </a:stretch>
        </p:blipFill>
        <p:spPr>
          <a:xfrm>
            <a:off x="3967316" y="966671"/>
            <a:ext cx="4257368" cy="5667705"/>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8144602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4341-85F7-8AFA-BDB4-3E0F679839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BE9439-D502-61E5-65A2-D3E155F39421}"/>
              </a:ext>
            </a:extLst>
          </p:cNvPr>
          <p:cNvSpPr>
            <a:spLocks noGrp="1"/>
          </p:cNvSpPr>
          <p:nvPr>
            <p:ph type="title"/>
          </p:nvPr>
        </p:nvSpPr>
        <p:spPr>
          <a:xfrm>
            <a:off x="913795" y="106431"/>
            <a:ext cx="10353762" cy="721199"/>
          </a:xfrm>
        </p:spPr>
        <p:txBody>
          <a:bodyPr>
            <a:normAutofit/>
          </a:bodyPr>
          <a:lstStyle/>
          <a:p>
            <a:r>
              <a:rPr lang="en-US" sz="2800" b="1" dirty="0"/>
              <a:t>Average Delivery Delay per Region (</a:t>
            </a:r>
            <a:r>
              <a:rPr lang="en-US" sz="2800" b="1" dirty="0" err="1"/>
              <a:t>Start_Location</a:t>
            </a:r>
            <a:r>
              <a:rPr lang="en-US" sz="2800" b="1" dirty="0"/>
              <a:t>)</a:t>
            </a:r>
            <a:endParaRPr lang="en-IN" sz="2400" b="1" dirty="0"/>
          </a:p>
        </p:txBody>
      </p:sp>
      <p:pic>
        <p:nvPicPr>
          <p:cNvPr id="6" name="Content Placeholder 5">
            <a:extLst>
              <a:ext uri="{FF2B5EF4-FFF2-40B4-BE49-F238E27FC236}">
                <a16:creationId xmlns:a16="http://schemas.microsoft.com/office/drawing/2014/main" id="{5C7EE67E-B3F9-8B42-903D-6F4C32B2ACD0}"/>
              </a:ext>
            </a:extLst>
          </p:cNvPr>
          <p:cNvPicPr>
            <a:picLocks noGrp="1" noChangeAspect="1"/>
          </p:cNvPicPr>
          <p:nvPr>
            <p:ph idx="1"/>
          </p:nvPr>
        </p:nvPicPr>
        <p:blipFill>
          <a:blip r:embed="rId2"/>
          <a:stretch>
            <a:fillRect/>
          </a:stretch>
        </p:blipFill>
        <p:spPr>
          <a:xfrm>
            <a:off x="1478511" y="1229033"/>
            <a:ext cx="9710599" cy="5331462"/>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1975797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EECA1-578A-9681-CC33-60C3FCDDF2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DFB0A-F2BC-2D4A-B980-2ABBD9B97FAF}"/>
              </a:ext>
            </a:extLst>
          </p:cNvPr>
          <p:cNvSpPr>
            <a:spLocks noGrp="1"/>
          </p:cNvSpPr>
          <p:nvPr>
            <p:ph type="title"/>
          </p:nvPr>
        </p:nvSpPr>
        <p:spPr>
          <a:xfrm>
            <a:off x="402715" y="106431"/>
            <a:ext cx="11375922" cy="721199"/>
          </a:xfrm>
        </p:spPr>
        <p:txBody>
          <a:bodyPr>
            <a:normAutofit/>
          </a:bodyPr>
          <a:lstStyle/>
          <a:p>
            <a:r>
              <a:rPr lang="en-IN" sz="2800" b="1" dirty="0"/>
              <a:t>On-Time Delivery %</a:t>
            </a:r>
            <a:endParaRPr lang="en-IN" sz="2400" b="1" dirty="0"/>
          </a:p>
        </p:txBody>
      </p:sp>
      <p:sp>
        <p:nvSpPr>
          <p:cNvPr id="3" name="Content Placeholder 2">
            <a:extLst>
              <a:ext uri="{FF2B5EF4-FFF2-40B4-BE49-F238E27FC236}">
                <a16:creationId xmlns:a16="http://schemas.microsoft.com/office/drawing/2014/main" id="{25337DB7-E2E0-35F2-1E2C-235E33166E61}"/>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latin typeface="Courier New" panose="02070309020205020404" pitchFamily="49" charset="0"/>
                <a:cs typeface="Courier New" panose="02070309020205020404" pitchFamily="49" charset="0"/>
              </a:rPr>
              <a:t>SELECT </a:t>
            </a:r>
          </a:p>
          <a:p>
            <a:pPr marL="36900" indent="0">
              <a:buNone/>
            </a:pPr>
            <a:r>
              <a:rPr lang="en-IN" sz="1400" dirty="0">
                <a:latin typeface="Courier New" panose="02070309020205020404" pitchFamily="49" charset="0"/>
                <a:cs typeface="Courier New" panose="02070309020205020404" pitchFamily="49" charset="0"/>
              </a:rPr>
              <a:t>	CAST(100 *</a:t>
            </a:r>
          </a:p>
          <a:p>
            <a:pPr marL="36900" indent="0">
              <a:buNone/>
            </a:pPr>
            <a:r>
              <a:rPr lang="en-IN" sz="1400" dirty="0">
                <a:latin typeface="Courier New" panose="02070309020205020404" pitchFamily="49" charset="0"/>
                <a:cs typeface="Courier New" panose="02070309020205020404" pitchFamily="49" charset="0"/>
              </a:rPr>
              <a:t>		SUM(CASE</a:t>
            </a:r>
          </a:p>
          <a:p>
            <a:pPr marL="36900" indent="0">
              <a:buNone/>
            </a:pPr>
            <a:r>
              <a:rPr lang="en-US" sz="1400" dirty="0">
                <a:latin typeface="Courier New" panose="02070309020205020404" pitchFamily="49" charset="0"/>
                <a:cs typeface="Courier New" panose="02070309020205020404" pitchFamily="49" charset="0"/>
              </a:rPr>
              <a:t>			WHEN </a:t>
            </a:r>
            <a:r>
              <a:rPr lang="en-US" sz="1400" dirty="0" err="1">
                <a:latin typeface="Courier New" panose="02070309020205020404" pitchFamily="49" charset="0"/>
                <a:cs typeface="Courier New" panose="02070309020205020404" pitchFamily="49" charset="0"/>
              </a:rPr>
              <a:t>Delivery_Status</a:t>
            </a:r>
            <a:r>
              <a:rPr lang="en-US" sz="1400" dirty="0">
                <a:latin typeface="Courier New" panose="02070309020205020404" pitchFamily="49" charset="0"/>
                <a:cs typeface="Courier New" panose="02070309020205020404" pitchFamily="49" charset="0"/>
              </a:rPr>
              <a:t> = 'On Time' THEN 1</a:t>
            </a:r>
          </a:p>
          <a:p>
            <a:pPr marL="36900" indent="0">
              <a:buNone/>
            </a:pPr>
            <a:r>
              <a:rPr lang="en-IN" sz="1400" dirty="0">
                <a:latin typeface="Courier New" panose="02070309020205020404" pitchFamily="49" charset="0"/>
                <a:cs typeface="Courier New" panose="02070309020205020404" pitchFamily="49" charset="0"/>
              </a:rPr>
              <a:t>			ELSE 0</a:t>
            </a:r>
          </a:p>
          <a:p>
            <a:pPr marL="36900" indent="0">
              <a:buNone/>
            </a:pPr>
            <a:r>
              <a:rPr lang="en-IN" sz="1400" dirty="0">
                <a:latin typeface="Courier New" panose="02070309020205020404" pitchFamily="49" charset="0"/>
                <a:cs typeface="Courier New" panose="02070309020205020404" pitchFamily="49" charset="0"/>
              </a:rPr>
              <a:t>	END) / COUNT(*)</a:t>
            </a:r>
          </a:p>
          <a:p>
            <a:pPr marL="36900" indent="0">
              <a:buNone/>
            </a:pPr>
            <a:r>
              <a:rPr lang="en-US" sz="1400" dirty="0">
                <a:latin typeface="Courier New" panose="02070309020205020404" pitchFamily="49" charset="0"/>
                <a:cs typeface="Courier New" panose="02070309020205020404" pitchFamily="49" charset="0"/>
              </a:rPr>
              <a:t>	AS DECIMAL(5,2)) AS </a:t>
            </a:r>
            <a:r>
              <a:rPr lang="en-US" sz="1400" dirty="0" err="1">
                <a:latin typeface="Courier New" panose="02070309020205020404" pitchFamily="49" charset="0"/>
                <a:cs typeface="Courier New" panose="02070309020205020404" pitchFamily="49" charset="0"/>
              </a:rPr>
              <a:t>On_Time_Delivery_Percent</a:t>
            </a:r>
            <a:endParaRPr lang="en-US"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FROM UPS.[Orders ];</a:t>
            </a:r>
            <a:endParaRPr lang="en-IN" sz="1400" b="1" dirty="0">
              <a:solidFill>
                <a:schemeClr val="tx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52447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9335A-5EC5-AC45-0B4D-8E890491B2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3D44BB-9601-990B-F5B6-CD39069F9BE3}"/>
              </a:ext>
            </a:extLst>
          </p:cNvPr>
          <p:cNvSpPr>
            <a:spLocks noGrp="1"/>
          </p:cNvSpPr>
          <p:nvPr>
            <p:ph type="title"/>
          </p:nvPr>
        </p:nvSpPr>
        <p:spPr>
          <a:xfrm>
            <a:off x="913795" y="106431"/>
            <a:ext cx="10353762" cy="721199"/>
          </a:xfrm>
        </p:spPr>
        <p:txBody>
          <a:bodyPr>
            <a:normAutofit/>
          </a:bodyPr>
          <a:lstStyle/>
          <a:p>
            <a:r>
              <a:rPr lang="en-IN" sz="2800" b="1" dirty="0"/>
              <a:t>On-Time Delivery %</a:t>
            </a:r>
            <a:endParaRPr lang="en-IN" sz="2400" b="1" dirty="0"/>
          </a:p>
        </p:txBody>
      </p:sp>
      <p:pic>
        <p:nvPicPr>
          <p:cNvPr id="7" name="Content Placeholder 6">
            <a:extLst>
              <a:ext uri="{FF2B5EF4-FFF2-40B4-BE49-F238E27FC236}">
                <a16:creationId xmlns:a16="http://schemas.microsoft.com/office/drawing/2014/main" id="{72A971F0-7738-418A-6F22-87013BAF8355}"/>
              </a:ext>
            </a:extLst>
          </p:cNvPr>
          <p:cNvPicPr>
            <a:picLocks noGrp="1" noChangeAspect="1"/>
          </p:cNvPicPr>
          <p:nvPr>
            <p:ph idx="1"/>
          </p:nvPr>
        </p:nvPicPr>
        <p:blipFill>
          <a:blip r:embed="rId2"/>
          <a:stretch>
            <a:fillRect/>
          </a:stretch>
        </p:blipFill>
        <p:spPr>
          <a:xfrm>
            <a:off x="3785304" y="2863837"/>
            <a:ext cx="4610743" cy="3486637"/>
          </a:xfrm>
          <a:prstGeom prst="rect">
            <a:avLst/>
          </a:prstGeom>
          <a:effectLst>
            <a:outerShdw blurRad="25400" dir="17880000">
              <a:srgbClr val="000000">
                <a:alpha val="46000"/>
              </a:srgbClr>
            </a:outerShdw>
          </a:effectLst>
        </p:spPr>
      </p:pic>
      <p:pic>
        <p:nvPicPr>
          <p:cNvPr id="9" name="Picture 8">
            <a:extLst>
              <a:ext uri="{FF2B5EF4-FFF2-40B4-BE49-F238E27FC236}">
                <a16:creationId xmlns:a16="http://schemas.microsoft.com/office/drawing/2014/main" id="{67C2F78E-4191-B380-647D-347BBB5FD33F}"/>
              </a:ext>
            </a:extLst>
          </p:cNvPr>
          <p:cNvPicPr>
            <a:picLocks noChangeAspect="1"/>
          </p:cNvPicPr>
          <p:nvPr/>
        </p:nvPicPr>
        <p:blipFill>
          <a:blip r:embed="rId3"/>
          <a:stretch>
            <a:fillRect/>
          </a:stretch>
        </p:blipFill>
        <p:spPr>
          <a:xfrm>
            <a:off x="4689263" y="1384855"/>
            <a:ext cx="2813474" cy="867707"/>
          </a:xfrm>
          <a:prstGeom prst="rect">
            <a:avLst/>
          </a:prstGeom>
        </p:spPr>
      </p:pic>
    </p:spTree>
    <p:extLst>
      <p:ext uri="{BB962C8B-B14F-4D97-AF65-F5344CB8AC3E}">
        <p14:creationId xmlns:p14="http://schemas.microsoft.com/office/powerpoint/2010/main" val="13246681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19BFD-DBFB-CFDA-7A56-171591DD9F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3B97DF-F586-12CD-BB84-B9A20647FB38}"/>
              </a:ext>
            </a:extLst>
          </p:cNvPr>
          <p:cNvSpPr>
            <a:spLocks noGrp="1"/>
          </p:cNvSpPr>
          <p:nvPr>
            <p:ph type="title"/>
          </p:nvPr>
        </p:nvSpPr>
        <p:spPr>
          <a:xfrm>
            <a:off x="402715" y="106431"/>
            <a:ext cx="11375922" cy="721199"/>
          </a:xfrm>
        </p:spPr>
        <p:txBody>
          <a:bodyPr>
            <a:normAutofit/>
          </a:bodyPr>
          <a:lstStyle/>
          <a:p>
            <a:r>
              <a:rPr lang="en-IN" sz="2800" b="1" dirty="0"/>
              <a:t>Average Traffic Delay per Route</a:t>
            </a:r>
            <a:endParaRPr lang="en-IN" sz="2400" b="1" dirty="0"/>
          </a:p>
        </p:txBody>
      </p:sp>
      <p:sp>
        <p:nvSpPr>
          <p:cNvPr id="3" name="Content Placeholder 2">
            <a:extLst>
              <a:ext uri="{FF2B5EF4-FFF2-40B4-BE49-F238E27FC236}">
                <a16:creationId xmlns:a16="http://schemas.microsoft.com/office/drawing/2014/main" id="{6DD52C7C-399C-D806-5316-F1294120A6EF}"/>
              </a:ext>
            </a:extLst>
          </p:cNvPr>
          <p:cNvSpPr>
            <a:spLocks noGrp="1"/>
          </p:cNvSpPr>
          <p:nvPr>
            <p:ph idx="1"/>
          </p:nvPr>
        </p:nvSpPr>
        <p:spPr>
          <a:xfrm>
            <a:off x="913795" y="935051"/>
            <a:ext cx="10353762" cy="5495246"/>
          </a:xfrm>
        </p:spPr>
        <p:txBody>
          <a:bodyPr>
            <a:noAutofit/>
          </a:bodyPr>
          <a:lstStyle/>
          <a:p>
            <a:r>
              <a:rPr lang="en-US" sz="2000" b="1" dirty="0">
                <a:solidFill>
                  <a:schemeClr val="tx1"/>
                </a:solidFill>
              </a:rPr>
              <a:t>Code :</a:t>
            </a:r>
          </a:p>
          <a:p>
            <a:pPr marL="36900" indent="0">
              <a:buNone/>
            </a:pPr>
            <a:endParaRPr lang="en-IN" sz="1600" b="1" dirty="0">
              <a:solidFill>
                <a:schemeClr val="tx1"/>
              </a:solidFill>
            </a:endParaRPr>
          </a:p>
          <a:p>
            <a:pPr marL="36900" indent="0">
              <a:buNone/>
            </a:pPr>
            <a:r>
              <a:rPr lang="en-IN" sz="1400" dirty="0">
                <a:latin typeface="Courier New" panose="02070309020205020404" pitchFamily="49" charset="0"/>
                <a:cs typeface="Courier New" panose="02070309020205020404" pitchFamily="49" charset="0"/>
              </a:rPr>
              <a:t>SELECT </a:t>
            </a:r>
          </a:p>
          <a:p>
            <a:pPr marL="36900" indent="0">
              <a:buNone/>
            </a:pPr>
            <a:r>
              <a:rPr lang="en-IN" sz="1400" dirty="0">
                <a:latin typeface="Courier New" panose="02070309020205020404" pitchFamily="49" charset="0"/>
                <a:cs typeface="Courier New" panose="02070309020205020404" pitchFamily="49" charset="0"/>
              </a:rPr>
              <a:t>	CAST(100 *</a:t>
            </a:r>
          </a:p>
          <a:p>
            <a:pPr marL="36900" indent="0">
              <a:buNone/>
            </a:pPr>
            <a:r>
              <a:rPr lang="en-IN" sz="1400" dirty="0">
                <a:latin typeface="Courier New" panose="02070309020205020404" pitchFamily="49" charset="0"/>
                <a:cs typeface="Courier New" panose="02070309020205020404" pitchFamily="49" charset="0"/>
              </a:rPr>
              <a:t>		SUM(CASE</a:t>
            </a:r>
          </a:p>
          <a:p>
            <a:pPr marL="36900" indent="0">
              <a:buNone/>
            </a:pPr>
            <a:r>
              <a:rPr lang="en-US" sz="1400" dirty="0">
                <a:latin typeface="Courier New" panose="02070309020205020404" pitchFamily="49" charset="0"/>
                <a:cs typeface="Courier New" panose="02070309020205020404" pitchFamily="49" charset="0"/>
              </a:rPr>
              <a:t>			WHEN </a:t>
            </a:r>
            <a:r>
              <a:rPr lang="en-US" sz="1400" dirty="0" err="1">
                <a:latin typeface="Courier New" panose="02070309020205020404" pitchFamily="49" charset="0"/>
                <a:cs typeface="Courier New" panose="02070309020205020404" pitchFamily="49" charset="0"/>
              </a:rPr>
              <a:t>Delivery_Status</a:t>
            </a:r>
            <a:r>
              <a:rPr lang="en-US" sz="1400" dirty="0">
                <a:latin typeface="Courier New" panose="02070309020205020404" pitchFamily="49" charset="0"/>
                <a:cs typeface="Courier New" panose="02070309020205020404" pitchFamily="49" charset="0"/>
              </a:rPr>
              <a:t> = 'On Time' THEN 1</a:t>
            </a:r>
          </a:p>
          <a:p>
            <a:pPr marL="36900" indent="0">
              <a:buNone/>
            </a:pPr>
            <a:r>
              <a:rPr lang="en-IN" sz="1400" dirty="0">
                <a:latin typeface="Courier New" panose="02070309020205020404" pitchFamily="49" charset="0"/>
                <a:cs typeface="Courier New" panose="02070309020205020404" pitchFamily="49" charset="0"/>
              </a:rPr>
              <a:t>			ELSE 0</a:t>
            </a:r>
          </a:p>
          <a:p>
            <a:pPr marL="36900" indent="0">
              <a:buNone/>
            </a:pPr>
            <a:r>
              <a:rPr lang="en-IN" sz="1400" dirty="0">
                <a:latin typeface="Courier New" panose="02070309020205020404" pitchFamily="49" charset="0"/>
                <a:cs typeface="Courier New" panose="02070309020205020404" pitchFamily="49" charset="0"/>
              </a:rPr>
              <a:t>	END) / COUNT(*)</a:t>
            </a:r>
          </a:p>
          <a:p>
            <a:pPr marL="36900" indent="0">
              <a:buNone/>
            </a:pPr>
            <a:r>
              <a:rPr lang="en-US" sz="1400" dirty="0">
                <a:latin typeface="Courier New" panose="02070309020205020404" pitchFamily="49" charset="0"/>
                <a:cs typeface="Courier New" panose="02070309020205020404" pitchFamily="49" charset="0"/>
              </a:rPr>
              <a:t>	AS DECIMAL(5,2)) AS </a:t>
            </a:r>
            <a:r>
              <a:rPr lang="en-US" sz="1400" dirty="0" err="1">
                <a:latin typeface="Courier New" panose="02070309020205020404" pitchFamily="49" charset="0"/>
                <a:cs typeface="Courier New" panose="02070309020205020404" pitchFamily="49" charset="0"/>
              </a:rPr>
              <a:t>On_Time_Delivery_Percent</a:t>
            </a:r>
            <a:endParaRPr lang="en-US" sz="1400" dirty="0">
              <a:latin typeface="Courier New" panose="02070309020205020404" pitchFamily="49" charset="0"/>
              <a:cs typeface="Courier New" panose="02070309020205020404" pitchFamily="49" charset="0"/>
            </a:endParaRPr>
          </a:p>
          <a:p>
            <a:pPr marL="36900" indent="0">
              <a:buNone/>
            </a:pPr>
            <a:r>
              <a:rPr lang="en-IN" sz="1400" dirty="0">
                <a:latin typeface="Courier New" panose="02070309020205020404" pitchFamily="49" charset="0"/>
                <a:cs typeface="Courier New" panose="02070309020205020404" pitchFamily="49" charset="0"/>
              </a:rPr>
              <a:t>FROM UPS.[Orders ];</a:t>
            </a:r>
            <a:endParaRPr lang="en-IN" sz="1400" b="1" dirty="0">
              <a:solidFill>
                <a:schemeClr val="tx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926763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7A387-0327-03D1-D0B8-3E2D9034CA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EA93CB-246D-1285-77B6-E1B79E72624C}"/>
              </a:ext>
            </a:extLst>
          </p:cNvPr>
          <p:cNvSpPr>
            <a:spLocks noGrp="1"/>
          </p:cNvSpPr>
          <p:nvPr>
            <p:ph type="title"/>
          </p:nvPr>
        </p:nvSpPr>
        <p:spPr>
          <a:xfrm>
            <a:off x="913795" y="106431"/>
            <a:ext cx="10353762" cy="721199"/>
          </a:xfrm>
        </p:spPr>
        <p:txBody>
          <a:bodyPr>
            <a:normAutofit/>
          </a:bodyPr>
          <a:lstStyle/>
          <a:p>
            <a:r>
              <a:rPr lang="en-IN" sz="2800" b="1" dirty="0"/>
              <a:t>Average Traffic Delay per Route</a:t>
            </a:r>
            <a:endParaRPr lang="en-IN" sz="2400" b="1" dirty="0"/>
          </a:p>
        </p:txBody>
      </p:sp>
      <p:pic>
        <p:nvPicPr>
          <p:cNvPr id="10" name="Picture 9">
            <a:extLst>
              <a:ext uri="{FF2B5EF4-FFF2-40B4-BE49-F238E27FC236}">
                <a16:creationId xmlns:a16="http://schemas.microsoft.com/office/drawing/2014/main" id="{568A934C-3CA7-5C6F-D420-8C37B4203A14}"/>
              </a:ext>
            </a:extLst>
          </p:cNvPr>
          <p:cNvPicPr>
            <a:picLocks noChangeAspect="1"/>
          </p:cNvPicPr>
          <p:nvPr/>
        </p:nvPicPr>
        <p:blipFill>
          <a:blip r:embed="rId2"/>
          <a:stretch>
            <a:fillRect/>
          </a:stretch>
        </p:blipFill>
        <p:spPr>
          <a:xfrm>
            <a:off x="412864" y="1390043"/>
            <a:ext cx="3114507" cy="4401157"/>
          </a:xfrm>
          <a:prstGeom prst="rect">
            <a:avLst/>
          </a:prstGeom>
        </p:spPr>
      </p:pic>
      <p:pic>
        <p:nvPicPr>
          <p:cNvPr id="14" name="Content Placeholder 13">
            <a:extLst>
              <a:ext uri="{FF2B5EF4-FFF2-40B4-BE49-F238E27FC236}">
                <a16:creationId xmlns:a16="http://schemas.microsoft.com/office/drawing/2014/main" id="{B3EF1704-1A87-9D2B-9120-89C24B33D93C}"/>
              </a:ext>
            </a:extLst>
          </p:cNvPr>
          <p:cNvPicPr>
            <a:picLocks noGrp="1" noChangeAspect="1"/>
          </p:cNvPicPr>
          <p:nvPr>
            <p:ph idx="1"/>
          </p:nvPr>
        </p:nvPicPr>
        <p:blipFill>
          <a:blip r:embed="rId3"/>
          <a:stretch>
            <a:fillRect/>
          </a:stretch>
        </p:blipFill>
        <p:spPr>
          <a:xfrm>
            <a:off x="4000044" y="1390043"/>
            <a:ext cx="7906820" cy="4332938"/>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690909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E027C-B9A1-D980-5064-A672B8B578B4}"/>
              </a:ext>
            </a:extLst>
          </p:cNvPr>
          <p:cNvSpPr>
            <a:spLocks noGrp="1"/>
          </p:cNvSpPr>
          <p:nvPr>
            <p:ph type="title"/>
          </p:nvPr>
        </p:nvSpPr>
        <p:spPr>
          <a:xfrm>
            <a:off x="913784" y="1566503"/>
            <a:ext cx="10353763" cy="2511835"/>
          </a:xfrm>
        </p:spPr>
        <p:txBody>
          <a:bodyPr>
            <a:normAutofit/>
          </a:bodyPr>
          <a:lstStyle/>
          <a:p>
            <a:r>
              <a:rPr lang="en-US" sz="8800" dirty="0"/>
              <a:t>Thank you</a:t>
            </a:r>
            <a:endParaRPr lang="en-IN" sz="8800" dirty="0"/>
          </a:p>
        </p:txBody>
      </p:sp>
      <p:sp>
        <p:nvSpPr>
          <p:cNvPr id="3" name="Text Placeholder 2">
            <a:extLst>
              <a:ext uri="{FF2B5EF4-FFF2-40B4-BE49-F238E27FC236}">
                <a16:creationId xmlns:a16="http://schemas.microsoft.com/office/drawing/2014/main" id="{AB516466-9DB8-D763-91B2-7791A5FFEDF4}"/>
              </a:ext>
            </a:extLst>
          </p:cNvPr>
          <p:cNvSpPr>
            <a:spLocks noGrp="1"/>
          </p:cNvSpPr>
          <p:nvPr>
            <p:ph type="body" sz="half" idx="2"/>
          </p:nvPr>
        </p:nvSpPr>
        <p:spPr>
          <a:xfrm>
            <a:off x="915348" y="4150853"/>
            <a:ext cx="10352199" cy="1140644"/>
          </a:xfrm>
        </p:spPr>
        <p:txBody>
          <a:bodyPr>
            <a:normAutofit/>
          </a:bodyPr>
          <a:lstStyle/>
          <a:p>
            <a:r>
              <a:rPr lang="en-US" sz="2400" dirty="0"/>
              <a:t>By Sushant Shirsekar</a:t>
            </a:r>
            <a:endParaRPr lang="en-IN" sz="2400" dirty="0"/>
          </a:p>
        </p:txBody>
      </p:sp>
    </p:spTree>
    <p:extLst>
      <p:ext uri="{BB962C8B-B14F-4D97-AF65-F5344CB8AC3E}">
        <p14:creationId xmlns:p14="http://schemas.microsoft.com/office/powerpoint/2010/main" val="12972844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98646-3B46-D50A-473B-53F93D12416A}"/>
              </a:ext>
            </a:extLst>
          </p:cNvPr>
          <p:cNvSpPr>
            <a:spLocks noGrp="1"/>
          </p:cNvSpPr>
          <p:nvPr>
            <p:ph type="ctrTitle"/>
          </p:nvPr>
        </p:nvSpPr>
        <p:spPr/>
        <p:txBody>
          <a:bodyPr/>
          <a:lstStyle/>
          <a:p>
            <a:r>
              <a:rPr lang="en-US" dirty="0"/>
              <a:t>Drive Link</a:t>
            </a:r>
            <a:endParaRPr lang="en-IN" dirty="0"/>
          </a:p>
        </p:txBody>
      </p:sp>
      <p:sp>
        <p:nvSpPr>
          <p:cNvPr id="3" name="Subtitle 2">
            <a:extLst>
              <a:ext uri="{FF2B5EF4-FFF2-40B4-BE49-F238E27FC236}">
                <a16:creationId xmlns:a16="http://schemas.microsoft.com/office/drawing/2014/main" id="{8A60664A-FAE3-98C9-7488-9F14D4C67AC8}"/>
              </a:ext>
            </a:extLst>
          </p:cNvPr>
          <p:cNvSpPr>
            <a:spLocks noGrp="1"/>
          </p:cNvSpPr>
          <p:nvPr>
            <p:ph type="subTitle" idx="1"/>
          </p:nvPr>
        </p:nvSpPr>
        <p:spPr/>
        <p:txBody>
          <a:bodyPr/>
          <a:lstStyle/>
          <a:p>
            <a:r>
              <a:rPr lang="en-IN" dirty="0"/>
              <a:t>https://drive.google.com/file/d/13x_QEHAQP6ZMNEmWCSKCk96A6FbHWeBr/view?usp=sharing</a:t>
            </a:r>
          </a:p>
        </p:txBody>
      </p:sp>
    </p:spTree>
    <p:extLst>
      <p:ext uri="{BB962C8B-B14F-4D97-AF65-F5344CB8AC3E}">
        <p14:creationId xmlns:p14="http://schemas.microsoft.com/office/powerpoint/2010/main" val="17036342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1059</TotalTime>
  <Words>3971</Words>
  <Application>Microsoft Office PowerPoint</Application>
  <PresentationFormat>Widescreen</PresentationFormat>
  <Paragraphs>417</Paragraphs>
  <Slides>68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68</vt:i4>
      </vt:variant>
    </vt:vector>
  </HeadingPairs>
  <TitlesOfParts>
    <vt:vector size="73" baseType="lpstr">
      <vt:lpstr>Arial</vt:lpstr>
      <vt:lpstr>Calisto MT</vt:lpstr>
      <vt:lpstr>Courier New</vt:lpstr>
      <vt:lpstr>Wingdings 2</vt:lpstr>
      <vt:lpstr>Slate</vt:lpstr>
      <vt:lpstr>UPS Data Analytics in SQL</vt:lpstr>
      <vt:lpstr>Introduction</vt:lpstr>
      <vt:lpstr>Data Model</vt:lpstr>
      <vt:lpstr>Task 1 – Data Cleaning &amp; Preparation</vt:lpstr>
      <vt:lpstr>Identify and Delete Duplicate Order_ID Records.</vt:lpstr>
      <vt:lpstr>Identify and Delete Duplicate Order_ID Records.</vt:lpstr>
      <vt:lpstr>Replace Null Traffic_Delay_Min with Average Traffic_Delay_Min</vt:lpstr>
      <vt:lpstr>Replace Null Traffic_Delay_Min with Average Traffic_Delay_Min</vt:lpstr>
      <vt:lpstr>Standardize Date formats to YYYY-MM-DD</vt:lpstr>
      <vt:lpstr>Standardize Date formats to YYYY-MM-DD</vt:lpstr>
      <vt:lpstr>Ensure that no Actual_Delivery_Date is before Order_Date (flag such records).</vt:lpstr>
      <vt:lpstr>Ensure that no Actual_Delivery_Date is before Order_Date (flag such records).</vt:lpstr>
      <vt:lpstr>Task 2: Delivery Delay Analysis </vt:lpstr>
      <vt:lpstr>Calculate delivery delay (in days) for each order </vt:lpstr>
      <vt:lpstr>Calculate delivery delay (in days) for each order </vt:lpstr>
      <vt:lpstr>Find Top 10 delayed Routes based on Average Delay Days.</vt:lpstr>
      <vt:lpstr>Top 10 delayed routes based on average delay days.</vt:lpstr>
      <vt:lpstr>Top 10 delayed routes based on average delay days.</vt:lpstr>
      <vt:lpstr>Use window functions to rank all orders by delay within each warehouse. </vt:lpstr>
      <vt:lpstr>Top 10 delayed routes based on average delay days.</vt:lpstr>
      <vt:lpstr>Task 3: Route Optimization Insights</vt:lpstr>
      <vt:lpstr>Average Delivery Time (in days) and Traffic Delay for each Route</vt:lpstr>
      <vt:lpstr>Average Delivery Time (in days) for each Route</vt:lpstr>
      <vt:lpstr>Average Traffic Delay for each Route</vt:lpstr>
      <vt:lpstr>Distance to Time Efficiency Ratio for each Route</vt:lpstr>
      <vt:lpstr>Distance to Time Efficiency Ratio for each Route</vt:lpstr>
      <vt:lpstr>Top 3 Routes with the worst Efficiency Ratio</vt:lpstr>
      <vt:lpstr>Top 3 Routes with the worst Efficiency Ratio</vt:lpstr>
      <vt:lpstr>Routes with more than 20% Delayed Shipments</vt:lpstr>
      <vt:lpstr>Routes with more than 20% Delayed Shipments</vt:lpstr>
      <vt:lpstr>Routes with more than 20% Delayed Shipments</vt:lpstr>
      <vt:lpstr>Recommendations – Routes Performance</vt:lpstr>
      <vt:lpstr>Task 4: Warehouse Performance</vt:lpstr>
      <vt:lpstr>Top 3 Warehouses with the Highest Average Processing Time</vt:lpstr>
      <vt:lpstr>Top 3 Warehouses with the Highest Average Processing Time</vt:lpstr>
      <vt:lpstr>Total vs. Delayed Orders per Warehouse</vt:lpstr>
      <vt:lpstr>Top 3 Warehouses with the Highest Average Processing Time</vt:lpstr>
      <vt:lpstr>Top 3 Warehouses with the Highest Average Processing Time</vt:lpstr>
      <vt:lpstr>Bottleneck Warehouses where Processing_Time &gt; Global Average</vt:lpstr>
      <vt:lpstr>Bottleneck Warehouses where Processing_Time &gt; Global Average</vt:lpstr>
      <vt:lpstr>Warehouses based on on-time Delivery Percentage</vt:lpstr>
      <vt:lpstr>Warehouses based on on-time Delivery Percentage</vt:lpstr>
      <vt:lpstr>Recommendations — Warehouse Optimizations</vt:lpstr>
      <vt:lpstr>Task 5: Delivery Agents Performance</vt:lpstr>
      <vt:lpstr>Agents (per route) by On-Time Delivery Percentage</vt:lpstr>
      <vt:lpstr>Agents (per route) by On-Time Delivery Percentage</vt:lpstr>
      <vt:lpstr>Agents with on-time Percentage less than 80%</vt:lpstr>
      <vt:lpstr>Agents with on-time Percentage less than 80%</vt:lpstr>
      <vt:lpstr>Average Speed of Top 5 vs Bottom 5 Agents</vt:lpstr>
      <vt:lpstr>Average Speed of Top 5 vs Bottom 5 Agents</vt:lpstr>
      <vt:lpstr>Recommendations — Agents Performance</vt:lpstr>
      <vt:lpstr>Task 6: Shipment Tracking Analytics</vt:lpstr>
      <vt:lpstr>Last Checkpoint and Time for each Order</vt:lpstr>
      <vt:lpstr>Last Checkpoint and Time for each Order</vt:lpstr>
      <vt:lpstr>Most Common Delay Reasons for Orders</vt:lpstr>
      <vt:lpstr>Most Common Delay Reasons for Orders</vt:lpstr>
      <vt:lpstr>Orders with more than 2 Delayed Checkpoints</vt:lpstr>
      <vt:lpstr>Orders with more than 2 Delayed Checkpoints</vt:lpstr>
      <vt:lpstr>Task 7: Advanced KPI Reporting</vt:lpstr>
      <vt:lpstr>Average Delivery Delay per Region (Start_Location)</vt:lpstr>
      <vt:lpstr>Average Delivery Delay per Region (Start_Location)</vt:lpstr>
      <vt:lpstr>Average Delivery Delay per Region (Start_Location)</vt:lpstr>
      <vt:lpstr>On-Time Delivery %</vt:lpstr>
      <vt:lpstr>On-Time Delivery %</vt:lpstr>
      <vt:lpstr>Average Traffic Delay per Route</vt:lpstr>
      <vt:lpstr>Average Traffic Delay per Route</vt:lpstr>
      <vt:lpstr>Thank you</vt:lpstr>
      <vt:lpstr>Drive 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sushant shirsekar</dc:creator>
  <cp:lastModifiedBy>sushant shirsekar</cp:lastModifiedBy>
  <cp:revision>7</cp:revision>
  <dcterms:created xsi:type="dcterms:W3CDTF">2026-02-10T13:02:18Z</dcterms:created>
  <dcterms:modified xsi:type="dcterms:W3CDTF">2026-02-13T12:56:03Z</dcterms:modified>
</cp:coreProperties>
</file>